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4" r:id="rId1"/>
  </p:sldMasterIdLst>
  <p:notesMasterIdLst>
    <p:notesMasterId r:id="rId24"/>
  </p:notesMasterIdLst>
  <p:handoutMasterIdLst>
    <p:handoutMasterId r:id="rId25"/>
  </p:handoutMasterIdLst>
  <p:sldIdLst>
    <p:sldId id="256" r:id="rId2"/>
    <p:sldId id="323" r:id="rId3"/>
    <p:sldId id="361" r:id="rId4"/>
    <p:sldId id="362" r:id="rId5"/>
    <p:sldId id="351" r:id="rId6"/>
    <p:sldId id="327" r:id="rId7"/>
    <p:sldId id="329" r:id="rId8"/>
    <p:sldId id="373" r:id="rId9"/>
    <p:sldId id="374" r:id="rId10"/>
    <p:sldId id="365" r:id="rId11"/>
    <p:sldId id="372" r:id="rId12"/>
    <p:sldId id="334" r:id="rId13"/>
    <p:sldId id="338" r:id="rId14"/>
    <p:sldId id="370" r:id="rId15"/>
    <p:sldId id="366" r:id="rId16"/>
    <p:sldId id="367" r:id="rId17"/>
    <p:sldId id="376" r:id="rId18"/>
    <p:sldId id="359" r:id="rId19"/>
    <p:sldId id="368" r:id="rId20"/>
    <p:sldId id="346" r:id="rId21"/>
    <p:sldId id="349" r:id="rId22"/>
    <p:sldId id="377" r:id="rId23"/>
  </p:sldIdLst>
  <p:sldSz cx="9144000" cy="6858000" type="screen4x3"/>
  <p:notesSz cx="9928225" cy="679608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a:srgbClr val="4D4D4D"/>
    <a:srgbClr val="0066CC"/>
    <a:srgbClr val="FF7C80"/>
    <a:srgbClr val="000000"/>
    <a:srgbClr val="333333"/>
    <a:srgbClr val="969696"/>
    <a:srgbClr val="F8F8F8"/>
    <a:srgbClr val="DDDDDD"/>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21" autoAdjust="0"/>
    <p:restoredTop sz="72906" autoAdjust="0"/>
  </p:normalViewPr>
  <p:slideViewPr>
    <p:cSldViewPr snapToGrid="0">
      <p:cViewPr varScale="1">
        <p:scale>
          <a:sx n="60" d="100"/>
          <a:sy n="60" d="100"/>
        </p:scale>
        <p:origin x="183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4302231" cy="34098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5623697" y="0"/>
            <a:ext cx="4302231" cy="340985"/>
          </a:xfrm>
          <a:prstGeom prst="rect">
            <a:avLst/>
          </a:prstGeom>
        </p:spPr>
        <p:txBody>
          <a:bodyPr vert="horz" lIns="91440" tIns="45720" rIns="91440" bIns="45720" rtlCol="0"/>
          <a:lstStyle>
            <a:lvl1pPr algn="r">
              <a:defRPr sz="1200"/>
            </a:lvl1pPr>
          </a:lstStyle>
          <a:p>
            <a:fld id="{FEB8EECC-C748-4271-B1F7-4E56F0673182}" type="datetimeFigureOut">
              <a:rPr kumimoji="1" lang="ja-JP" altLang="en-US" smtClean="0"/>
              <a:t>2026/8/18</a:t>
            </a:fld>
            <a:endParaRPr kumimoji="1" lang="ja-JP" altLang="en-US"/>
          </a:p>
        </p:txBody>
      </p:sp>
      <p:sp>
        <p:nvSpPr>
          <p:cNvPr id="4" name="フッター プレースホルダー 3"/>
          <p:cNvSpPr>
            <a:spLocks noGrp="1"/>
          </p:cNvSpPr>
          <p:nvPr>
            <p:ph type="ftr" sz="quarter" idx="2"/>
          </p:nvPr>
        </p:nvSpPr>
        <p:spPr>
          <a:xfrm>
            <a:off x="0" y="6455104"/>
            <a:ext cx="4302231" cy="340984"/>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5623697" y="6455104"/>
            <a:ext cx="4302231" cy="340984"/>
          </a:xfrm>
          <a:prstGeom prst="rect">
            <a:avLst/>
          </a:prstGeom>
        </p:spPr>
        <p:txBody>
          <a:bodyPr vert="horz" lIns="91440" tIns="45720" rIns="91440" bIns="45720" rtlCol="0" anchor="b"/>
          <a:lstStyle>
            <a:lvl1pPr algn="r">
              <a:defRPr sz="1200"/>
            </a:lvl1pPr>
          </a:lstStyle>
          <a:p>
            <a:fld id="{699E01EE-A361-4C79-8B34-77EB998E84ED}" type="slidenum">
              <a:rPr kumimoji="1" lang="ja-JP" altLang="en-US" smtClean="0"/>
              <a:t>‹#›</a:t>
            </a:fld>
            <a:endParaRPr kumimoji="1" lang="ja-JP" altLang="en-US"/>
          </a:p>
        </p:txBody>
      </p:sp>
    </p:spTree>
    <p:extLst>
      <p:ext uri="{BB962C8B-B14F-4D97-AF65-F5344CB8AC3E}">
        <p14:creationId xmlns:p14="http://schemas.microsoft.com/office/powerpoint/2010/main" val="32911594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4302125" cy="34131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5622925" y="0"/>
            <a:ext cx="4303713" cy="341313"/>
          </a:xfrm>
          <a:prstGeom prst="rect">
            <a:avLst/>
          </a:prstGeom>
        </p:spPr>
        <p:txBody>
          <a:bodyPr vert="horz" lIns="91440" tIns="45720" rIns="91440" bIns="45720" rtlCol="0"/>
          <a:lstStyle>
            <a:lvl1pPr algn="r">
              <a:defRPr sz="1200"/>
            </a:lvl1pPr>
          </a:lstStyle>
          <a:p>
            <a:fld id="{F0D62919-A6B4-4D2F-9D81-ACD6A2C73ED1}" type="datetimeFigureOut">
              <a:rPr kumimoji="1" lang="ja-JP" altLang="en-US" smtClean="0"/>
              <a:t>2026/8/18</a:t>
            </a:fld>
            <a:endParaRPr kumimoji="1" lang="ja-JP" altLang="en-US"/>
          </a:p>
        </p:txBody>
      </p:sp>
      <p:sp>
        <p:nvSpPr>
          <p:cNvPr id="4" name="スライド イメージ プレースホルダー 3"/>
          <p:cNvSpPr>
            <a:spLocks noGrp="1" noRot="1" noChangeAspect="1"/>
          </p:cNvSpPr>
          <p:nvPr>
            <p:ph type="sldImg" idx="2"/>
          </p:nvPr>
        </p:nvSpPr>
        <p:spPr>
          <a:xfrm>
            <a:off x="3435350" y="849313"/>
            <a:ext cx="3057525" cy="229393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992188" y="3270250"/>
            <a:ext cx="7943850" cy="2676525"/>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454775"/>
            <a:ext cx="4302125" cy="341313"/>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622925" y="6454775"/>
            <a:ext cx="4303713" cy="341313"/>
          </a:xfrm>
          <a:prstGeom prst="rect">
            <a:avLst/>
          </a:prstGeom>
        </p:spPr>
        <p:txBody>
          <a:bodyPr vert="horz" lIns="91440" tIns="45720" rIns="91440" bIns="45720" rtlCol="0" anchor="b"/>
          <a:lstStyle>
            <a:lvl1pPr algn="r">
              <a:defRPr sz="1200"/>
            </a:lvl1pPr>
          </a:lstStyle>
          <a:p>
            <a:fld id="{E2CAF68A-046F-4F07-AF4B-B353EB2A9206}" type="slidenum">
              <a:rPr kumimoji="1" lang="ja-JP" altLang="en-US" smtClean="0"/>
              <a:t>‹#›</a:t>
            </a:fld>
            <a:endParaRPr kumimoji="1" lang="ja-JP" altLang="en-US"/>
          </a:p>
        </p:txBody>
      </p:sp>
    </p:spTree>
    <p:extLst>
      <p:ext uri="{BB962C8B-B14F-4D97-AF65-F5344CB8AC3E}">
        <p14:creationId xmlns:p14="http://schemas.microsoft.com/office/powerpoint/2010/main" val="342452812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2CAF68A-046F-4F07-AF4B-B353EB2A9206}" type="slidenum">
              <a:rPr kumimoji="1" lang="ja-JP" altLang="en-US" smtClean="0"/>
              <a:t>1</a:t>
            </a:fld>
            <a:endParaRPr kumimoji="1" lang="ja-JP" altLang="en-US"/>
          </a:p>
        </p:txBody>
      </p:sp>
    </p:spTree>
    <p:extLst>
      <p:ext uri="{BB962C8B-B14F-4D97-AF65-F5344CB8AC3E}">
        <p14:creationId xmlns:p14="http://schemas.microsoft.com/office/powerpoint/2010/main" val="3149240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2CAF68A-046F-4F07-AF4B-B353EB2A9206}" type="slidenum">
              <a:rPr kumimoji="1" lang="ja-JP" altLang="en-US" smtClean="0"/>
              <a:t>2</a:t>
            </a:fld>
            <a:endParaRPr kumimoji="1" lang="ja-JP" altLang="en-US"/>
          </a:p>
        </p:txBody>
      </p:sp>
    </p:spTree>
    <p:extLst>
      <p:ext uri="{BB962C8B-B14F-4D97-AF65-F5344CB8AC3E}">
        <p14:creationId xmlns:p14="http://schemas.microsoft.com/office/powerpoint/2010/main" val="3135990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B8A32-3F0D-32DB-281D-621CE73470E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2BF108A-AE26-B729-1F48-848E78EA719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C6C58B5-2993-2980-07C0-DAAFC770E2D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F265E2F-4417-EBFB-7794-2F48D4596F93}"/>
              </a:ext>
            </a:extLst>
          </p:cNvPr>
          <p:cNvSpPr>
            <a:spLocks noGrp="1"/>
          </p:cNvSpPr>
          <p:nvPr>
            <p:ph type="sldNum" sz="quarter" idx="5"/>
          </p:nvPr>
        </p:nvSpPr>
        <p:spPr/>
        <p:txBody>
          <a:bodyPr/>
          <a:lstStyle/>
          <a:p>
            <a:fld id="{E2CAF68A-046F-4F07-AF4B-B353EB2A9206}" type="slidenum">
              <a:rPr kumimoji="1" lang="ja-JP" altLang="en-US" smtClean="0"/>
              <a:t>3</a:t>
            </a:fld>
            <a:endParaRPr kumimoji="1" lang="ja-JP" altLang="en-US"/>
          </a:p>
        </p:txBody>
      </p:sp>
    </p:spTree>
    <p:extLst>
      <p:ext uri="{BB962C8B-B14F-4D97-AF65-F5344CB8AC3E}">
        <p14:creationId xmlns:p14="http://schemas.microsoft.com/office/powerpoint/2010/main" val="2868328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87DFA-FF31-3EE1-A109-52DF2C8082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0A83A0-E23C-E96A-06AF-2F32DC275B9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D5B117A-478B-C877-5361-90ABAA15D3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BDFFFF-36F7-4365-2DF6-0681A36E4AA2}"/>
              </a:ext>
            </a:extLst>
          </p:cNvPr>
          <p:cNvSpPr>
            <a:spLocks noGrp="1"/>
          </p:cNvSpPr>
          <p:nvPr>
            <p:ph type="sldNum" sz="quarter" idx="5"/>
          </p:nvPr>
        </p:nvSpPr>
        <p:spPr/>
        <p:txBody>
          <a:bodyPr/>
          <a:lstStyle/>
          <a:p>
            <a:fld id="{E2CAF68A-046F-4F07-AF4B-B353EB2A9206}" type="slidenum">
              <a:rPr kumimoji="1" lang="ja-JP" altLang="en-US" smtClean="0"/>
              <a:t>4</a:t>
            </a:fld>
            <a:endParaRPr kumimoji="1" lang="ja-JP" altLang="en-US"/>
          </a:p>
        </p:txBody>
      </p:sp>
    </p:spTree>
    <p:extLst>
      <p:ext uri="{BB962C8B-B14F-4D97-AF65-F5344CB8AC3E}">
        <p14:creationId xmlns:p14="http://schemas.microsoft.com/office/powerpoint/2010/main" val="598902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7C8D5-4F93-9497-DEC6-76A576834CE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4EBD365-C676-43C7-292D-DE6FA182A27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E2F9F4-E9FE-F67C-C861-95039C9D992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2AF9F-1B57-CD82-AD9E-AC5ADD7DC1A1}"/>
              </a:ext>
            </a:extLst>
          </p:cNvPr>
          <p:cNvSpPr>
            <a:spLocks noGrp="1"/>
          </p:cNvSpPr>
          <p:nvPr>
            <p:ph type="sldNum" sz="quarter" idx="5"/>
          </p:nvPr>
        </p:nvSpPr>
        <p:spPr/>
        <p:txBody>
          <a:bodyPr/>
          <a:lstStyle/>
          <a:p>
            <a:fld id="{E2CAF68A-046F-4F07-AF4B-B353EB2A9206}" type="slidenum">
              <a:rPr kumimoji="1" lang="ja-JP" altLang="en-US" smtClean="0"/>
              <a:t>5</a:t>
            </a:fld>
            <a:endParaRPr kumimoji="1" lang="ja-JP" altLang="en-US"/>
          </a:p>
        </p:txBody>
      </p:sp>
    </p:spTree>
    <p:extLst>
      <p:ext uri="{BB962C8B-B14F-4D97-AF65-F5344CB8AC3E}">
        <p14:creationId xmlns:p14="http://schemas.microsoft.com/office/powerpoint/2010/main" val="6029420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2CAF68A-046F-4F07-AF4B-B353EB2A9206}" type="slidenum">
              <a:rPr kumimoji="1" lang="ja-JP" altLang="en-US" smtClean="0"/>
              <a:t>6</a:t>
            </a:fld>
            <a:endParaRPr kumimoji="1" lang="ja-JP" altLang="en-US"/>
          </a:p>
        </p:txBody>
      </p:sp>
    </p:spTree>
    <p:extLst>
      <p:ext uri="{BB962C8B-B14F-4D97-AF65-F5344CB8AC3E}">
        <p14:creationId xmlns:p14="http://schemas.microsoft.com/office/powerpoint/2010/main" val="3958891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2CAF68A-046F-4F07-AF4B-B353EB2A9206}" type="slidenum">
              <a:rPr kumimoji="1" lang="ja-JP" altLang="en-US" smtClean="0"/>
              <a:t>7</a:t>
            </a:fld>
            <a:endParaRPr kumimoji="1" lang="ja-JP" altLang="en-US"/>
          </a:p>
        </p:txBody>
      </p:sp>
    </p:spTree>
    <p:extLst>
      <p:ext uri="{BB962C8B-B14F-4D97-AF65-F5344CB8AC3E}">
        <p14:creationId xmlns:p14="http://schemas.microsoft.com/office/powerpoint/2010/main" val="3638315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42A5D-3BD1-DBE8-F83A-D8E000BEE26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515CA53-FE6E-1FB2-9F7B-BDE321DFC58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6EEC576-DCBE-2EA2-E6E1-FE6F6A231C5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0E9975E-ABC0-5C93-0ADD-F82F38BD2E10}"/>
              </a:ext>
            </a:extLst>
          </p:cNvPr>
          <p:cNvSpPr>
            <a:spLocks noGrp="1"/>
          </p:cNvSpPr>
          <p:nvPr>
            <p:ph type="sldNum" sz="quarter" idx="5"/>
          </p:nvPr>
        </p:nvSpPr>
        <p:spPr/>
        <p:txBody>
          <a:bodyPr/>
          <a:lstStyle/>
          <a:p>
            <a:fld id="{E2CAF68A-046F-4F07-AF4B-B353EB2A9206}" type="slidenum">
              <a:rPr kumimoji="1" lang="ja-JP" altLang="en-US" smtClean="0"/>
              <a:t>8</a:t>
            </a:fld>
            <a:endParaRPr kumimoji="1" lang="ja-JP" altLang="en-US"/>
          </a:p>
        </p:txBody>
      </p:sp>
    </p:spTree>
    <p:extLst>
      <p:ext uri="{BB962C8B-B14F-4D97-AF65-F5344CB8AC3E}">
        <p14:creationId xmlns:p14="http://schemas.microsoft.com/office/powerpoint/2010/main" val="4206847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4BDFB-BF91-6FF7-70D1-EB01844C328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31B900E-EA0E-478B-8BF6-D0603A681CD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4AE6F4A-E24D-7693-890D-09CA25AF3C4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1155ED-F063-16C6-FAEC-0AD8146CD622}"/>
              </a:ext>
            </a:extLst>
          </p:cNvPr>
          <p:cNvSpPr>
            <a:spLocks noGrp="1"/>
          </p:cNvSpPr>
          <p:nvPr>
            <p:ph type="sldNum" sz="quarter" idx="5"/>
          </p:nvPr>
        </p:nvSpPr>
        <p:spPr/>
        <p:txBody>
          <a:bodyPr/>
          <a:lstStyle/>
          <a:p>
            <a:fld id="{E2CAF68A-046F-4F07-AF4B-B353EB2A9206}" type="slidenum">
              <a:rPr kumimoji="1" lang="ja-JP" altLang="en-US" smtClean="0"/>
              <a:t>9</a:t>
            </a:fld>
            <a:endParaRPr kumimoji="1" lang="ja-JP" altLang="en-US"/>
          </a:p>
        </p:txBody>
      </p:sp>
    </p:spTree>
    <p:extLst>
      <p:ext uri="{BB962C8B-B14F-4D97-AF65-F5344CB8AC3E}">
        <p14:creationId xmlns:p14="http://schemas.microsoft.com/office/powerpoint/2010/main" val="28660248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9777F-C1DF-5C64-BF25-DDCCAA6A33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26F8453-7469-F89C-D006-D878C1C8E33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FF7CB0B-5892-79C0-E2D6-55DDA67FCDB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8144505-CCC7-5FCC-ED2B-80157F060358}"/>
              </a:ext>
            </a:extLst>
          </p:cNvPr>
          <p:cNvSpPr>
            <a:spLocks noGrp="1"/>
          </p:cNvSpPr>
          <p:nvPr>
            <p:ph type="sldNum" sz="quarter" idx="5"/>
          </p:nvPr>
        </p:nvSpPr>
        <p:spPr/>
        <p:txBody>
          <a:bodyPr/>
          <a:lstStyle/>
          <a:p>
            <a:fld id="{E2CAF68A-046F-4F07-AF4B-B353EB2A9206}" type="slidenum">
              <a:rPr kumimoji="1" lang="ja-JP" altLang="en-US" smtClean="0"/>
              <a:t>10</a:t>
            </a:fld>
            <a:endParaRPr kumimoji="1" lang="ja-JP" altLang="en-US"/>
          </a:p>
        </p:txBody>
      </p:sp>
    </p:spTree>
    <p:extLst>
      <p:ext uri="{BB962C8B-B14F-4D97-AF65-F5344CB8AC3E}">
        <p14:creationId xmlns:p14="http://schemas.microsoft.com/office/powerpoint/2010/main" val="29523937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493DD-F7CE-D7EC-DEFA-0CC6687BD50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32E21A8-92AD-688B-0616-85E0A1C8445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9108223-A75F-4842-0189-03A296E95BE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BE61D8E-C722-3B99-F235-3F143D92D59A}"/>
              </a:ext>
            </a:extLst>
          </p:cNvPr>
          <p:cNvSpPr>
            <a:spLocks noGrp="1"/>
          </p:cNvSpPr>
          <p:nvPr>
            <p:ph type="sldNum" sz="quarter" idx="5"/>
          </p:nvPr>
        </p:nvSpPr>
        <p:spPr/>
        <p:txBody>
          <a:bodyPr/>
          <a:lstStyle/>
          <a:p>
            <a:fld id="{E2CAF68A-046F-4F07-AF4B-B353EB2A9206}" type="slidenum">
              <a:rPr kumimoji="1" lang="ja-JP" altLang="en-US" smtClean="0"/>
              <a:t>11</a:t>
            </a:fld>
            <a:endParaRPr kumimoji="1" lang="ja-JP" altLang="en-US"/>
          </a:p>
        </p:txBody>
      </p:sp>
    </p:spTree>
    <p:extLst>
      <p:ext uri="{BB962C8B-B14F-4D97-AF65-F5344CB8AC3E}">
        <p14:creationId xmlns:p14="http://schemas.microsoft.com/office/powerpoint/2010/main" val="30053025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2CAF68A-046F-4F07-AF4B-B353EB2A9206}" type="slidenum">
              <a:rPr kumimoji="1" lang="ja-JP" altLang="en-US" smtClean="0"/>
              <a:t>12</a:t>
            </a:fld>
            <a:endParaRPr kumimoji="1" lang="ja-JP" altLang="en-US"/>
          </a:p>
        </p:txBody>
      </p:sp>
    </p:spTree>
    <p:extLst>
      <p:ext uri="{BB962C8B-B14F-4D97-AF65-F5344CB8AC3E}">
        <p14:creationId xmlns:p14="http://schemas.microsoft.com/office/powerpoint/2010/main" val="26567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こちらが今回提案手法する</a:t>
            </a:r>
            <a:r>
              <a:rPr kumimoji="1" lang="en-US" altLang="ja-JP" dirty="0"/>
              <a:t>Ghost Bottleneck</a:t>
            </a:r>
            <a:r>
              <a:rPr kumimoji="1" lang="ja-JP" altLang="en-US" dirty="0"/>
              <a:t>のフローチャートになります。</a:t>
            </a:r>
            <a:br>
              <a:rPr kumimoji="1" lang="en-US" altLang="ja-JP"/>
            </a:br>
            <a:r>
              <a:rPr kumimoji="1" lang="en-US" altLang="ja-JP"/>
              <a:t>[</a:t>
            </a:r>
            <a:r>
              <a:rPr kumimoji="1" lang="en-US" altLang="ja-JP" dirty="0"/>
              <a:t>1]</a:t>
            </a:r>
            <a:r>
              <a:rPr kumimoji="1" lang="ja-JP" altLang="en-US" dirty="0"/>
              <a:t>まずは</a:t>
            </a:r>
            <a:r>
              <a:rPr kumimoji="1" lang="en-US" altLang="ja-JP" dirty="0"/>
              <a:t>Ghost Module</a:t>
            </a:r>
            <a:r>
              <a:rPr kumimoji="1" lang="ja-JP" altLang="en-US" dirty="0"/>
              <a:t>について</a:t>
            </a:r>
            <a:r>
              <a:rPr kumimoji="1" lang="ja-JP" altLang="en-US"/>
              <a:t>説明します。先ほど説明した分割数の研究結果より、今回は分割数</a:t>
            </a:r>
            <a:r>
              <a:rPr kumimoji="1" lang="ja-JP" altLang="en-US" dirty="0"/>
              <a:t>を</a:t>
            </a:r>
            <a:r>
              <a:rPr kumimoji="1" lang="en-US" altLang="ja-JP" dirty="0"/>
              <a:t>4</a:t>
            </a:r>
            <a:r>
              <a:rPr kumimoji="1" lang="ja-JP" altLang="en-US" dirty="0"/>
              <a:t>と設定し、１</a:t>
            </a:r>
            <a:r>
              <a:rPr kumimoji="1" lang="en-US" altLang="ja-JP" dirty="0"/>
              <a:t>/4</a:t>
            </a:r>
            <a:r>
              <a:rPr kumimoji="1" lang="ja-JP" altLang="en-US" dirty="0"/>
              <a:t>のチャンネル数を畳み込み</a:t>
            </a:r>
            <a:r>
              <a:rPr kumimoji="1" lang="ja-JP" altLang="en-US"/>
              <a:t>処理します。偶数</a:t>
            </a:r>
            <a:r>
              <a:rPr kumimoji="1" lang="ja-JP" altLang="en-US" dirty="0"/>
              <a:t>のチャンネルを交互に線形変換</a:t>
            </a:r>
            <a:r>
              <a:rPr kumimoji="1" lang="en-US" altLang="ja-JP" dirty="0"/>
              <a:t>3</a:t>
            </a:r>
            <a:r>
              <a:rPr kumimoji="1" lang="ja-JP" altLang="en-US" dirty="0"/>
              <a:t>回行います。この</a:t>
            </a:r>
            <a:r>
              <a:rPr kumimoji="1" lang="en-US" altLang="ja-JP" dirty="0"/>
              <a:t>Ghost Module</a:t>
            </a:r>
            <a:r>
              <a:rPr kumimoji="1" lang="ja-JP" altLang="en-US" dirty="0"/>
              <a:t>をそれぞれの提案手法で使用します。次に</a:t>
            </a:r>
            <a:r>
              <a:rPr kumimoji="1" lang="en-US" altLang="ja-JP" dirty="0"/>
              <a:t>CSAR Block</a:t>
            </a:r>
            <a:r>
              <a:rPr kumimoji="1" lang="ja-JP" altLang="en-US" dirty="0"/>
              <a:t>を提案手法に合わせた図を表示します。</a:t>
            </a:r>
            <a:endParaRPr kumimoji="1" lang="en-US" altLang="ja-JP" dirty="0"/>
          </a:p>
          <a:p>
            <a:r>
              <a:rPr kumimoji="1" lang="en-US" altLang="ja-JP" dirty="0"/>
              <a:t>[2]</a:t>
            </a:r>
            <a:r>
              <a:rPr kumimoji="1" lang="ja-JP" altLang="en-US" dirty="0"/>
              <a:t>このように従来の</a:t>
            </a:r>
            <a:r>
              <a:rPr kumimoji="1" lang="en-US" altLang="ja-JP" dirty="0" err="1"/>
              <a:t>CSARBlock</a:t>
            </a:r>
            <a:r>
              <a:rPr kumimoji="1" lang="ja-JP" altLang="en-US" dirty="0"/>
              <a:t>と違い、</a:t>
            </a:r>
            <a:r>
              <a:rPr kumimoji="1" lang="en-US" altLang="ja-JP" dirty="0" err="1"/>
              <a:t>GhostModule</a:t>
            </a:r>
            <a:r>
              <a:rPr kumimoji="1" lang="ja-JP" altLang="en-US" dirty="0"/>
              <a:t>を行った後に各アテンションにて入力が行われます。そこで、</a:t>
            </a:r>
            <a:r>
              <a:rPr kumimoji="1" lang="en-US" altLang="ja-JP" dirty="0"/>
              <a:t>CA Unit</a:t>
            </a:r>
            <a:r>
              <a:rPr kumimoji="1" lang="ja-JP" altLang="en-US" dirty="0"/>
              <a:t>はチャンネル数出力するのに対し、</a:t>
            </a:r>
            <a:endParaRPr kumimoji="1" lang="en-US" altLang="ja-JP" dirty="0"/>
          </a:p>
          <a:p>
            <a:r>
              <a:rPr kumimoji="1" lang="en-US" altLang="ja-JP" dirty="0"/>
              <a:t>[3]SA Unit</a:t>
            </a:r>
            <a:r>
              <a:rPr kumimoji="1" lang="ja-JP" altLang="en-US" dirty="0"/>
              <a:t>では</a:t>
            </a:r>
            <a:r>
              <a:rPr kumimoji="1" lang="en-US" altLang="ja-JP" dirty="0"/>
              <a:t>1</a:t>
            </a:r>
            <a:r>
              <a:rPr kumimoji="1" lang="ja-JP" altLang="en-US" dirty="0" err="1"/>
              <a:t>つの</a:t>
            </a:r>
            <a:r>
              <a:rPr kumimoji="1" lang="ja-JP" altLang="en-US" dirty="0"/>
              <a:t>チャンネルに対する空間的特徴が出力されます。この特性から</a:t>
            </a:r>
            <a:endParaRPr kumimoji="1" lang="en-US" altLang="ja-JP" dirty="0"/>
          </a:p>
          <a:p>
            <a:r>
              <a:rPr kumimoji="1" lang="en-US" altLang="ja-JP" dirty="0"/>
              <a:t>[4]SAUnit</a:t>
            </a:r>
            <a:r>
              <a:rPr kumimoji="1" lang="ja-JP" altLang="en-US" dirty="0"/>
              <a:t>の入力チャンネルにより軽量化できると考えます。</a:t>
            </a:r>
            <a:endParaRPr kumimoji="1" lang="en-US" altLang="ja-JP" dirty="0"/>
          </a:p>
          <a:p>
            <a:endParaRPr kumimoji="1" lang="en-US" altLang="ja-JP" dirty="0"/>
          </a:p>
          <a:p>
            <a:r>
              <a:rPr kumimoji="1" lang="ja-JP" altLang="en-US" dirty="0"/>
              <a:t>その際に今回は提案手法を</a:t>
            </a:r>
            <a:r>
              <a:rPr kumimoji="1" lang="en-US" altLang="ja-JP" dirty="0"/>
              <a:t>2</a:t>
            </a:r>
            <a:r>
              <a:rPr kumimoji="1" lang="ja-JP" altLang="en-US" dirty="0"/>
              <a:t>つ行いました。</a:t>
            </a:r>
            <a:endParaRPr kumimoji="1" lang="en-US" altLang="ja-JP" dirty="0"/>
          </a:p>
          <a:p>
            <a:r>
              <a:rPr kumimoji="1" lang="en-US" altLang="ja-JP" dirty="0"/>
              <a:t>2</a:t>
            </a:r>
            <a:r>
              <a:rPr kumimoji="1" lang="ja-JP" altLang="en-US" dirty="0" err="1"/>
              <a:t>つの</a:t>
            </a:r>
            <a:r>
              <a:rPr kumimoji="1" lang="ja-JP" altLang="en-US" dirty="0"/>
              <a:t>提案手法の異なる点は</a:t>
            </a:r>
            <a:r>
              <a:rPr kumimoji="1" lang="en-US" altLang="ja-JP" dirty="0" err="1"/>
              <a:t>GhostModule</a:t>
            </a:r>
            <a:r>
              <a:rPr kumimoji="1" lang="ja-JP" altLang="en-US" dirty="0"/>
              <a:t>後の入力値を与える際に異なる。</a:t>
            </a:r>
          </a:p>
        </p:txBody>
      </p:sp>
      <p:sp>
        <p:nvSpPr>
          <p:cNvPr id="4" name="スライド番号プレースホルダー 3"/>
          <p:cNvSpPr>
            <a:spLocks noGrp="1"/>
          </p:cNvSpPr>
          <p:nvPr>
            <p:ph type="sldNum" sz="quarter" idx="5"/>
          </p:nvPr>
        </p:nvSpPr>
        <p:spPr/>
        <p:txBody>
          <a:bodyPr/>
          <a:lstStyle/>
          <a:p>
            <a:fld id="{E2CAF68A-046F-4F07-AF4B-B353EB2A9206}" type="slidenum">
              <a:rPr kumimoji="1" lang="ja-JP" altLang="en-US" smtClean="0"/>
              <a:t>13</a:t>
            </a:fld>
            <a:endParaRPr kumimoji="1" lang="ja-JP" altLang="en-US"/>
          </a:p>
        </p:txBody>
      </p:sp>
    </p:spTree>
    <p:extLst>
      <p:ext uri="{BB962C8B-B14F-4D97-AF65-F5344CB8AC3E}">
        <p14:creationId xmlns:p14="http://schemas.microsoft.com/office/powerpoint/2010/main" val="2934232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3C0AB-099E-7767-23D9-7B3BF75C80D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C2D31F6-59DC-1B46-2E7F-F9FBECF8D8F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F33F9FE-AF26-DC6D-9FCC-A48EA340FB4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a:t>そしてこれが提案手法</a:t>
            </a:r>
            <a:r>
              <a:rPr kumimoji="1" lang="en-US" altLang="ja-JP" sz="1800"/>
              <a:t>2</a:t>
            </a:r>
            <a:r>
              <a:rPr kumimoji="1" lang="ja-JP" altLang="en-US" sz="1800"/>
              <a:t>つ目の</a:t>
            </a:r>
            <a:r>
              <a:rPr kumimoji="1" lang="en-US" altLang="ja-JP" sz="1800"/>
              <a:t>CSAR Block</a:t>
            </a:r>
            <a:r>
              <a:rPr kumimoji="1" lang="ja-JP" altLang="en-US" sz="1800"/>
              <a:t>の流れとなり</a:t>
            </a:r>
            <a:r>
              <a:rPr kumimoji="1" lang="en-US" altLang="ja-JP" sz="1800"/>
              <a:t>,</a:t>
            </a:r>
            <a:r>
              <a:rPr lang="en-US" altLang="ja-JP" sz="1800">
                <a:effectLst/>
                <a:latin typeface="Times New Roman" panose="02020603050405020304" pitchFamily="18" charset="0"/>
                <a:ea typeface="ＭＳ 明朝" panose="02020609040205080304" pitchFamily="17" charset="-128"/>
              </a:rPr>
              <a:t> SA Unit</a:t>
            </a:r>
            <a:r>
              <a:rPr lang="ja-JP" altLang="ja-JP" sz="1800">
                <a:effectLst/>
                <a:latin typeface="Times New Roman" panose="02020603050405020304" pitchFamily="18" charset="0"/>
                <a:ea typeface="ＭＳ 明朝" panose="02020609040205080304" pitchFamily="17" charset="-128"/>
                <a:cs typeface="Times New Roman" panose="02020603050405020304" pitchFamily="18" charset="0"/>
              </a:rPr>
              <a:t>の入力は</a:t>
            </a:r>
            <a:r>
              <a:rPr lang="en-US" altLang="ja-JP" sz="1800">
                <a:effectLst/>
                <a:latin typeface="Times New Roman" panose="02020603050405020304" pitchFamily="18" charset="0"/>
                <a:ea typeface="ＭＳ 明朝" panose="02020609040205080304" pitchFamily="17" charset="-128"/>
              </a:rPr>
              <a:t>Ghost Module</a:t>
            </a:r>
            <a:r>
              <a:rPr lang="ja-JP" altLang="ja-JP" sz="1800">
                <a:effectLst/>
                <a:latin typeface="Times New Roman" panose="02020603050405020304" pitchFamily="18" charset="0"/>
                <a:ea typeface="ＭＳ 明朝" panose="02020609040205080304" pitchFamily="17" charset="-128"/>
                <a:cs typeface="Times New Roman" panose="02020603050405020304" pitchFamily="18" charset="0"/>
              </a:rPr>
              <a:t>の出力のうち通常の畳み込み処理で生成されたチャンネルのみとする．これにより</a:t>
            </a:r>
            <a:r>
              <a:rPr lang="en-US" altLang="ja-JP" sz="1800">
                <a:effectLst/>
                <a:latin typeface="Times New Roman" panose="02020603050405020304" pitchFamily="18" charset="0"/>
                <a:ea typeface="ＭＳ 明朝" panose="02020609040205080304" pitchFamily="17" charset="-128"/>
              </a:rPr>
              <a:t>GhostNet</a:t>
            </a:r>
            <a:r>
              <a:rPr lang="ja-JP" altLang="ja-JP" sz="1800">
                <a:effectLst/>
                <a:latin typeface="Times New Roman" panose="02020603050405020304" pitchFamily="18" charset="0"/>
                <a:ea typeface="ＭＳ 明朝" panose="02020609040205080304" pitchFamily="17" charset="-128"/>
                <a:cs typeface="Times New Roman" panose="02020603050405020304" pitchFamily="18" charset="0"/>
              </a:rPr>
              <a:t>の特性を活かした</a:t>
            </a:r>
            <a:r>
              <a:rPr lang="en-US" altLang="ja-JP" sz="1800">
                <a:effectLst/>
                <a:latin typeface="Times New Roman" panose="02020603050405020304" pitchFamily="18" charset="0"/>
                <a:ea typeface="ＭＳ 明朝" panose="02020609040205080304" pitchFamily="17" charset="-128"/>
              </a:rPr>
              <a:t>SA Unit</a:t>
            </a:r>
            <a:r>
              <a:rPr lang="ja-JP" altLang="ja-JP" sz="1800">
                <a:effectLst/>
                <a:latin typeface="Times New Roman" panose="02020603050405020304" pitchFamily="18" charset="0"/>
                <a:ea typeface="ＭＳ 明朝" panose="02020609040205080304" pitchFamily="17" charset="-128"/>
                <a:cs typeface="Times New Roman" panose="02020603050405020304" pitchFamily="18" charset="0"/>
              </a:rPr>
              <a:t>の計算量の削減が可能になる．</a:t>
            </a:r>
            <a:endParaRPr lang="en-US" altLang="ja-JP" sz="1800">
              <a:effectLst/>
              <a:latin typeface="Times New Roman" panose="02020603050405020304" pitchFamily="18" charset="0"/>
              <a:ea typeface="ＭＳ 明朝" panose="02020609040205080304" pitchFamily="17" charset="-128"/>
              <a:cs typeface="Times New Roman" panose="02020603050405020304" pitchFamily="18" charset="0"/>
            </a:endParaRPr>
          </a:p>
          <a:p>
            <a:r>
              <a:rPr lang="ja-JP" altLang="en-US" sz="1800">
                <a:effectLst/>
                <a:latin typeface="Times New Roman" panose="02020603050405020304" pitchFamily="18" charset="0"/>
                <a:ea typeface="ＭＳ 明朝" panose="02020609040205080304" pitchFamily="17" charset="-128"/>
                <a:cs typeface="Times New Roman" panose="02020603050405020304" pitchFamily="18" charset="0"/>
              </a:rPr>
              <a:t>次のスライド</a:t>
            </a:r>
            <a:endParaRPr lang="en-US" altLang="ja-JP" sz="1800">
              <a:effectLst/>
              <a:latin typeface="Times New Roman" panose="02020603050405020304" pitchFamily="18" charset="0"/>
              <a:ea typeface="ＭＳ 明朝" panose="02020609040205080304" pitchFamily="17" charset="-128"/>
              <a:cs typeface="Times New Roman" panose="02020603050405020304" pitchFamily="18" charset="0"/>
            </a:endParaRPr>
          </a:p>
          <a:p>
            <a:endParaRPr lang="en-US" altLang="ja-JP" sz="1800">
              <a:effectLst/>
              <a:latin typeface="Times New Roman" panose="02020603050405020304" pitchFamily="18" charset="0"/>
              <a:ea typeface="ＭＳ 明朝" panose="02020609040205080304" pitchFamily="17" charset="-128"/>
              <a:cs typeface="Times New Roman" panose="02020603050405020304" pitchFamily="18" charset="0"/>
            </a:endParaRPr>
          </a:p>
          <a:p>
            <a:endParaRPr lang="en-US" altLang="ja-JP" sz="1800">
              <a:effectLst/>
              <a:latin typeface="Times New Roman" panose="02020603050405020304" pitchFamily="18" charset="0"/>
              <a:ea typeface="ＭＳ 明朝" panose="02020609040205080304" pitchFamily="17" charset="-128"/>
              <a:cs typeface="Times New Roman" panose="02020603050405020304" pitchFamily="18" charset="0"/>
            </a:endParaRPr>
          </a:p>
          <a:p>
            <a:r>
              <a:rPr lang="ja-JP" altLang="ja-JP" sz="1800">
                <a:effectLst/>
                <a:latin typeface="Times New Roman" panose="02020603050405020304" pitchFamily="18" charset="0"/>
                <a:ea typeface="ＭＳ 明朝" panose="02020609040205080304" pitchFamily="17" charset="-128"/>
                <a:cs typeface="Times New Roman" panose="02020603050405020304" pitchFamily="18" charset="0"/>
              </a:rPr>
              <a:t>チャンネルの重要度を出力する</a:t>
            </a:r>
            <a:r>
              <a:rPr lang="en-US" altLang="ja-JP" sz="1800">
                <a:effectLst/>
                <a:latin typeface="Times New Roman" panose="02020603050405020304" pitchFamily="18" charset="0"/>
                <a:ea typeface="ＭＳ 明朝" panose="02020609040205080304" pitchFamily="17" charset="-128"/>
              </a:rPr>
              <a:t>CA Unit</a:t>
            </a:r>
            <a:r>
              <a:rPr lang="ja-JP" altLang="ja-JP" sz="1800">
                <a:effectLst/>
                <a:latin typeface="Times New Roman" panose="02020603050405020304" pitchFamily="18" charset="0"/>
                <a:ea typeface="ＭＳ 明朝" panose="02020609040205080304" pitchFamily="17" charset="-128"/>
                <a:cs typeface="Times New Roman" panose="02020603050405020304" pitchFamily="18" charset="0"/>
              </a:rPr>
              <a:t>の入力には，</a:t>
            </a:r>
            <a:r>
              <a:rPr lang="en-US" altLang="ja-JP" sz="1800">
                <a:effectLst/>
                <a:latin typeface="Times New Roman" panose="02020603050405020304" pitchFamily="18" charset="0"/>
                <a:ea typeface="ＭＳ 明朝" panose="02020609040205080304" pitchFamily="17" charset="-128"/>
              </a:rPr>
              <a:t>Ghost Module</a:t>
            </a:r>
            <a:r>
              <a:rPr lang="ja-JP" altLang="ja-JP" sz="1800">
                <a:effectLst/>
                <a:latin typeface="Times New Roman" panose="02020603050405020304" pitchFamily="18" charset="0"/>
                <a:ea typeface="ＭＳ 明朝" panose="02020609040205080304" pitchFamily="17" charset="-128"/>
                <a:cs typeface="Times New Roman" panose="02020603050405020304" pitchFamily="18" charset="0"/>
              </a:rPr>
              <a:t>の全ての出力チャンネルを入力とするが，</a:t>
            </a:r>
            <a:r>
              <a:rPr lang="ja-JP" altLang="ja-JP" sz="1800">
                <a:effectLst/>
                <a:ea typeface="Times New Roman" panose="02020603050405020304" pitchFamily="18" charset="0"/>
              </a:rPr>
              <a:t> </a:t>
            </a:r>
            <a:r>
              <a:rPr lang="en-US" altLang="ja-JP" sz="1800">
                <a:effectLst/>
                <a:ea typeface="Times New Roman" panose="02020603050405020304" pitchFamily="18" charset="0"/>
              </a:rPr>
              <a:t>Spatial Attention</a:t>
            </a:r>
            <a:r>
              <a:rPr lang="ja-JP" altLang="ja-JP" sz="1800">
                <a:effectLst/>
                <a:latin typeface="Times New Roman" panose="02020603050405020304" pitchFamily="18" charset="0"/>
                <a:ea typeface="ＭＳ 明朝" panose="02020609040205080304" pitchFamily="17" charset="-128"/>
                <a:cs typeface="Times New Roman" panose="02020603050405020304" pitchFamily="18" charset="0"/>
              </a:rPr>
              <a:t>ではチャンネル内の各要素の重要度を出力とするため，</a:t>
            </a:r>
            <a:r>
              <a:rPr lang="en-US" altLang="ja-JP" sz="1800">
                <a:effectLst/>
                <a:latin typeface="Times New Roman" panose="02020603050405020304" pitchFamily="18" charset="0"/>
                <a:ea typeface="ＭＳ 明朝" panose="02020609040205080304" pitchFamily="17" charset="-128"/>
              </a:rPr>
              <a:t>Ghost Module</a:t>
            </a:r>
            <a:r>
              <a:rPr lang="ja-JP" altLang="ja-JP" sz="1800">
                <a:effectLst/>
                <a:latin typeface="Times New Roman" panose="02020603050405020304" pitchFamily="18" charset="0"/>
                <a:ea typeface="ＭＳ 明朝" panose="02020609040205080304" pitchFamily="17" charset="-128"/>
                <a:cs typeface="Times New Roman" panose="02020603050405020304" pitchFamily="18" charset="0"/>
              </a:rPr>
              <a:t>で生成された線形変換による特徴量は冗長であると考えられ</a:t>
            </a:r>
            <a:r>
              <a:rPr lang="ja-JP" altLang="en-US" sz="1800">
                <a:effectLst/>
                <a:latin typeface="Times New Roman" panose="02020603050405020304" pitchFamily="18" charset="0"/>
                <a:ea typeface="ＭＳ 明朝" panose="02020609040205080304" pitchFamily="17" charset="-128"/>
                <a:cs typeface="Times New Roman" panose="02020603050405020304" pitchFamily="18" charset="0"/>
              </a:rPr>
              <a:t>ます。</a:t>
            </a:r>
            <a:endParaRPr kumimoji="1" lang="en-US" altLang="ja-JP"/>
          </a:p>
          <a:p>
            <a:endParaRPr kumimoji="1" lang="en-US" altLang="ja-JP"/>
          </a:p>
          <a:p>
            <a:r>
              <a:rPr kumimoji="1" lang="ja-JP" altLang="en-US"/>
              <a:t>このように</a:t>
            </a:r>
            <a:r>
              <a:rPr kumimoji="1" lang="en-US" altLang="ja-JP"/>
              <a:t>SA</a:t>
            </a:r>
            <a:r>
              <a:rPr kumimoji="1" lang="ja-JP" altLang="en-US"/>
              <a:t>の入力を特徴量を少なくすることで</a:t>
            </a:r>
            <a:r>
              <a:rPr kumimoji="1" lang="en-US" altLang="ja-JP"/>
              <a:t>Spatial</a:t>
            </a:r>
            <a:r>
              <a:rPr kumimoji="1" lang="ja-JP" altLang="en-US"/>
              <a:t> </a:t>
            </a:r>
            <a:r>
              <a:rPr kumimoji="1" lang="en-US" altLang="ja-JP"/>
              <a:t>Attention</a:t>
            </a:r>
            <a:r>
              <a:rPr kumimoji="1" lang="ja-JP" altLang="en-US"/>
              <a:t> の計算量の削減ができる。</a:t>
            </a:r>
          </a:p>
        </p:txBody>
      </p:sp>
      <p:sp>
        <p:nvSpPr>
          <p:cNvPr id="4" name="スライド番号プレースホルダー 3">
            <a:extLst>
              <a:ext uri="{FF2B5EF4-FFF2-40B4-BE49-F238E27FC236}">
                <a16:creationId xmlns:a16="http://schemas.microsoft.com/office/drawing/2014/main" id="{6C16416D-5949-7ADA-950B-82C4C86A9385}"/>
              </a:ext>
            </a:extLst>
          </p:cNvPr>
          <p:cNvSpPr>
            <a:spLocks noGrp="1"/>
          </p:cNvSpPr>
          <p:nvPr>
            <p:ph type="sldNum" sz="quarter" idx="5"/>
          </p:nvPr>
        </p:nvSpPr>
        <p:spPr/>
        <p:txBody>
          <a:bodyPr/>
          <a:lstStyle/>
          <a:p>
            <a:fld id="{E2CAF68A-046F-4F07-AF4B-B353EB2A9206}" type="slidenum">
              <a:rPr kumimoji="1" lang="ja-JP" altLang="en-US" smtClean="0"/>
              <a:t>14</a:t>
            </a:fld>
            <a:endParaRPr kumimoji="1" lang="ja-JP" altLang="en-US"/>
          </a:p>
        </p:txBody>
      </p:sp>
    </p:spTree>
    <p:extLst>
      <p:ext uri="{BB962C8B-B14F-4D97-AF65-F5344CB8AC3E}">
        <p14:creationId xmlns:p14="http://schemas.microsoft.com/office/powerpoint/2010/main" val="22802396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4724B-8094-7DAC-B061-7D84B32B45D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B38B68-7728-3B51-28D7-00E50E85A27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D233B1F-932E-7438-1345-66C1FF523E39}"/>
              </a:ext>
            </a:extLst>
          </p:cNvPr>
          <p:cNvSpPr>
            <a:spLocks noGrp="1"/>
          </p:cNvSpPr>
          <p:nvPr>
            <p:ph type="body" idx="1"/>
          </p:nvPr>
        </p:nvSpPr>
        <p:spPr/>
        <p:txBody>
          <a:bodyPr/>
          <a:lstStyle/>
          <a:p>
            <a:r>
              <a:rPr lang="ja-JP" altLang="en-US">
                <a:latin typeface="+mj-ea"/>
                <a:ea typeface="+mj-ea"/>
              </a:rPr>
              <a:t>スライド読み上げる</a:t>
            </a:r>
            <a:endParaRPr lang="en-US" altLang="ja-JP">
              <a:latin typeface="+mj-ea"/>
              <a:ea typeface="+mj-ea"/>
            </a:endParaRPr>
          </a:p>
          <a:p>
            <a:endParaRPr lang="en-US" altLang="ja-JP">
              <a:latin typeface="+mj-ea"/>
              <a:ea typeface="+mj-ea"/>
            </a:endParaRPr>
          </a:p>
          <a:p>
            <a:endParaRPr lang="en-US" altLang="ja-JP">
              <a:latin typeface="+mj-ea"/>
              <a:ea typeface="+mj-ea"/>
            </a:endParaRPr>
          </a:p>
          <a:p>
            <a:r>
              <a:rPr lang="ja-JP" altLang="en-US">
                <a:latin typeface="+mj-ea"/>
                <a:ea typeface="+mj-ea"/>
              </a:rPr>
              <a:t>モデルの比較に用いる指標としては、</a:t>
            </a:r>
            <a:r>
              <a:rPr lang="en-US" altLang="ja-JP">
                <a:latin typeface="+mj-ea"/>
                <a:ea typeface="+mj-ea"/>
              </a:rPr>
              <a:t>Test</a:t>
            </a:r>
            <a:r>
              <a:rPr lang="ja-JP" altLang="en-US">
                <a:latin typeface="+mj-ea"/>
                <a:ea typeface="+mj-ea"/>
              </a:rPr>
              <a:t>精度とモデルの処理に要する計測時間の</a:t>
            </a:r>
            <a:r>
              <a:rPr lang="en-US" altLang="ja-JP">
                <a:latin typeface="+mj-ea"/>
                <a:ea typeface="+mj-ea"/>
              </a:rPr>
              <a:t>2</a:t>
            </a:r>
            <a:r>
              <a:rPr lang="ja-JP" altLang="en-US">
                <a:latin typeface="+mj-ea"/>
                <a:ea typeface="+mj-ea"/>
              </a:rPr>
              <a:t>つとする。</a:t>
            </a:r>
            <a:r>
              <a:rPr lang="en-US" altLang="ja-JP">
                <a:latin typeface="+mj-ea"/>
                <a:ea typeface="+mj-ea"/>
              </a:rPr>
              <a:t>Train</a:t>
            </a:r>
            <a:r>
              <a:rPr lang="ja-JP" altLang="en-US">
                <a:latin typeface="+mj-ea"/>
                <a:ea typeface="+mj-ea"/>
              </a:rPr>
              <a:t>精度と</a:t>
            </a:r>
            <a:r>
              <a:rPr lang="en-US" altLang="ja-JP">
                <a:latin typeface="+mj-ea"/>
                <a:ea typeface="+mj-ea"/>
              </a:rPr>
              <a:t>Test</a:t>
            </a:r>
            <a:r>
              <a:rPr lang="ja-JP" altLang="en-US">
                <a:latin typeface="+mj-ea"/>
                <a:ea typeface="+mj-ea"/>
              </a:rPr>
              <a:t>精度の差は、モデルが過学習していないか、あるいは適切に汎化しているかを評価する際に重要な指標である。一方で、計測時間はモデルの効率性や実行速度を示す。これら</a:t>
            </a:r>
            <a:r>
              <a:rPr lang="en-US" altLang="ja-JP">
                <a:latin typeface="+mj-ea"/>
                <a:ea typeface="+mj-ea"/>
              </a:rPr>
              <a:t>2</a:t>
            </a:r>
            <a:r>
              <a:rPr lang="ja-JP" altLang="en-US">
                <a:latin typeface="+mj-ea"/>
                <a:ea typeface="+mj-ea"/>
              </a:rPr>
              <a:t>つの指標を用いることで、モデルの性能だけでなく実用性についても包括的に評価することが可能となる。</a:t>
            </a:r>
          </a:p>
          <a:p>
            <a:endParaRPr kumimoji="1" lang="ja-JP" altLang="en-US"/>
          </a:p>
        </p:txBody>
      </p:sp>
      <p:sp>
        <p:nvSpPr>
          <p:cNvPr id="4" name="スライド番号プレースホルダー 3">
            <a:extLst>
              <a:ext uri="{FF2B5EF4-FFF2-40B4-BE49-F238E27FC236}">
                <a16:creationId xmlns:a16="http://schemas.microsoft.com/office/drawing/2014/main" id="{6A29A4A7-B5BE-1681-6D6B-C306D74845BB}"/>
              </a:ext>
            </a:extLst>
          </p:cNvPr>
          <p:cNvSpPr>
            <a:spLocks noGrp="1"/>
          </p:cNvSpPr>
          <p:nvPr>
            <p:ph type="sldNum" sz="quarter" idx="5"/>
          </p:nvPr>
        </p:nvSpPr>
        <p:spPr/>
        <p:txBody>
          <a:bodyPr/>
          <a:lstStyle/>
          <a:p>
            <a:fld id="{E2CAF68A-046F-4F07-AF4B-B353EB2A9206}" type="slidenum">
              <a:rPr kumimoji="1" lang="ja-JP" altLang="en-US" smtClean="0"/>
              <a:t>15</a:t>
            </a:fld>
            <a:endParaRPr kumimoji="1" lang="ja-JP" altLang="en-US"/>
          </a:p>
        </p:txBody>
      </p:sp>
    </p:spTree>
    <p:extLst>
      <p:ext uri="{BB962C8B-B14F-4D97-AF65-F5344CB8AC3E}">
        <p14:creationId xmlns:p14="http://schemas.microsoft.com/office/powerpoint/2010/main" val="21092644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B7C76-BE87-9B3A-6AA4-D1796655B5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0AC800E-3F19-C3E9-B0DF-5D6FB9E7DD4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4ED9B76-C731-35A2-B771-46070DDC16CB}"/>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ja-JP" altLang="en-US" sz="1800">
                <a:effectLst/>
                <a:latin typeface="Century" panose="02040604050505020304" pitchFamily="18" charset="0"/>
                <a:ea typeface="ＭＳ 明朝" panose="02020609040205080304" pitchFamily="17" charset="-128"/>
                <a:cs typeface="Century" panose="02040604050505020304" pitchFamily="18" charset="0"/>
              </a:rPr>
              <a:t>実験結果です。まず最初に従来手法の</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ResNet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と分割数</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=2</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とした場合の</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GhostNet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と提案手法についてみていきたいと思います。</a:t>
            </a: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ja-JP" altLang="en-US" sz="1800">
                <a:effectLst/>
                <a:latin typeface="Century" panose="02040604050505020304" pitchFamily="18" charset="0"/>
                <a:ea typeface="ＭＳ 明朝" panose="02020609040205080304" pitchFamily="17" charset="-128"/>
                <a:cs typeface="Century" panose="02040604050505020304" pitchFamily="18" charset="0"/>
              </a:rPr>
              <a:t>実験結果を見ていただくと</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GhostNet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、提案手法共に</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[1]</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精度が向上し、</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[2]</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提案手法が一番精度が高いことが分かります。</a:t>
            </a: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ja-JP" altLang="en-US" sz="1800">
                <a:effectLst/>
                <a:latin typeface="Century" panose="02040604050505020304" pitchFamily="18" charset="0"/>
                <a:ea typeface="ＭＳ 明朝" panose="02020609040205080304" pitchFamily="17" charset="-128"/>
                <a:cs typeface="Century" panose="02040604050505020304" pitchFamily="18" charset="0"/>
              </a:rPr>
              <a:t>必要最低限まで冗長性を抑えたことによる精度の向上が提案手法では見られたと考えます。</a:t>
            </a: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ja-JP" altLang="en-US" sz="1800">
                <a:effectLst/>
                <a:latin typeface="Century" panose="02040604050505020304" pitchFamily="18" charset="0"/>
                <a:ea typeface="ＭＳ 明朝" panose="02020609040205080304" pitchFamily="17" charset="-128"/>
                <a:cs typeface="Century" panose="02040604050505020304" pitchFamily="18" charset="0"/>
              </a:rPr>
              <a:t>ただ単純な畳み込み処理のみを行う</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ResNet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と比べると同じネットワーク規模に調節ができていないことからコンパクトになるべき</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[3]GhostNet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と提案モデルの計算量が増えてしまっています。</a:t>
            </a: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ja-JP" altLang="en-US" sz="1800">
                <a:effectLst/>
                <a:latin typeface="Century" panose="02040604050505020304" pitchFamily="18" charset="0"/>
                <a:ea typeface="ＭＳ 明朝" panose="02020609040205080304" pitchFamily="17" charset="-128"/>
                <a:cs typeface="Century" panose="02040604050505020304" pitchFamily="18" charset="0"/>
              </a:rPr>
              <a:t>そのため、計測時間を減らすため、分割数</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=4</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にした場合の結果を次のスライドに示します。</a:t>
            </a: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ja-JP" altLang="en-US" sz="1800">
                <a:effectLst/>
                <a:latin typeface="Century" panose="02040604050505020304" pitchFamily="18" charset="0"/>
                <a:ea typeface="ＭＳ 明朝" panose="02020609040205080304" pitchFamily="17" charset="-128"/>
                <a:cs typeface="Century" panose="02040604050505020304" pitchFamily="18" charset="0"/>
              </a:rPr>
              <a:t>まず提案手法①の実験結果です。提案手法</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1</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つ目はテスト精度が上がり班か性能の改善が見られたものの</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[1]GhostNet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の軽量性を維持できずに</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CNN</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の計測時間も超えてしまいました。原因として考えられるのは、</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CSAR Block</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の各アテンション処理後の統合による特徴量の増加にあると考えます。この原因から提案手法の</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SA</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 にて入力特徴マップの工夫を行った提案手法の実験結果を確認したいと思います。</a:t>
            </a: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p:txBody>
      </p:sp>
      <p:sp>
        <p:nvSpPr>
          <p:cNvPr id="4" name="スライド番号プレースホルダー 3">
            <a:extLst>
              <a:ext uri="{FF2B5EF4-FFF2-40B4-BE49-F238E27FC236}">
                <a16:creationId xmlns:a16="http://schemas.microsoft.com/office/drawing/2014/main" id="{27D8BB7B-73D0-D742-E945-51872CBAA083}"/>
              </a:ext>
            </a:extLst>
          </p:cNvPr>
          <p:cNvSpPr>
            <a:spLocks noGrp="1"/>
          </p:cNvSpPr>
          <p:nvPr>
            <p:ph type="sldNum" sz="quarter" idx="5"/>
          </p:nvPr>
        </p:nvSpPr>
        <p:spPr/>
        <p:txBody>
          <a:bodyPr/>
          <a:lstStyle/>
          <a:p>
            <a:fld id="{B9DA1B18-DFC2-4AF9-9545-5A29536AD33D}" type="slidenum">
              <a:rPr kumimoji="1" lang="ja-JP" altLang="en-US" smtClean="0"/>
              <a:t>16</a:t>
            </a:fld>
            <a:endParaRPr kumimoji="1" lang="ja-JP" altLang="en-US"/>
          </a:p>
        </p:txBody>
      </p:sp>
    </p:spTree>
    <p:extLst>
      <p:ext uri="{BB962C8B-B14F-4D97-AF65-F5344CB8AC3E}">
        <p14:creationId xmlns:p14="http://schemas.microsoft.com/office/powerpoint/2010/main" val="35019097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95AE0-C08B-1145-B0F9-4B72D4559CF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73B8C4-F5C4-962F-B9BF-7800B6F62EE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C687FB2-9D94-CC58-083E-E957333E4E15}"/>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ja-JP" altLang="en-US" sz="1800">
                <a:effectLst/>
                <a:latin typeface="Century" panose="02040604050505020304" pitchFamily="18" charset="0"/>
                <a:ea typeface="ＭＳ 明朝" panose="02020609040205080304" pitchFamily="17" charset="-128"/>
                <a:cs typeface="Century" panose="02040604050505020304" pitchFamily="18" charset="0"/>
              </a:rPr>
              <a:t>こちらが先ほどと同じ</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ResNet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と分割数</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=4</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にした場合の</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GhostNet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と提案手法についての実験結果です。</a:t>
            </a: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ja-JP" altLang="en-US" sz="1800">
                <a:effectLst/>
                <a:latin typeface="Century" panose="02040604050505020304" pitchFamily="18" charset="0"/>
                <a:ea typeface="ＭＳ 明朝" panose="02020609040205080304" pitchFamily="17" charset="-128"/>
                <a:cs typeface="Century" panose="02040604050505020304" pitchFamily="18" charset="0"/>
              </a:rPr>
              <a:t>先ほどの分割数</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=2</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の場合と比べるとわかる通り、</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GhostNet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と提案手法の計測時間が減り</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[1]</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、従来の</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ResNet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より精度が高く、</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[2]</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精度の維持に成功していることが分かります。ただ、今回の提案手法の目的は</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GhostNet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の軽量性を維持しつつ更なる精度の向上でしたが、</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GhostNet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と提案手法の精度に変化は見られませんでした。計算量を挙げたのにもかかわらず、精度が向上しなかった原因としては、</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3</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つ考えられます。一つ目は、</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CIFAR10</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での精度向上の限界、つまり過学習が起こっている。二つ目は、</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10</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エポックを</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1</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ループとしたとき、</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5</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回のループでの実験データにて平均値を出したこと。</a:t>
            </a: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ja-JP" altLang="en-US" sz="1800">
                <a:effectLst/>
                <a:latin typeface="Century" panose="02040604050505020304" pitchFamily="18" charset="0"/>
                <a:ea typeface="ＭＳ 明朝" panose="02020609040205080304" pitchFamily="17" charset="-128"/>
                <a:cs typeface="Century" panose="02040604050505020304" pitchFamily="18" charset="0"/>
              </a:rPr>
              <a:t>最後に原因、今後の課題として考えられるのは、データの順を毎回並び替えて</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1</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エポックで</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50000</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すべて使っている点です。</a:t>
            </a: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ja-JP" altLang="en-US" sz="1800">
                <a:effectLst/>
                <a:latin typeface="Century" panose="02040604050505020304" pitchFamily="18" charset="0"/>
                <a:ea typeface="ＭＳ 明朝" panose="02020609040205080304" pitchFamily="17" charset="-128"/>
                <a:cs typeface="Century" panose="02040604050505020304" pitchFamily="18" charset="0"/>
              </a:rPr>
              <a:t>学習用データをランダムに取るのではなく順番を並び替えて学習を行うのでモデルとの相性、つまり重みの初期化の違いとデータの出現によるものが影響していると考えます。</a:t>
            </a: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p:txBody>
      </p:sp>
      <p:sp>
        <p:nvSpPr>
          <p:cNvPr id="4" name="スライド番号プレースホルダー 3">
            <a:extLst>
              <a:ext uri="{FF2B5EF4-FFF2-40B4-BE49-F238E27FC236}">
                <a16:creationId xmlns:a16="http://schemas.microsoft.com/office/drawing/2014/main" id="{2365E936-0D4E-2C9A-CAF8-0EC81548F18C}"/>
              </a:ext>
            </a:extLst>
          </p:cNvPr>
          <p:cNvSpPr>
            <a:spLocks noGrp="1"/>
          </p:cNvSpPr>
          <p:nvPr>
            <p:ph type="sldNum" sz="quarter" idx="5"/>
          </p:nvPr>
        </p:nvSpPr>
        <p:spPr/>
        <p:txBody>
          <a:bodyPr/>
          <a:lstStyle/>
          <a:p>
            <a:fld id="{B9DA1B18-DFC2-4AF9-9545-5A29536AD33D}" type="slidenum">
              <a:rPr kumimoji="1" lang="ja-JP" altLang="en-US" smtClean="0"/>
              <a:t>17</a:t>
            </a:fld>
            <a:endParaRPr kumimoji="1" lang="ja-JP" altLang="en-US"/>
          </a:p>
        </p:txBody>
      </p:sp>
    </p:spTree>
    <p:extLst>
      <p:ext uri="{BB962C8B-B14F-4D97-AF65-F5344CB8AC3E}">
        <p14:creationId xmlns:p14="http://schemas.microsoft.com/office/powerpoint/2010/main" val="36996753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904CA-953F-A424-98A5-9B5FAA2235E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EE2ECFB-5FB0-2968-2705-5D2DB8F48C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B19C8AF-D24F-DA57-9B6D-E88E0FF7935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a:latin typeface="+mj-ea"/>
              <a:ea typeface="+mj-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a:latin typeface="+mj-ea"/>
              <a:ea typeface="+mj-ea"/>
            </a:endParaRPr>
          </a:p>
          <a:p>
            <a:endParaRPr kumimoji="1" lang="ja-JP" altLang="en-US"/>
          </a:p>
        </p:txBody>
      </p:sp>
      <p:sp>
        <p:nvSpPr>
          <p:cNvPr id="4" name="スライド番号プレースホルダー 3">
            <a:extLst>
              <a:ext uri="{FF2B5EF4-FFF2-40B4-BE49-F238E27FC236}">
                <a16:creationId xmlns:a16="http://schemas.microsoft.com/office/drawing/2014/main" id="{47C7D18F-165B-D15F-3500-5D3F483D3C12}"/>
              </a:ext>
            </a:extLst>
          </p:cNvPr>
          <p:cNvSpPr>
            <a:spLocks noGrp="1"/>
          </p:cNvSpPr>
          <p:nvPr>
            <p:ph type="sldNum" sz="quarter" idx="5"/>
          </p:nvPr>
        </p:nvSpPr>
        <p:spPr/>
        <p:txBody>
          <a:bodyPr/>
          <a:lstStyle/>
          <a:p>
            <a:fld id="{E2CAF68A-046F-4F07-AF4B-B353EB2A9206}" type="slidenum">
              <a:rPr kumimoji="1" lang="ja-JP" altLang="en-US" smtClean="0"/>
              <a:t>18</a:t>
            </a:fld>
            <a:endParaRPr kumimoji="1" lang="ja-JP" altLang="en-US"/>
          </a:p>
        </p:txBody>
      </p:sp>
    </p:spTree>
    <p:extLst>
      <p:ext uri="{BB962C8B-B14F-4D97-AF65-F5344CB8AC3E}">
        <p14:creationId xmlns:p14="http://schemas.microsoft.com/office/powerpoint/2010/main" val="11883198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49D42-075E-3579-7D32-FB6F4C31D59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4C6CDEB-73B8-0107-E393-40EADDEEB02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2D1FB6C-EAB2-A6D8-E402-BBA45C8DEBEE}"/>
              </a:ext>
            </a:extLst>
          </p:cNvPr>
          <p:cNvSpPr>
            <a:spLocks noGrp="1"/>
          </p:cNvSpPr>
          <p:nvPr>
            <p:ph type="body" idx="1"/>
          </p:nvPr>
        </p:nvSpPr>
        <p:spPr/>
        <p:txBody>
          <a:bodyPr/>
          <a:lstStyle/>
          <a:p>
            <a:pPr algn="just">
              <a:tabLst>
                <a:tab pos="662940" algn="l"/>
                <a:tab pos="3154680" algn="l"/>
              </a:tabLst>
            </a:pP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実験結果</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です。提案手法②では</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CNN</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の計測時間が超えることなく、テスト精度に対する汎化性能が改善されました。</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p:txBody>
      </p:sp>
      <p:sp>
        <p:nvSpPr>
          <p:cNvPr id="4" name="スライド番号プレースホルダー 3">
            <a:extLst>
              <a:ext uri="{FF2B5EF4-FFF2-40B4-BE49-F238E27FC236}">
                <a16:creationId xmlns:a16="http://schemas.microsoft.com/office/drawing/2014/main" id="{AA7FAC3F-B487-AA92-3313-BD194A7561D6}"/>
              </a:ext>
            </a:extLst>
          </p:cNvPr>
          <p:cNvSpPr>
            <a:spLocks noGrp="1"/>
          </p:cNvSpPr>
          <p:nvPr>
            <p:ph type="sldNum" sz="quarter" idx="5"/>
          </p:nvPr>
        </p:nvSpPr>
        <p:spPr/>
        <p:txBody>
          <a:bodyPr/>
          <a:lstStyle/>
          <a:p>
            <a:fld id="{B9DA1B18-DFC2-4AF9-9545-5A29536AD33D}" type="slidenum">
              <a:rPr kumimoji="1" lang="ja-JP" altLang="en-US" smtClean="0"/>
              <a:t>19</a:t>
            </a:fld>
            <a:endParaRPr kumimoji="1" lang="ja-JP" altLang="en-US"/>
          </a:p>
        </p:txBody>
      </p:sp>
    </p:spTree>
    <p:extLst>
      <p:ext uri="{BB962C8B-B14F-4D97-AF65-F5344CB8AC3E}">
        <p14:creationId xmlns:p14="http://schemas.microsoft.com/office/powerpoint/2010/main" val="7457807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just">
              <a:tabLst>
                <a:tab pos="662940" algn="l"/>
                <a:tab pos="3154680" algn="l"/>
              </a:tabLst>
            </a:pP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実験結果です。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algn="just">
              <a:tabLst>
                <a:tab pos="662940" algn="l"/>
                <a:tab pos="3154680" algn="l"/>
              </a:tabLst>
            </a:pP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上の</a:t>
            </a:r>
            <a:r>
              <a:rPr lang="en-US" altLang="ja-JP" sz="1800" dirty="0" err="1">
                <a:effectLst/>
                <a:latin typeface="Century" panose="02040604050505020304" pitchFamily="18" charset="0"/>
                <a:ea typeface="ＭＳ 明朝" panose="02020609040205080304" pitchFamily="17" charset="-128"/>
                <a:cs typeface="Century" panose="02040604050505020304" pitchFamily="18" charset="0"/>
              </a:rPr>
              <a:t>AdaptiveConnection</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は前のスライドで説明した今回の提案手法で、下の</a:t>
            </a:r>
            <a:r>
              <a:rPr lang="en-US" altLang="ja-JP" sz="1800" dirty="0" err="1">
                <a:effectLst/>
                <a:latin typeface="Century" panose="02040604050505020304" pitchFamily="18" charset="0"/>
                <a:ea typeface="ＭＳ 明朝" panose="02020609040205080304" pitchFamily="17" charset="-128"/>
                <a:cs typeface="Century" panose="02040604050505020304" pitchFamily="18" charset="0"/>
              </a:rPr>
              <a:t>NormalDenseNet</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は全てにおいてスキップ接続を実行させます。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algn="just">
              <a:tabLst>
                <a:tab pos="662940" algn="l"/>
                <a:tab pos="3154680" algn="l"/>
              </a:tabLst>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[1] (Enter) </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最初は入力データに</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CIFAR-10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を活用した結果からみていきます。</a:t>
            </a:r>
            <a:r>
              <a:rPr lang="en-US" altLang="ja-JP" sz="1800" dirty="0" err="1">
                <a:effectLst/>
                <a:latin typeface="Century" panose="02040604050505020304" pitchFamily="18" charset="0"/>
                <a:ea typeface="ＭＳ 明朝" panose="02020609040205080304" pitchFamily="17" charset="-128"/>
                <a:cs typeface="Century" panose="02040604050505020304" pitchFamily="18" charset="0"/>
              </a:rPr>
              <a:t>Determinic</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の場合、テスト誤差が提案手法より通常の</a:t>
            </a:r>
            <a:r>
              <a:rPr lang="en-US" altLang="ja-JP" sz="1800" dirty="0" err="1">
                <a:effectLst/>
                <a:latin typeface="Century" panose="02040604050505020304" pitchFamily="18" charset="0"/>
                <a:ea typeface="ＭＳ 明朝" panose="02020609040205080304" pitchFamily="17" charset="-128"/>
                <a:cs typeface="Century" panose="02040604050505020304" pitchFamily="18" charset="0"/>
              </a:rPr>
              <a:t>DenseNet</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の方が低いことが分かります。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algn="just">
              <a:tabLst>
                <a:tab pos="662940" algn="l"/>
                <a:tab pos="3154680" algn="l"/>
              </a:tabLst>
            </a:pP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ここまでだとスキップ接続を全考慮したほうが精度が良くなるというように見えますが、</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[2] (Enter)  CIFAR-100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Deterministic</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の結果を見ると、提案手法の方が精度がよくなっていることが分かります。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algn="just">
              <a:tabLst>
                <a:tab pos="662940" algn="l"/>
                <a:tab pos="3154680" algn="l"/>
              </a:tabLst>
            </a:pP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このことから、</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CIFAR10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くらいの画像データの種類だとスキップ接続を動的に変化させるより、スキップ接続を全考慮させたほうが良いことが分かります。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algn="just">
              <a:tabLst>
                <a:tab pos="662940" algn="l"/>
                <a:tab pos="3154680" algn="l"/>
              </a:tabLst>
            </a:pP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また、</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CIFAR100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結果から画像データの種類、および入力データに関する情報量が多いほどスキップ接続を削除すべきところをより判断することができ、最適なネットワーク構造を構築することができているというように読み取れま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[3][4]</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赤線消す</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(Enter2</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回押す</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a:t>
            </a: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[5] (Enter) </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次に、</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Stochastic</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のデータと</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Deterministic</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の結果を見ていきます。まずは提案手法のみを見た場合</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CIFAR10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では</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Stochastic</a:t>
            </a:r>
            <a:r>
              <a:rPr lang="ja-JP" altLang="en-US" sz="1800" dirty="0" err="1">
                <a:effectLst/>
                <a:latin typeface="Century" panose="02040604050505020304" pitchFamily="18" charset="0"/>
                <a:ea typeface="ＭＳ 明朝" panose="02020609040205080304" pitchFamily="17" charset="-128"/>
                <a:cs typeface="Century" panose="02040604050505020304" pitchFamily="18" charset="0"/>
              </a:rPr>
              <a:t>のほうが</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良い精度を出しています。</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[6] (Enter) </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さらに</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CIFAR100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の方でも同様な結果を得ています。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algn="just">
              <a:tabLst>
                <a:tab pos="662940" algn="l"/>
                <a:tab pos="3154680" algn="l"/>
              </a:tabLst>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[7][8]</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青線消す</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(Enter2</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回押す</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 [9](Enter) </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しかし</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CIFAR10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を活用した通常の</a:t>
            </a:r>
            <a:r>
              <a:rPr lang="en-US" altLang="ja-JP" sz="1800" dirty="0" err="1">
                <a:effectLst/>
                <a:latin typeface="Century" panose="02040604050505020304" pitchFamily="18" charset="0"/>
                <a:ea typeface="ＭＳ 明朝" panose="02020609040205080304" pitchFamily="17" charset="-128"/>
                <a:cs typeface="Century" panose="02040604050505020304" pitchFamily="18" charset="0"/>
              </a:rPr>
              <a:t>DenseNet</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Deterministic</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と提案手法の</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Stochastic</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を見た場合、通常の</a:t>
            </a:r>
            <a:r>
              <a:rPr lang="en-US" altLang="ja-JP" sz="1800" dirty="0" err="1">
                <a:effectLst/>
                <a:latin typeface="Century" panose="02040604050505020304" pitchFamily="18" charset="0"/>
                <a:ea typeface="ＭＳ 明朝" panose="02020609040205080304" pitchFamily="17" charset="-128"/>
                <a:cs typeface="Century" panose="02040604050505020304" pitchFamily="18" charset="0"/>
              </a:rPr>
              <a:t>DenseNet</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の方が精度が良いため、この段階では、通常の</a:t>
            </a:r>
            <a:r>
              <a:rPr lang="en-US" altLang="ja-JP" sz="1800" dirty="0" err="1">
                <a:effectLst/>
                <a:latin typeface="Century" panose="02040604050505020304" pitchFamily="18" charset="0"/>
                <a:ea typeface="ＭＳ 明朝" panose="02020609040205080304" pitchFamily="17" charset="-128"/>
                <a:cs typeface="Century" panose="02040604050505020304" pitchFamily="18" charset="0"/>
              </a:rPr>
              <a:t>DenseNet</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に軍配が上がります。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algn="just">
              <a:tabLst>
                <a:tab pos="662940" algn="l"/>
                <a:tab pos="3154680" algn="l"/>
              </a:tabLst>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[10]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ですが、</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FIFAR100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を活用した通常の</a:t>
            </a:r>
            <a:r>
              <a:rPr lang="en-US" altLang="ja-JP" sz="1800" dirty="0" err="1">
                <a:effectLst/>
                <a:latin typeface="Century" panose="02040604050505020304" pitchFamily="18" charset="0"/>
                <a:ea typeface="ＭＳ 明朝" panose="02020609040205080304" pitchFamily="17" charset="-128"/>
                <a:cs typeface="Century" panose="02040604050505020304" pitchFamily="18" charset="0"/>
              </a:rPr>
              <a:t>DenseNet</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Deterministic</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と提案手法の</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Stochastic</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を見た場合、</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CIFAR10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を活用したときと違って、提案手法の方が精度が良くなることが確認できます。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algn="just">
              <a:tabLst>
                <a:tab pos="662940" algn="l"/>
                <a:tab pos="3154680" algn="l"/>
              </a:tabLst>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[11]</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今までの結果を乗せる</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(Enter)</a:t>
            </a: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[12] </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実験データを消す</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(Enter)</a:t>
            </a: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[13]</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結果のまとめを消す</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(Enter)</a:t>
            </a: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[14]</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結果のまとめを上に移動させる</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(Enter)</a:t>
            </a: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[15] (Enter) </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このことから、データの種類が豊富であるほど、よりスキップ接続をするかしないかの判断がより適切になることが確認でき、より最適なネットワーク構造を見つけられることを確認できた。</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さらに次のスライドでパラメータについて説明します。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p:txBody>
      </p:sp>
      <p:sp>
        <p:nvSpPr>
          <p:cNvPr id="4" name="スライド番号プレースホルダー 3"/>
          <p:cNvSpPr>
            <a:spLocks noGrp="1"/>
          </p:cNvSpPr>
          <p:nvPr>
            <p:ph type="sldNum" sz="quarter" idx="5"/>
          </p:nvPr>
        </p:nvSpPr>
        <p:spPr/>
        <p:txBody>
          <a:bodyPr/>
          <a:lstStyle/>
          <a:p>
            <a:fld id="{B9DA1B18-DFC2-4AF9-9545-5A29536AD33D}" type="slidenum">
              <a:rPr kumimoji="1" lang="ja-JP" altLang="en-US" smtClean="0"/>
              <a:t>20</a:t>
            </a:fld>
            <a:endParaRPr kumimoji="1" lang="ja-JP" altLang="en-US"/>
          </a:p>
        </p:txBody>
      </p:sp>
    </p:spTree>
    <p:extLst>
      <p:ext uri="{BB962C8B-B14F-4D97-AF65-F5344CB8AC3E}">
        <p14:creationId xmlns:p14="http://schemas.microsoft.com/office/powerpoint/2010/main" val="20086772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787B5-7710-CF93-F016-08A911CB19B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01C7D3F-1A63-FE92-CAB7-7B22EF3A4B6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2B1B860-C3C6-F307-8DF9-DF9B71FB89AB}"/>
              </a:ext>
            </a:extLst>
          </p:cNvPr>
          <p:cNvSpPr>
            <a:spLocks noGrp="1"/>
          </p:cNvSpPr>
          <p:nvPr>
            <p:ph type="body" idx="1"/>
          </p:nvPr>
        </p:nvSpPr>
        <p:spPr/>
        <p:txBody>
          <a:bodyPr/>
          <a:lstStyle/>
          <a:p>
            <a:pPr algn="just">
              <a:tabLst>
                <a:tab pos="662940" algn="l"/>
                <a:tab pos="3154680" algn="l"/>
              </a:tabLst>
            </a:pP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実験結果です。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algn="just">
              <a:tabLst>
                <a:tab pos="662940" algn="l"/>
                <a:tab pos="3154680" algn="l"/>
              </a:tabLst>
            </a:pP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上の</a:t>
            </a:r>
            <a:r>
              <a:rPr lang="en-US" altLang="ja-JP" sz="1800" dirty="0" err="1">
                <a:effectLst/>
                <a:latin typeface="Century" panose="02040604050505020304" pitchFamily="18" charset="0"/>
                <a:ea typeface="ＭＳ 明朝" panose="02020609040205080304" pitchFamily="17" charset="-128"/>
                <a:cs typeface="Century" panose="02040604050505020304" pitchFamily="18" charset="0"/>
              </a:rPr>
              <a:t>AdaptiveConnection</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は前のスライドで説明した今回の提案手法で、下の</a:t>
            </a:r>
            <a:r>
              <a:rPr lang="en-US" altLang="ja-JP" sz="1800" dirty="0" err="1">
                <a:effectLst/>
                <a:latin typeface="Century" panose="02040604050505020304" pitchFamily="18" charset="0"/>
                <a:ea typeface="ＭＳ 明朝" panose="02020609040205080304" pitchFamily="17" charset="-128"/>
                <a:cs typeface="Century" panose="02040604050505020304" pitchFamily="18" charset="0"/>
              </a:rPr>
              <a:t>NormalDenseNet</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は全てにおいてスキップ接続を実行させます。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algn="just">
              <a:tabLst>
                <a:tab pos="662940" algn="l"/>
                <a:tab pos="3154680" algn="l"/>
              </a:tabLst>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[1] (Enter) </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最初は入力データに</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CIFAR-10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を活用した結果からみていきます。</a:t>
            </a:r>
            <a:r>
              <a:rPr lang="en-US" altLang="ja-JP" sz="1800" dirty="0" err="1">
                <a:effectLst/>
                <a:latin typeface="Century" panose="02040604050505020304" pitchFamily="18" charset="0"/>
                <a:ea typeface="ＭＳ 明朝" panose="02020609040205080304" pitchFamily="17" charset="-128"/>
                <a:cs typeface="Century" panose="02040604050505020304" pitchFamily="18" charset="0"/>
              </a:rPr>
              <a:t>Determinic</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の場合、テスト誤差が提案手法より通常の</a:t>
            </a:r>
            <a:r>
              <a:rPr lang="en-US" altLang="ja-JP" sz="1800" dirty="0" err="1">
                <a:effectLst/>
                <a:latin typeface="Century" panose="02040604050505020304" pitchFamily="18" charset="0"/>
                <a:ea typeface="ＭＳ 明朝" panose="02020609040205080304" pitchFamily="17" charset="-128"/>
                <a:cs typeface="Century" panose="02040604050505020304" pitchFamily="18" charset="0"/>
              </a:rPr>
              <a:t>DenseNet</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の方が低いことが分かります。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algn="just">
              <a:tabLst>
                <a:tab pos="662940" algn="l"/>
                <a:tab pos="3154680" algn="l"/>
              </a:tabLst>
            </a:pP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ここまでだとスキップ接続を全考慮したほうが精度が良くなるというように見えますが、</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[2] (Enter)  CIFAR-100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Deterministic</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の結果を見ると、提案手法の方が精度がよくなっていることが分かります。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algn="just">
              <a:tabLst>
                <a:tab pos="662940" algn="l"/>
                <a:tab pos="3154680" algn="l"/>
              </a:tabLst>
            </a:pP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このことから、</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CIFAR10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くらいの画像データの種類だとスキップ接続を動的に変化させるより、スキップ接続を全考慮させたほうが良いことが分かります。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algn="just">
              <a:tabLst>
                <a:tab pos="662940" algn="l"/>
                <a:tab pos="3154680" algn="l"/>
              </a:tabLst>
            </a:pP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また、</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CIFAR100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結果から画像データの種類、および入力データに関する情報量が多いほどスキップ接続を削除すべきところをより判断することができ、最適なネットワーク構造を構築することができているというように読み取れま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[3][4]</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赤線消す</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(Enter2</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回押す</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a:t>
            </a: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[5] (Enter) </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次に、</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Stochastic</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のデータと</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Deterministic</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の結果を見ていきます。まずは提案手法のみを見た場合</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CIFAR10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では</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Stochastic</a:t>
            </a:r>
            <a:r>
              <a:rPr lang="ja-JP" altLang="en-US" sz="1800" dirty="0" err="1">
                <a:effectLst/>
                <a:latin typeface="Century" panose="02040604050505020304" pitchFamily="18" charset="0"/>
                <a:ea typeface="ＭＳ 明朝" panose="02020609040205080304" pitchFamily="17" charset="-128"/>
                <a:cs typeface="Century" panose="02040604050505020304" pitchFamily="18" charset="0"/>
              </a:rPr>
              <a:t>のほうが</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良い精度を出しています。</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[6] (Enter) </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さらに</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CIFAR100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の方でも同様な結果を得ています。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algn="just">
              <a:tabLst>
                <a:tab pos="662940" algn="l"/>
                <a:tab pos="3154680" algn="l"/>
              </a:tabLst>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[7][8]</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青線消す</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(Enter2</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回押す</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 [9](Enter) </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しかし</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CIFAR10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を活用した通常の</a:t>
            </a:r>
            <a:r>
              <a:rPr lang="en-US" altLang="ja-JP" sz="1800" dirty="0" err="1">
                <a:effectLst/>
                <a:latin typeface="Century" panose="02040604050505020304" pitchFamily="18" charset="0"/>
                <a:ea typeface="ＭＳ 明朝" panose="02020609040205080304" pitchFamily="17" charset="-128"/>
                <a:cs typeface="Century" panose="02040604050505020304" pitchFamily="18" charset="0"/>
              </a:rPr>
              <a:t>DenseNet</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Deterministic</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と提案手法の</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Stochastic</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を見た場合、通常の</a:t>
            </a:r>
            <a:r>
              <a:rPr lang="en-US" altLang="ja-JP" sz="1800" dirty="0" err="1">
                <a:effectLst/>
                <a:latin typeface="Century" panose="02040604050505020304" pitchFamily="18" charset="0"/>
                <a:ea typeface="ＭＳ 明朝" panose="02020609040205080304" pitchFamily="17" charset="-128"/>
                <a:cs typeface="Century" panose="02040604050505020304" pitchFamily="18" charset="0"/>
              </a:rPr>
              <a:t>DenseNet</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の方が精度が良いため、この段階では、通常の</a:t>
            </a:r>
            <a:r>
              <a:rPr lang="en-US" altLang="ja-JP" sz="1800" dirty="0" err="1">
                <a:effectLst/>
                <a:latin typeface="Century" panose="02040604050505020304" pitchFamily="18" charset="0"/>
                <a:ea typeface="ＭＳ 明朝" panose="02020609040205080304" pitchFamily="17" charset="-128"/>
                <a:cs typeface="Century" panose="02040604050505020304" pitchFamily="18" charset="0"/>
              </a:rPr>
              <a:t>DenseNet</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に軍配が上がります。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algn="just">
              <a:tabLst>
                <a:tab pos="662940" algn="l"/>
                <a:tab pos="3154680" algn="l"/>
              </a:tabLst>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[10]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ですが、</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FIFAR100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を活用した通常の</a:t>
            </a:r>
            <a:r>
              <a:rPr lang="en-US" altLang="ja-JP" sz="1800" dirty="0" err="1">
                <a:effectLst/>
                <a:latin typeface="Century" panose="02040604050505020304" pitchFamily="18" charset="0"/>
                <a:ea typeface="ＭＳ 明朝" panose="02020609040205080304" pitchFamily="17" charset="-128"/>
                <a:cs typeface="Century" panose="02040604050505020304" pitchFamily="18" charset="0"/>
              </a:rPr>
              <a:t>DenseNet</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の</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Deterministic</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と提案手法の</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Stochastic</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を見た場合、</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CIFAR10</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を活用したときと違って、提案手法の方が精度が良くなることが確認できます。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algn="just">
              <a:tabLst>
                <a:tab pos="662940" algn="l"/>
                <a:tab pos="3154680" algn="l"/>
              </a:tabLst>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[11]</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今までの結果を乗せる</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(Enter)</a:t>
            </a: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[12] </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実験データを消す</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(Enter)</a:t>
            </a: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[13]</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結果のまとめを消す</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(Enter)</a:t>
            </a: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[14]</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結果のまとめを上に移動させる</a:t>
            </a: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(Enter)</a:t>
            </a: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en-US" altLang="ja-JP" sz="1800" dirty="0">
                <a:effectLst/>
                <a:latin typeface="Century" panose="02040604050505020304" pitchFamily="18" charset="0"/>
                <a:ea typeface="ＭＳ 明朝" panose="02020609040205080304" pitchFamily="17" charset="-128"/>
                <a:cs typeface="Century" panose="02040604050505020304" pitchFamily="18" charset="0"/>
              </a:rPr>
              <a:t>[15] (Enter) </a:t>
            </a: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このことから、データの種類が豊富であるほど、よりスキップ接続をするかしないかの判断がより適切になることが確認でき、より最適なネットワーク構造を見つけられることを確認できた。</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ja-JP" altLang="en-US" sz="1800" dirty="0">
                <a:effectLst/>
                <a:latin typeface="Century" panose="02040604050505020304" pitchFamily="18" charset="0"/>
                <a:ea typeface="ＭＳ 明朝" panose="02020609040205080304" pitchFamily="17" charset="-128"/>
                <a:cs typeface="Century" panose="02040604050505020304" pitchFamily="18" charset="0"/>
              </a:rPr>
              <a:t>さらに次のスライドでパラメータについて説明します。</a:t>
            </a: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endParaRPr lang="en-US" altLang="ja-JP" sz="1800" dirty="0">
              <a:effectLst/>
              <a:latin typeface="Century" panose="02040604050505020304" pitchFamily="18" charset="0"/>
              <a:ea typeface="ＭＳ 明朝" panose="02020609040205080304" pitchFamily="17" charset="-128"/>
              <a:cs typeface="Century" panose="02040604050505020304" pitchFamily="18" charset="0"/>
            </a:endParaRPr>
          </a:p>
        </p:txBody>
      </p:sp>
      <p:sp>
        <p:nvSpPr>
          <p:cNvPr id="4" name="スライド番号プレースホルダー 3">
            <a:extLst>
              <a:ext uri="{FF2B5EF4-FFF2-40B4-BE49-F238E27FC236}">
                <a16:creationId xmlns:a16="http://schemas.microsoft.com/office/drawing/2014/main" id="{DDC95087-252A-3219-E65A-931C59CA2E10}"/>
              </a:ext>
            </a:extLst>
          </p:cNvPr>
          <p:cNvSpPr>
            <a:spLocks noGrp="1"/>
          </p:cNvSpPr>
          <p:nvPr>
            <p:ph type="sldNum" sz="quarter" idx="5"/>
          </p:nvPr>
        </p:nvSpPr>
        <p:spPr/>
        <p:txBody>
          <a:bodyPr/>
          <a:lstStyle/>
          <a:p>
            <a:fld id="{B9DA1B18-DFC2-4AF9-9545-5A29536AD33D}" type="slidenum">
              <a:rPr kumimoji="1" lang="ja-JP" altLang="en-US" smtClean="0"/>
              <a:t>21</a:t>
            </a:fld>
            <a:endParaRPr kumimoji="1" lang="ja-JP" altLang="en-US"/>
          </a:p>
        </p:txBody>
      </p:sp>
    </p:spTree>
    <p:extLst>
      <p:ext uri="{BB962C8B-B14F-4D97-AF65-F5344CB8AC3E}">
        <p14:creationId xmlns:p14="http://schemas.microsoft.com/office/powerpoint/2010/main" val="31763554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7C41F-D1E8-15A7-9551-E9353AC4017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2CE9DBC-1B74-4657-F655-49AC6AFB92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D7CE35-E65F-D64A-1460-1175BBDBE619}"/>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ja-JP" altLang="en-US" sz="1800">
                <a:effectLst/>
                <a:latin typeface="Century" panose="02040604050505020304" pitchFamily="18" charset="0"/>
                <a:ea typeface="ＭＳ 明朝" panose="02020609040205080304" pitchFamily="17" charset="-128"/>
                <a:cs typeface="Century" panose="02040604050505020304" pitchFamily="18" charset="0"/>
              </a:rPr>
              <a:t>こちらが先ほどの</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ResNet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と分割数</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=4</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にした場合の</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GhostNet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と提案手法についての実験結果です。先ほどの分割数</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=2</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の場合と比べるとわかる通り、</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GhostNet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と提案手法の計測時間が下周り、</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[2]</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精度の維持に成功していることが分かります。ただ、今回の提案手法の目的は</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GhostNet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の軽量性を維持しつつ更なる精度の向上でした。この結果を見ていただくと、すべてにおいて</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GhostNet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の結果を下回ります。</a:t>
            </a: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ja-JP" altLang="en-US" sz="1800">
                <a:effectLst/>
                <a:latin typeface="Century" panose="02040604050505020304" pitchFamily="18" charset="0"/>
                <a:ea typeface="ＭＳ 明朝" panose="02020609040205080304" pitchFamily="17" charset="-128"/>
                <a:cs typeface="Century" panose="02040604050505020304" pitchFamily="18" charset="0"/>
              </a:rPr>
              <a:t>原因としては、</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2</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つ考えられます。一つ目は、</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CIFAR10</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での精度向上の限界、つまり過学習が起こっている。二つ目は、プログラムを実行する際のソフトと</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PC</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です。今回のプログラムは</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10</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エポックを</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1</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ループとしたときに</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5</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ループでの平均を表示したデータとなります。そのため、次のスライドにて、各ループでの精度評価を行った結果を示します。</a:t>
            </a: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ja-JP" altLang="en-US" sz="1800">
                <a:effectLst/>
                <a:latin typeface="Century" panose="02040604050505020304" pitchFamily="18" charset="0"/>
                <a:ea typeface="ＭＳ 明朝" panose="02020609040205080304" pitchFamily="17" charset="-128"/>
                <a:cs typeface="Century" panose="02040604050505020304" pitchFamily="18" charset="0"/>
              </a:rPr>
              <a:t>まず、</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ResNet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と</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GhostNet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と提案手法の時間比較を行います。</a:t>
            </a: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en-US" altLang="ja-JP" sz="1800">
                <a:effectLst/>
                <a:latin typeface="Century" panose="02040604050505020304" pitchFamily="18" charset="0"/>
                <a:ea typeface="ＭＳ 明朝" panose="02020609040205080304" pitchFamily="17" charset="-128"/>
                <a:cs typeface="Century" panose="02040604050505020304" pitchFamily="18" charset="0"/>
              </a:rPr>
              <a:t>[1]</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このように、</a:t>
            </a: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ja-JP" altLang="en-US" sz="1800">
                <a:effectLst/>
                <a:latin typeface="Century" panose="02040604050505020304" pitchFamily="18" charset="0"/>
                <a:ea typeface="ＭＳ 明朝" panose="02020609040205080304" pitchFamily="17" charset="-128"/>
                <a:cs typeface="Century" panose="02040604050505020304" pitchFamily="18" charset="0"/>
              </a:rPr>
              <a:t>次に制度の評価をしたいと思うのですが、見ていただくとわかると思いますが、提案手法の精度が従来の</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GhostNet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の精度を下回る結果となってしまいました。原因としては、</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2</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つ考えられます。一つ目は、</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CIFAR10</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での精度向上の限界、つまり過学習が起こっている。二つ目は、プログラムを実行する際のソフトと</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PC</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です。今回のプログラムは</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10</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エポックを</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1</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ループとしたときに</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5</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ループでの平均を表示したデータとなります。そのため、次のスライドにて、各ループでの精度評価を行った結果を示します。</a:t>
            </a: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662940" algn="l"/>
                <a:tab pos="3154680" algn="l"/>
              </a:tabLst>
              <a:defRPr/>
            </a:pPr>
            <a:r>
              <a:rPr lang="ja-JP" altLang="en-US" sz="1800">
                <a:effectLst/>
                <a:latin typeface="Century" panose="02040604050505020304" pitchFamily="18" charset="0"/>
                <a:ea typeface="ＭＳ 明朝" panose="02020609040205080304" pitchFamily="17" charset="-128"/>
                <a:cs typeface="Century" panose="02040604050505020304" pitchFamily="18" charset="0"/>
              </a:rPr>
              <a:t>まず提案手法①の実験結果です。提案手法</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1</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つ目はテスト精度が上がり班か性能の改善が見られたものの</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[1]GhostNet</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の軽量性を維持できずに</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CNN</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の計測時間も超えてしまいました。原因として考えられるのは、</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CSAR Block</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の各アテンション処理後の統合による特徴量の増加にあると考えます。この原因から提案手法の</a:t>
            </a:r>
            <a:r>
              <a:rPr lang="en-US" altLang="ja-JP" sz="1800">
                <a:effectLst/>
                <a:latin typeface="Century" panose="02040604050505020304" pitchFamily="18" charset="0"/>
                <a:ea typeface="ＭＳ 明朝" panose="02020609040205080304" pitchFamily="17" charset="-128"/>
                <a:cs typeface="Century" panose="02040604050505020304" pitchFamily="18" charset="0"/>
              </a:rPr>
              <a:t>SA</a:t>
            </a:r>
            <a:r>
              <a:rPr lang="ja-JP" altLang="en-US" sz="1800">
                <a:effectLst/>
                <a:latin typeface="Century" panose="02040604050505020304" pitchFamily="18" charset="0"/>
                <a:ea typeface="ＭＳ 明朝" panose="02020609040205080304" pitchFamily="17" charset="-128"/>
                <a:cs typeface="Century" panose="02040604050505020304" pitchFamily="18" charset="0"/>
              </a:rPr>
              <a:t> にて入力特徴マップの工夫を行った提案手法の実験結果を確認したいと思います。</a:t>
            </a:r>
            <a:endParaRPr lang="en-US" altLang="ja-JP" sz="1800">
              <a:effectLst/>
              <a:latin typeface="Century" panose="02040604050505020304" pitchFamily="18" charset="0"/>
              <a:ea typeface="ＭＳ 明朝" panose="02020609040205080304" pitchFamily="17" charset="-128"/>
              <a:cs typeface="Century" panose="02040604050505020304" pitchFamily="18" charset="0"/>
            </a:endParaRPr>
          </a:p>
        </p:txBody>
      </p:sp>
      <p:sp>
        <p:nvSpPr>
          <p:cNvPr id="4" name="スライド番号プレースホルダー 3">
            <a:extLst>
              <a:ext uri="{FF2B5EF4-FFF2-40B4-BE49-F238E27FC236}">
                <a16:creationId xmlns:a16="http://schemas.microsoft.com/office/drawing/2014/main" id="{38442B9D-8C68-1E46-CF95-6AFD96DC4EAA}"/>
              </a:ext>
            </a:extLst>
          </p:cNvPr>
          <p:cNvSpPr>
            <a:spLocks noGrp="1"/>
          </p:cNvSpPr>
          <p:nvPr>
            <p:ph type="sldNum" sz="quarter" idx="5"/>
          </p:nvPr>
        </p:nvSpPr>
        <p:spPr/>
        <p:txBody>
          <a:bodyPr/>
          <a:lstStyle/>
          <a:p>
            <a:fld id="{B9DA1B18-DFC2-4AF9-9545-5A29536AD33D}" type="slidenum">
              <a:rPr kumimoji="1" lang="ja-JP" altLang="en-US" smtClean="0"/>
              <a:t>22</a:t>
            </a:fld>
            <a:endParaRPr kumimoji="1" lang="ja-JP" altLang="en-US"/>
          </a:p>
        </p:txBody>
      </p:sp>
    </p:spTree>
    <p:extLst>
      <p:ext uri="{BB962C8B-B14F-4D97-AF65-F5344CB8AC3E}">
        <p14:creationId xmlns:p14="http://schemas.microsoft.com/office/powerpoint/2010/main" val="1590326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ctr">
            <a:normAutofit/>
          </a:bodyPr>
          <a:lstStyle>
            <a:lvl1pPr>
              <a:defRPr sz="5400"/>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1942416" y="4777380"/>
            <a:ext cx="6600451" cy="1126283"/>
          </a:xfrm>
        </p:spPr>
        <p:txBody>
          <a:bodyPr anchor="ctr"/>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dirty="0"/>
              <a:t>マスター サブタイトルの書式設定</a:t>
            </a:r>
            <a:endParaRPr lang="en-US" dirty="0"/>
          </a:p>
        </p:txBody>
      </p:sp>
      <p:sp>
        <p:nvSpPr>
          <p:cNvPr id="4" name="Date Placeholder 3"/>
          <p:cNvSpPr>
            <a:spLocks noGrp="1"/>
          </p:cNvSpPr>
          <p:nvPr>
            <p:ph type="dt" sz="half" idx="10"/>
          </p:nvPr>
        </p:nvSpPr>
        <p:spPr/>
        <p:txBody>
          <a:bodyPr/>
          <a:lstStyle/>
          <a:p>
            <a:fld id="{97F068F2-342D-419C-8DF3-97174A4F5239}" type="datetime1">
              <a:rPr kumimoji="1" lang="ja-JP" altLang="en-US" smtClean="0"/>
              <a:t>2026/8/18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9" name="Freeform 8"/>
          <p:cNvSpPr/>
          <p:nvPr/>
        </p:nvSpPr>
        <p:spPr bwMode="auto">
          <a:xfrm>
            <a:off x="0" y="4321156"/>
            <a:ext cx="1269969"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txBody>
          <a:bodyPr/>
          <a:lstStyle/>
          <a:p>
            <a:endParaRPr lang="ja-JP" altLang="en-US"/>
          </a:p>
        </p:txBody>
      </p:sp>
      <p:sp>
        <p:nvSpPr>
          <p:cNvPr id="6" name="Slide Number Placeholder 5"/>
          <p:cNvSpPr>
            <a:spLocks noGrp="1"/>
          </p:cNvSpPr>
          <p:nvPr>
            <p:ph type="sldNum" sz="quarter" idx="12"/>
          </p:nvPr>
        </p:nvSpPr>
        <p:spPr>
          <a:xfrm>
            <a:off x="354478" y="4529485"/>
            <a:ext cx="584978" cy="365125"/>
          </a:xfrm>
        </p:spPr>
        <p:txBody>
          <a:bodyPr/>
          <a:lstStyle/>
          <a:p>
            <a:fld id="{D05BA8D5-125D-4EC3-90F4-EC81325CDD7F}" type="slidenum">
              <a:rPr kumimoji="1" lang="ja-JP" altLang="en-US" smtClean="0"/>
              <a:t>‹#›</a:t>
            </a:fld>
            <a:endParaRPr kumimoji="1" lang="ja-JP" altLang="en-US"/>
          </a:p>
        </p:txBody>
      </p:sp>
    </p:spTree>
    <p:extLst>
      <p:ext uri="{BB962C8B-B14F-4D97-AF65-F5344CB8AC3E}">
        <p14:creationId xmlns:p14="http://schemas.microsoft.com/office/powerpoint/2010/main" val="3182158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914400" y="150532"/>
            <a:ext cx="8049987" cy="773394"/>
          </a:xfrm>
        </p:spPr>
        <p:txBody>
          <a:bodyPr bIns="0" anchor="ctr" anchorCtr="0">
            <a:normAutofit/>
          </a:bodyPr>
          <a:lstStyle>
            <a:lvl1pPr>
              <a:defRPr sz="4000"/>
            </a:lvl1pPr>
          </a:lstStyle>
          <a:p>
            <a:r>
              <a:rPr lang="ja-JP" altLang="en-US" dirty="0"/>
              <a:t>マスター タイトルの書式設定</a:t>
            </a:r>
            <a:endParaRPr lang="en-US" dirty="0"/>
          </a:p>
        </p:txBody>
      </p:sp>
      <p:sp>
        <p:nvSpPr>
          <p:cNvPr id="3" name="Content Placeholder 2"/>
          <p:cNvSpPr>
            <a:spLocks noGrp="1"/>
          </p:cNvSpPr>
          <p:nvPr>
            <p:ph idx="1"/>
          </p:nvPr>
        </p:nvSpPr>
        <p:spPr>
          <a:xfrm>
            <a:off x="914400" y="1183820"/>
            <a:ext cx="8049987" cy="4969329"/>
          </a:xfrm>
        </p:spPr>
        <p:txBody>
          <a:bodyPr>
            <a:normAutofit/>
          </a:bodyPr>
          <a:lstStyle>
            <a:lvl1pPr>
              <a:defRPr sz="3600"/>
            </a:lvl1pPr>
            <a:lvl2pPr>
              <a:defRPr sz="3200"/>
            </a:lvl2pPr>
            <a:lvl3pPr>
              <a:defRPr sz="2800"/>
            </a:lvl3pPr>
            <a:lvl4pPr>
              <a:defRPr sz="2400"/>
            </a:lvl4pPr>
            <a:lvl5pPr>
              <a:defRPr sz="2400"/>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a:xfrm>
            <a:off x="8086725" y="6413043"/>
            <a:ext cx="972912" cy="370171"/>
          </a:xfrm>
        </p:spPr>
        <p:txBody>
          <a:bodyPr/>
          <a:lstStyle/>
          <a:p>
            <a:fld id="{E121BA9C-615B-42A5-9EE5-1DCF0E837228}" type="datetime1">
              <a:rPr kumimoji="1" lang="ja-JP" altLang="en-US" smtClean="0"/>
              <a:t>2026/8/18</a:t>
            </a:fld>
            <a:endParaRPr kumimoji="1" lang="ja-JP" altLang="en-US" dirty="0"/>
          </a:p>
        </p:txBody>
      </p:sp>
      <p:sp>
        <p:nvSpPr>
          <p:cNvPr id="5" name="Footer Placeholder 4"/>
          <p:cNvSpPr>
            <a:spLocks noGrp="1"/>
          </p:cNvSpPr>
          <p:nvPr>
            <p:ph type="ftr" sz="quarter" idx="11"/>
          </p:nvPr>
        </p:nvSpPr>
        <p:spPr>
          <a:xfrm>
            <a:off x="985968" y="6413043"/>
            <a:ext cx="6519731" cy="344861"/>
          </a:xfrm>
        </p:spPr>
        <p:txBody>
          <a:bodyPr/>
          <a:lstStyle/>
          <a:p>
            <a:endParaRPr kumimoji="1" lang="ja-JP" altLang="en-US"/>
          </a:p>
        </p:txBody>
      </p:sp>
      <p:sp>
        <p:nvSpPr>
          <p:cNvPr id="10" name="Freeform 11"/>
          <p:cNvSpPr/>
          <p:nvPr/>
        </p:nvSpPr>
        <p:spPr bwMode="auto">
          <a:xfrm flipV="1">
            <a:off x="1" y="289683"/>
            <a:ext cx="742950"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0" y="361123"/>
            <a:ext cx="584978" cy="365125"/>
          </a:xfrm>
        </p:spPr>
        <p:txBody>
          <a:bodyPr/>
          <a:lstStyle/>
          <a:p>
            <a:fld id="{D05BA8D5-125D-4EC3-90F4-EC81325CDD7F}" type="slidenum">
              <a:rPr kumimoji="1" lang="ja-JP" altLang="en-US" smtClean="0"/>
              <a:t>‹#›</a:t>
            </a:fld>
            <a:endParaRPr kumimoji="1" lang="ja-JP" altLang="en-US"/>
          </a:p>
        </p:txBody>
      </p:sp>
    </p:spTree>
    <p:extLst>
      <p:ext uri="{BB962C8B-B14F-4D97-AF65-F5344CB8AC3E}">
        <p14:creationId xmlns:p14="http://schemas.microsoft.com/office/powerpoint/2010/main" val="634955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161B9B92-512E-4044-A9B6-B48063510489}" type="datetime1">
              <a:rPr kumimoji="1" lang="ja-JP" altLang="en-US" smtClean="0"/>
              <a:t>2026/8/18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11" name="Freeform 11"/>
          <p:cNvSpPr/>
          <p:nvPr/>
        </p:nvSpPr>
        <p:spPr bwMode="auto">
          <a:xfrm flipV="1">
            <a:off x="58" y="3166526"/>
            <a:ext cx="904817"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8" y="3237966"/>
            <a:ext cx="584978" cy="365125"/>
          </a:xfrm>
        </p:spPr>
        <p:txBody>
          <a:bodyPr/>
          <a:lstStyle/>
          <a:p>
            <a:fld id="{D05BA8D5-125D-4EC3-90F4-EC81325CDD7F}" type="slidenum">
              <a:rPr kumimoji="1" lang="ja-JP" altLang="en-US" smtClean="0"/>
              <a:t>‹#›</a:t>
            </a:fld>
            <a:endParaRPr kumimoji="1" lang="ja-JP" altLang="en-US"/>
          </a:p>
        </p:txBody>
      </p:sp>
    </p:spTree>
    <p:extLst>
      <p:ext uri="{BB962C8B-B14F-4D97-AF65-F5344CB8AC3E}">
        <p14:creationId xmlns:p14="http://schemas.microsoft.com/office/powerpoint/2010/main" val="2794163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a:xfrm>
            <a:off x="1031272" y="169012"/>
            <a:ext cx="7933115" cy="799636"/>
          </a:xfrm>
        </p:spPr>
        <p:txBody>
          <a:bodyPr>
            <a:normAutofit/>
          </a:bodyPr>
          <a:lstStyle>
            <a:lvl1pPr>
              <a:defRPr sz="4000"/>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9428B404-A288-4323-9A7E-6F35E031D134}" type="datetime1">
              <a:rPr kumimoji="1" lang="ja-JP" altLang="en-US" smtClean="0"/>
              <a:t>2026/8/18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9" name="Freeform 11"/>
          <p:cNvSpPr/>
          <p:nvPr/>
        </p:nvSpPr>
        <p:spPr bwMode="auto">
          <a:xfrm flipV="1">
            <a:off x="58" y="314829"/>
            <a:ext cx="1031214"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179613" y="386268"/>
            <a:ext cx="584978" cy="365125"/>
          </a:xfrm>
        </p:spPr>
        <p:txBody>
          <a:bodyPr/>
          <a:lstStyle/>
          <a:p>
            <a:fld id="{D05BA8D5-125D-4EC3-90F4-EC81325CDD7F}" type="slidenum">
              <a:rPr kumimoji="1" lang="ja-JP" altLang="en-US" smtClean="0"/>
              <a:t>‹#›</a:t>
            </a:fld>
            <a:endParaRPr kumimoji="1" lang="ja-JP" altLang="en-US"/>
          </a:p>
        </p:txBody>
      </p:sp>
    </p:spTree>
    <p:extLst>
      <p:ext uri="{BB962C8B-B14F-4D97-AF65-F5344CB8AC3E}">
        <p14:creationId xmlns:p14="http://schemas.microsoft.com/office/powerpoint/2010/main" val="2527672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a:bodyPr>
          <a:lstStyle>
            <a:lvl1pPr>
              <a:defRPr sz="4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0592699A-B0AA-4CC1-BC4C-BD0835B8084C}" type="datetime1">
              <a:rPr kumimoji="1" lang="ja-JP" altLang="en-US" smtClean="0"/>
              <a:t>2026/8/18</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11" name="Freeform 11"/>
          <p:cNvSpPr/>
          <p:nvPr/>
        </p:nvSpPr>
        <p:spPr bwMode="auto">
          <a:xfrm flipV="1">
            <a:off x="0" y="306147"/>
            <a:ext cx="1031272"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179613" y="377586"/>
            <a:ext cx="584978" cy="365125"/>
          </a:xfrm>
        </p:spPr>
        <p:txBody>
          <a:bodyPr/>
          <a:lstStyle/>
          <a:p>
            <a:fld id="{D05BA8D5-125D-4EC3-90F4-EC81325CDD7F}" type="slidenum">
              <a:rPr kumimoji="1" lang="ja-JP" altLang="en-US" smtClean="0"/>
              <a:t>‹#›</a:t>
            </a:fld>
            <a:endParaRPr kumimoji="1" lang="ja-JP" altLang="en-US"/>
          </a:p>
        </p:txBody>
      </p:sp>
    </p:spTree>
    <p:extLst>
      <p:ext uri="{BB962C8B-B14F-4D97-AF65-F5344CB8AC3E}">
        <p14:creationId xmlns:p14="http://schemas.microsoft.com/office/powerpoint/2010/main" val="938848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1009650" y="158688"/>
            <a:ext cx="7954737" cy="837257"/>
          </a:xfrm>
        </p:spPr>
        <p:txBody>
          <a:bodyPr>
            <a:normAutofit/>
          </a:bodyPr>
          <a:lstStyle>
            <a:lvl1pPr>
              <a:defRPr sz="4000"/>
            </a:lvl1pPr>
          </a:lstStyle>
          <a:p>
            <a:r>
              <a:rPr lang="ja-JP" altLang="en-US" dirty="0"/>
              <a:t>マスター タイトルの書式設定</a:t>
            </a:r>
            <a:endParaRPr lang="en-US" dirty="0"/>
          </a:p>
        </p:txBody>
      </p:sp>
      <p:sp>
        <p:nvSpPr>
          <p:cNvPr id="3" name="Date Placeholder 2"/>
          <p:cNvSpPr>
            <a:spLocks noGrp="1"/>
          </p:cNvSpPr>
          <p:nvPr>
            <p:ph type="dt" sz="half" idx="10"/>
          </p:nvPr>
        </p:nvSpPr>
        <p:spPr/>
        <p:txBody>
          <a:bodyPr/>
          <a:lstStyle/>
          <a:p>
            <a:fld id="{1DB17D45-E055-486D-929C-FB21CF6B9EF9}" type="datetime1">
              <a:rPr kumimoji="1" lang="ja-JP" altLang="en-US" smtClean="0"/>
              <a:t>2026/8/18</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8" name="Freeform 11"/>
          <p:cNvSpPr/>
          <p:nvPr/>
        </p:nvSpPr>
        <p:spPr bwMode="auto">
          <a:xfrm flipV="1">
            <a:off x="0" y="323317"/>
            <a:ext cx="828675"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a:xfrm>
            <a:off x="6932" y="394755"/>
            <a:ext cx="584978" cy="365125"/>
          </a:xfrm>
        </p:spPr>
        <p:txBody>
          <a:bodyPr/>
          <a:lstStyle/>
          <a:p>
            <a:fld id="{D05BA8D5-125D-4EC3-90F4-EC81325CDD7F}" type="slidenum">
              <a:rPr kumimoji="1" lang="ja-JP" altLang="en-US" smtClean="0"/>
              <a:t>‹#›</a:t>
            </a:fld>
            <a:endParaRPr kumimoji="1" lang="ja-JP" altLang="en-US"/>
          </a:p>
        </p:txBody>
      </p:sp>
    </p:spTree>
    <p:extLst>
      <p:ext uri="{BB962C8B-B14F-4D97-AF65-F5344CB8AC3E}">
        <p14:creationId xmlns:p14="http://schemas.microsoft.com/office/powerpoint/2010/main" val="541284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E795E3-5720-4750-BF12-65E4A00BF442}" type="datetime1">
              <a:rPr kumimoji="1" lang="ja-JP" altLang="en-US" smtClean="0"/>
              <a:t>2026/8/18</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6" name="Freeform 11"/>
          <p:cNvSpPr/>
          <p:nvPr/>
        </p:nvSpPr>
        <p:spPr bwMode="auto">
          <a:xfrm flipV="1">
            <a:off x="0" y="247634"/>
            <a:ext cx="828675"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a:xfrm>
            <a:off x="0" y="319074"/>
            <a:ext cx="584978" cy="365125"/>
          </a:xfrm>
        </p:spPr>
        <p:txBody>
          <a:bodyPr/>
          <a:lstStyle/>
          <a:p>
            <a:fld id="{D05BA8D5-125D-4EC3-90F4-EC81325CDD7F}" type="slidenum">
              <a:rPr kumimoji="1" lang="ja-JP" altLang="en-US" smtClean="0"/>
              <a:t>‹#›</a:t>
            </a:fld>
            <a:endParaRPr kumimoji="1" lang="ja-JP" altLang="en-US"/>
          </a:p>
        </p:txBody>
      </p:sp>
    </p:spTree>
    <p:extLst>
      <p:ext uri="{BB962C8B-B14F-4D97-AF65-F5344CB8AC3E}">
        <p14:creationId xmlns:p14="http://schemas.microsoft.com/office/powerpoint/2010/main" val="1532432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ja-JP" altLang="en-US"/>
              <a:t>マスター タイトルの書式設定</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D58D097-9978-474B-9189-64763BB49D65}" type="datetime1">
              <a:rPr kumimoji="1" lang="ja-JP" altLang="en-US" smtClean="0"/>
              <a:t>2026/8/18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05BA8D5-125D-4EC3-90F4-EC81325CDD7F}" type="slidenum">
              <a:rPr kumimoji="1" lang="ja-JP" altLang="en-US" smtClean="0"/>
              <a:t>‹#›</a:t>
            </a:fld>
            <a:endParaRPr kumimoji="1" lang="ja-JP" altLang="en-US"/>
          </a:p>
        </p:txBody>
      </p:sp>
    </p:spTree>
    <p:extLst>
      <p:ext uri="{BB962C8B-B14F-4D97-AF65-F5344CB8AC3E}">
        <p14:creationId xmlns:p14="http://schemas.microsoft.com/office/powerpoint/2010/main" val="4128314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図を追加</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1650DCB5-7485-430F-B9E6-783D45FBC0FA}" type="datetime1">
              <a:rPr kumimoji="1" lang="ja-JP" altLang="en-US" smtClean="0"/>
              <a:t>2026/8/18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D05BA8D5-125D-4EC3-90F4-EC81325CDD7F}" type="slidenum">
              <a:rPr kumimoji="1" lang="ja-JP" altLang="en-US" smtClean="0"/>
              <a:t>‹#›</a:t>
            </a:fld>
            <a:endParaRPr kumimoji="1" lang="ja-JP" altLang="en-US"/>
          </a:p>
        </p:txBody>
      </p:sp>
    </p:spTree>
    <p:extLst>
      <p:ext uri="{BB962C8B-B14F-4D97-AF65-F5344CB8AC3E}">
        <p14:creationId xmlns:p14="http://schemas.microsoft.com/office/powerpoint/2010/main" val="844651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E548AB1-9CB1-4744-8A39-B3AEC40696D0}" type="datetime1">
              <a:rPr kumimoji="1" lang="ja-JP" altLang="en-US" smtClean="0"/>
              <a:t>2026/8/18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D05BA8D5-125D-4EC3-90F4-EC81325CDD7F}" type="slidenum">
              <a:rPr kumimoji="1" lang="ja-JP" altLang="en-US" smtClean="0"/>
              <a:t>‹#›</a:t>
            </a:fld>
            <a:endParaRPr kumimoji="1" lang="ja-JP" altLang="en-US"/>
          </a:p>
        </p:txBody>
      </p:sp>
    </p:spTree>
    <p:extLst>
      <p:ext uri="{BB962C8B-B14F-4D97-AF65-F5344CB8AC3E}">
        <p14:creationId xmlns:p14="http://schemas.microsoft.com/office/powerpoint/2010/main" val="2953405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ja-JP" altLang="en-US"/>
              <a:t>マスター タイトルの書式設定</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7CC99C1-C4C4-4E03-A557-53AC81154923}" type="datetime1">
              <a:rPr kumimoji="1" lang="ja-JP" altLang="en-US" smtClean="0"/>
              <a:t>2026/8/18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D05BA8D5-125D-4EC3-90F4-EC81325CDD7F}" type="slidenum">
              <a:rPr kumimoji="1" lang="ja-JP" altLang="en-US" smtClean="0"/>
              <a:t>‹#›</a:t>
            </a:fld>
            <a:endParaRPr kumimoji="1" lang="ja-JP" alt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425037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ja-JP" altLang="en-US"/>
              <a:t>マスター テキストの書式設定</a:t>
            </a:r>
          </a:p>
        </p:txBody>
      </p:sp>
      <p:sp>
        <p:nvSpPr>
          <p:cNvPr id="5" name="Date Placeholder 4"/>
          <p:cNvSpPr>
            <a:spLocks noGrp="1"/>
          </p:cNvSpPr>
          <p:nvPr>
            <p:ph type="dt" sz="half" idx="10"/>
          </p:nvPr>
        </p:nvSpPr>
        <p:spPr/>
        <p:txBody>
          <a:bodyPr/>
          <a:lstStyle/>
          <a:p>
            <a:fld id="{AAE24B09-065A-471A-837C-DA515B2BF189}" type="datetime1">
              <a:rPr kumimoji="1" lang="ja-JP" altLang="en-US" smtClean="0"/>
              <a:t>2026/8/18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D05BA8D5-125D-4EC3-90F4-EC81325CDD7F}" type="slidenum">
              <a:rPr kumimoji="1" lang="ja-JP" altLang="en-US" smtClean="0"/>
              <a:t>‹#›</a:t>
            </a:fld>
            <a:endParaRPr kumimoji="1" lang="ja-JP" altLang="en-US"/>
          </a:p>
        </p:txBody>
      </p:sp>
    </p:spTree>
    <p:extLst>
      <p:ext uri="{BB962C8B-B14F-4D97-AF65-F5344CB8AC3E}">
        <p14:creationId xmlns:p14="http://schemas.microsoft.com/office/powerpoint/2010/main" val="158019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ja-JP" altLang="en-US"/>
              <a:t>マスター タイトルの書式設定</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ja-JP" altLang="en-US"/>
              <a:t>マスター テキストの書式設定</a:t>
            </a:r>
          </a:p>
        </p:txBody>
      </p:sp>
      <p:sp>
        <p:nvSpPr>
          <p:cNvPr id="5" name="Date Placeholder 4"/>
          <p:cNvSpPr>
            <a:spLocks noGrp="1"/>
          </p:cNvSpPr>
          <p:nvPr>
            <p:ph type="dt" sz="half" idx="10"/>
          </p:nvPr>
        </p:nvSpPr>
        <p:spPr/>
        <p:txBody>
          <a:bodyPr/>
          <a:lstStyle/>
          <a:p>
            <a:fld id="{CD3618B4-99C9-4F3A-910B-42FBFF0028A0}" type="datetime1">
              <a:rPr kumimoji="1" lang="ja-JP" altLang="en-US" smtClean="0"/>
              <a:t>2026/8/18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D05BA8D5-125D-4EC3-90F4-EC81325CDD7F}" type="slidenum">
              <a:rPr kumimoji="1" lang="ja-JP" altLang="en-US" smtClean="0"/>
              <a:t>‹#›</a:t>
            </a:fld>
            <a:endParaRPr kumimoji="1" lang="ja-JP" alt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931960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ja-JP" altLang="en-US"/>
              <a:t>マスター タイトルの書式設定</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ja-JP" altLang="en-US"/>
              <a:t>マスター テキストの書式設定</a:t>
            </a:r>
          </a:p>
        </p:txBody>
      </p:sp>
      <p:sp>
        <p:nvSpPr>
          <p:cNvPr id="5" name="Date Placeholder 4"/>
          <p:cNvSpPr>
            <a:spLocks noGrp="1"/>
          </p:cNvSpPr>
          <p:nvPr>
            <p:ph type="dt" sz="half" idx="10"/>
          </p:nvPr>
        </p:nvSpPr>
        <p:spPr/>
        <p:txBody>
          <a:bodyPr/>
          <a:lstStyle/>
          <a:p>
            <a:fld id="{4CA05453-1B20-416A-97EC-06F13EF65109}" type="datetime1">
              <a:rPr kumimoji="1" lang="ja-JP" altLang="en-US" smtClean="0"/>
              <a:t>2026/8/18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D05BA8D5-125D-4EC3-90F4-EC81325CDD7F}" type="slidenum">
              <a:rPr kumimoji="1" lang="ja-JP" altLang="en-US" smtClean="0"/>
              <a:t>‹#›</a:t>
            </a:fld>
            <a:endParaRPr kumimoji="1" lang="ja-JP" altLang="en-US"/>
          </a:p>
        </p:txBody>
      </p:sp>
    </p:spTree>
    <p:extLst>
      <p:ext uri="{BB962C8B-B14F-4D97-AF65-F5344CB8AC3E}">
        <p14:creationId xmlns:p14="http://schemas.microsoft.com/office/powerpoint/2010/main" val="21871338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064CCC1-3D0D-42CF-9321-23735C149685}" type="datetime1">
              <a:rPr kumimoji="1" lang="ja-JP" altLang="en-US" smtClean="0"/>
              <a:t>2026/8/18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05BA8D5-125D-4EC3-90F4-EC81325CDD7F}" type="slidenum">
              <a:rPr kumimoji="1" lang="ja-JP" altLang="en-US" smtClean="0"/>
              <a:t>‹#›</a:t>
            </a:fld>
            <a:endParaRPr kumimoji="1" lang="ja-JP" altLang="en-US"/>
          </a:p>
        </p:txBody>
      </p:sp>
    </p:spTree>
    <p:extLst>
      <p:ext uri="{BB962C8B-B14F-4D97-AF65-F5344CB8AC3E}">
        <p14:creationId xmlns:p14="http://schemas.microsoft.com/office/powerpoint/2010/main" val="4062794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7ADD531-C863-4ACA-895D-4CAEE2CA0545}" type="datetime1">
              <a:rPr kumimoji="1" lang="ja-JP" altLang="en-US" smtClean="0"/>
              <a:t>2026/8/18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05BA8D5-125D-4EC3-90F4-EC81325CDD7F}" type="slidenum">
              <a:rPr kumimoji="1" lang="ja-JP" altLang="en-US" smtClean="0"/>
              <a:t>‹#›</a:t>
            </a:fld>
            <a:endParaRPr kumimoji="1" lang="ja-JP" altLang="en-US"/>
          </a:p>
        </p:txBody>
      </p:sp>
    </p:spTree>
    <p:extLst>
      <p:ext uri="{BB962C8B-B14F-4D97-AF65-F5344CB8AC3E}">
        <p14:creationId xmlns:p14="http://schemas.microsoft.com/office/powerpoint/2010/main" val="95594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grpSp>
        <p:nvGrpSpPr>
          <p:cNvPr id="36" name="Group 35"/>
          <p:cNvGrpSpPr/>
          <p:nvPr/>
        </p:nvGrpSpPr>
        <p:grpSpPr>
          <a:xfrm>
            <a:off x="2" y="228600"/>
            <a:ext cx="103127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ja-JP" altLang="en-US"/>
            </a:p>
          </p:txBody>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ja-JP" altLang="en-US"/>
            </a:p>
          </p:txBody>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ja-JP" altLang="en-US"/>
            </a:p>
          </p:txBody>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ja-JP" altLang="en-US"/>
            </a:p>
          </p:txBody>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ja-JP" altLang="en-US"/>
            </a:p>
          </p:txBody>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ja-JP" altLang="en-US"/>
            </a:p>
          </p:txBody>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ja-JP" altLang="en-US"/>
            </a:p>
          </p:txBody>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ja-JP" altLang="en-US"/>
            </a:p>
          </p:txBody>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ja-JP" altLang="en-US"/>
            </a:p>
          </p:txBody>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ja-JP" altLang="en-US"/>
            </a:p>
          </p:txBody>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ja-JP" altLang="en-US"/>
            </a:p>
          </p:txBody>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ja-JP" altLang="en-US"/>
            </a:p>
          </p:txBody>
        </p:sp>
      </p:grpSp>
      <p:grpSp>
        <p:nvGrpSpPr>
          <p:cNvPr id="49" name="Group 48"/>
          <p:cNvGrpSpPr/>
          <p:nvPr/>
        </p:nvGrpSpPr>
        <p:grpSpPr>
          <a:xfrm>
            <a:off x="20422" y="749"/>
            <a:ext cx="1099866" cy="6852504"/>
            <a:chOff x="6627813" y="196102"/>
            <a:chExt cx="1952625" cy="5677649"/>
          </a:xfrm>
        </p:grpSpPr>
        <p:sp>
          <p:nvSpPr>
            <p:cNvPr id="50" name="Freeform 27"/>
            <p:cNvSpPr/>
            <p:nvPr/>
          </p:nvSpPr>
          <p:spPr bwMode="auto">
            <a:xfrm>
              <a:off x="6627813" y="196102"/>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ja-JP" altLang="en-US"/>
            </a:p>
          </p:txBody>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ja-JP" altLang="en-US"/>
            </a:p>
          </p:txBody>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ja-JP" altLang="en-US"/>
            </a:p>
          </p:txBody>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ja-JP" altLang="en-US"/>
            </a:p>
          </p:txBody>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ja-JP" altLang="en-US"/>
            </a:p>
          </p:txBody>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ja-JP" altLang="en-US"/>
            </a:p>
          </p:txBody>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ja-JP" altLang="en-US"/>
            </a:p>
          </p:txBody>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ja-JP" altLang="en-US"/>
            </a:p>
          </p:txBody>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ja-JP" altLang="en-US"/>
            </a:p>
          </p:txBody>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ja-JP" altLang="en-US"/>
            </a:p>
          </p:txBody>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ja-JP" altLang="en-US"/>
            </a:p>
          </p:txBody>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ja-JP" altLang="en-US"/>
            </a:p>
          </p:txBody>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 name="Title Placeholder 1"/>
          <p:cNvSpPr>
            <a:spLocks noGrp="1"/>
          </p:cNvSpPr>
          <p:nvPr>
            <p:ph type="title"/>
          </p:nvPr>
        </p:nvSpPr>
        <p:spPr>
          <a:xfrm>
            <a:off x="1031272" y="154261"/>
            <a:ext cx="7933115" cy="784926"/>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1031272" y="1175657"/>
            <a:ext cx="7933115" cy="5069082"/>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2"/>
          </p:nvPr>
        </p:nvSpPr>
        <p:spPr>
          <a:xfrm>
            <a:off x="8039100" y="6419850"/>
            <a:ext cx="925287" cy="280872"/>
          </a:xfrm>
          <a:prstGeom prst="rect">
            <a:avLst/>
          </a:prstGeom>
        </p:spPr>
        <p:txBody>
          <a:bodyPr vert="horz" lIns="91440" tIns="45720" rIns="91440" bIns="45720" rtlCol="0" anchor="ctr"/>
          <a:lstStyle>
            <a:lvl1pPr algn="r">
              <a:defRPr sz="900">
                <a:solidFill>
                  <a:schemeClr val="tx1">
                    <a:tint val="75000"/>
                  </a:schemeClr>
                </a:solidFill>
              </a:defRPr>
            </a:lvl1pPr>
          </a:lstStyle>
          <a:p>
            <a:fld id="{8FB9B73D-FCC2-4679-BD6A-8B39A06DC480}" type="datetime1">
              <a:rPr kumimoji="1" lang="ja-JP" altLang="en-US" smtClean="0"/>
              <a:t>2026/8/18</a:t>
            </a:fld>
            <a:endParaRPr kumimoji="1" lang="ja-JP" altLang="en-US" dirty="0"/>
          </a:p>
        </p:txBody>
      </p:sp>
      <p:sp>
        <p:nvSpPr>
          <p:cNvPr id="5" name="Footer Placeholder 4"/>
          <p:cNvSpPr>
            <a:spLocks noGrp="1"/>
          </p:cNvSpPr>
          <p:nvPr>
            <p:ph type="ftr" sz="quarter" idx="3"/>
          </p:nvPr>
        </p:nvSpPr>
        <p:spPr>
          <a:xfrm>
            <a:off x="1586043" y="6419850"/>
            <a:ext cx="5957383" cy="292603"/>
          </a:xfrm>
          <a:prstGeom prst="rect">
            <a:avLst/>
          </a:prstGeom>
        </p:spPr>
        <p:txBody>
          <a:bodyPr vert="horz" lIns="91440" tIns="45720" rIns="91440" bIns="45720" rtlCol="0" anchor="ctr"/>
          <a:lstStyle>
            <a:lvl1pPr algn="l">
              <a:defRPr sz="900">
                <a:solidFill>
                  <a:schemeClr val="tx1">
                    <a:tint val="75000"/>
                  </a:schemeClr>
                </a:solidFill>
              </a:defRPr>
            </a:lvl1pPr>
          </a:lstStyle>
          <a:p>
            <a:endParaRPr kumimoji="1" lang="ja-JP" altLang="en-US" dirty="0"/>
          </a:p>
        </p:txBody>
      </p:sp>
      <p:sp>
        <p:nvSpPr>
          <p:cNvPr id="6" name="Slide Number Placeholder 5"/>
          <p:cNvSpPr>
            <a:spLocks noGrp="1"/>
          </p:cNvSpPr>
          <p:nvPr>
            <p:ph type="sldNum" sz="quarter" idx="4"/>
          </p:nvPr>
        </p:nvSpPr>
        <p:spPr bwMode="gray">
          <a:xfrm>
            <a:off x="206244" y="371382"/>
            <a:ext cx="584978" cy="365125"/>
          </a:xfrm>
          <a:prstGeom prst="rect">
            <a:avLst/>
          </a:prstGeom>
        </p:spPr>
        <p:txBody>
          <a:bodyPr vert="horz" lIns="91440" tIns="45720" rIns="91440" bIns="45720" rtlCol="0" anchor="ctr"/>
          <a:lstStyle>
            <a:lvl1pPr algn="r">
              <a:defRPr sz="2000">
                <a:solidFill>
                  <a:srgbClr val="FEFFFF"/>
                </a:solidFill>
              </a:defRPr>
            </a:lvl1pPr>
          </a:lstStyle>
          <a:p>
            <a:fld id="{D05BA8D5-125D-4EC3-90F4-EC81325CDD7F}" type="slidenum">
              <a:rPr kumimoji="1" lang="ja-JP" altLang="en-US" smtClean="0"/>
              <a:t>‹#›</a:t>
            </a:fld>
            <a:endParaRPr kumimoji="1" lang="ja-JP" altLang="en-US" dirty="0"/>
          </a:p>
        </p:txBody>
      </p:sp>
    </p:spTree>
    <p:extLst>
      <p:ext uri="{BB962C8B-B14F-4D97-AF65-F5344CB8AC3E}">
        <p14:creationId xmlns:p14="http://schemas.microsoft.com/office/powerpoint/2010/main" val="307592983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hf sldNum="0" hdr="0" ftr="0" dt="0"/>
  <p:txStyles>
    <p:titleStyle>
      <a:lvl1pPr algn="l" defTabSz="457200" rtl="0" eaLnBrk="1" latinLnBrk="0" hangingPunct="1">
        <a:spcBef>
          <a:spcPct val="0"/>
        </a:spcBef>
        <a:buNone/>
        <a:defRPr kumimoji="1" sz="4000" kern="1200">
          <a:solidFill>
            <a:schemeClr val="accent2">
              <a:lumMod val="75000"/>
            </a:schemeClr>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kumimoji="1" sz="36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kumimoji="1" sz="32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kumimoji="1" sz="28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kumimoji="1" sz="24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kumimoji="1" sz="24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6.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7.emf"/><Relationship Id="rId4" Type="http://schemas.openxmlformats.org/officeDocument/2006/relationships/image" Target="../media/image2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497256" y="906888"/>
            <a:ext cx="8149488" cy="2522112"/>
          </a:xfrm>
        </p:spPr>
        <p:txBody>
          <a:bodyPr>
            <a:normAutofit/>
          </a:bodyPr>
          <a:lstStyle/>
          <a:p>
            <a:pPr algn="r"/>
            <a:r>
              <a:rPr lang="en-US" altLang="ja-JP" sz="4000"/>
              <a:t>GhostNet with CSAR</a:t>
            </a:r>
            <a:r>
              <a:rPr lang="ja-JP" altLang="en-US" sz="4000"/>
              <a:t> </a:t>
            </a:r>
            <a:r>
              <a:rPr lang="en-US" altLang="ja-JP" sz="4000"/>
              <a:t>Block</a:t>
            </a:r>
            <a:br>
              <a:rPr lang="en-US" altLang="ja-JP"/>
            </a:br>
            <a:endParaRPr kumimoji="1" lang="ja-JP" altLang="en-US" sz="3100" dirty="0"/>
          </a:p>
        </p:txBody>
      </p:sp>
      <p:sp>
        <p:nvSpPr>
          <p:cNvPr id="3" name="サブタイトル 2"/>
          <p:cNvSpPr>
            <a:spLocks noGrp="1"/>
          </p:cNvSpPr>
          <p:nvPr>
            <p:ph type="subTitle" idx="1"/>
          </p:nvPr>
        </p:nvSpPr>
        <p:spPr/>
        <p:txBody>
          <a:bodyPr>
            <a:noAutofit/>
          </a:bodyPr>
          <a:lstStyle/>
          <a:p>
            <a:r>
              <a:rPr lang="ja-JP" altLang="en-US" sz="2400" dirty="0"/>
              <a:t>日本大学生産工学部</a:t>
            </a:r>
            <a:endParaRPr lang="en-US" altLang="ja-JP" sz="2400" dirty="0"/>
          </a:p>
          <a:p>
            <a:r>
              <a:rPr lang="ja-JP" altLang="en-US" sz="2400" dirty="0"/>
              <a:t>数理</a:t>
            </a:r>
            <a:r>
              <a:rPr lang="ja-JP" altLang="en-US" sz="2400"/>
              <a:t>情報工学科</a:t>
            </a:r>
            <a:endParaRPr lang="en-US" altLang="ja-JP" sz="2400"/>
          </a:p>
          <a:p>
            <a:r>
              <a:rPr lang="ja-JP" altLang="en-US" sz="2400"/>
              <a:t>小林 遼翔</a:t>
            </a:r>
            <a:endParaRPr lang="ja-JP" altLang="en-US" sz="2400" dirty="0"/>
          </a:p>
        </p:txBody>
      </p:sp>
    </p:spTree>
    <p:extLst>
      <p:ext uri="{BB962C8B-B14F-4D97-AF65-F5344CB8AC3E}">
        <p14:creationId xmlns:p14="http://schemas.microsoft.com/office/powerpoint/2010/main" val="655921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sz="4000" b="1" dirty="0"/>
              <a:t>背景</a:t>
            </a:r>
          </a:p>
        </p:txBody>
      </p:sp>
      <p:sp>
        <p:nvSpPr>
          <p:cNvPr id="8" name="コンテンツ プレースホルダー 2"/>
          <p:cNvSpPr>
            <a:spLocks noGrp="1"/>
          </p:cNvSpPr>
          <p:nvPr>
            <p:ph idx="1"/>
          </p:nvPr>
        </p:nvSpPr>
        <p:spPr>
          <a:xfrm>
            <a:off x="754617" y="1111583"/>
            <a:ext cx="8209770" cy="1874264"/>
          </a:xfrm>
        </p:spPr>
        <p:txBody>
          <a:bodyPr>
            <a:noAutofit/>
          </a:bodyPr>
          <a:lstStyle/>
          <a:p>
            <a:pPr marL="0" indent="0" algn="ctr">
              <a:lnSpc>
                <a:spcPct val="150000"/>
              </a:lnSpc>
              <a:buNone/>
            </a:pPr>
            <a:r>
              <a:rPr lang="ja-JP" altLang="en-US" sz="2400" b="1" dirty="0">
                <a:solidFill>
                  <a:srgbClr val="4D4D4D"/>
                </a:solidFill>
                <a:latin typeface="メイリオ" panose="020B0604030504040204" pitchFamily="50" charset="-128"/>
                <a:ea typeface="メイリオ" panose="020B0604030504040204" pitchFamily="50" charset="-128"/>
              </a:rPr>
              <a:t>近年、教師あり学習が発展し</a:t>
            </a:r>
            <a:endParaRPr lang="en-US" altLang="ja-JP" sz="2400" b="1" dirty="0">
              <a:solidFill>
                <a:srgbClr val="4D4D4D"/>
              </a:solidFill>
              <a:latin typeface="メイリオ" panose="020B0604030504040204" pitchFamily="50" charset="-128"/>
              <a:ea typeface="メイリオ" panose="020B0604030504040204" pitchFamily="50" charset="-128"/>
            </a:endParaRPr>
          </a:p>
          <a:p>
            <a:pPr marL="0" indent="0" algn="ctr">
              <a:lnSpc>
                <a:spcPct val="150000"/>
              </a:lnSpc>
              <a:buNone/>
            </a:pPr>
            <a:r>
              <a:rPr lang="ja-JP" altLang="en-US" sz="2400" b="1" dirty="0">
                <a:solidFill>
                  <a:srgbClr val="4D4D4D"/>
                </a:solidFill>
                <a:latin typeface="メイリオ" panose="020B0604030504040204" pitchFamily="50" charset="-128"/>
                <a:ea typeface="メイリオ" panose="020B0604030504040204" pitchFamily="50" charset="-128"/>
              </a:rPr>
              <a:t>特に深層学習技術の進歩により、画像認識や自然言語処理といった様々な分野で大きな成果を上げている</a:t>
            </a:r>
            <a:endParaRPr lang="en-US" altLang="ja-JP" sz="2400" b="1" dirty="0">
              <a:solidFill>
                <a:srgbClr val="4D4D4D"/>
              </a:solidFill>
              <a:latin typeface="メイリオ" panose="020B0604030504040204" pitchFamily="50" charset="-128"/>
              <a:ea typeface="メイリオ" panose="020B0604030504040204" pitchFamily="50" charset="-128"/>
            </a:endParaRPr>
          </a:p>
        </p:txBody>
      </p:sp>
      <p:sp>
        <p:nvSpPr>
          <p:cNvPr id="9" name="下矢印 8"/>
          <p:cNvSpPr/>
          <p:nvPr/>
        </p:nvSpPr>
        <p:spPr>
          <a:xfrm>
            <a:off x="4636414" y="4728094"/>
            <a:ext cx="605958" cy="497060"/>
          </a:xfrm>
          <a:prstGeom prst="downArrow">
            <a:avLst>
              <a:gd name="adj1" fmla="val 50449"/>
              <a:gd name="adj2" fmla="val 61608"/>
            </a:avLst>
          </a:prstGeom>
          <a:solidFill>
            <a:srgbClr val="C00000"/>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kumimoji="1" lang="ja-JP" altLang="en-US" dirty="0"/>
          </a:p>
        </p:txBody>
      </p:sp>
      <p:sp>
        <p:nvSpPr>
          <p:cNvPr id="10" name="コンテンツ プレースホルダー 2"/>
          <p:cNvSpPr txBox="1">
            <a:spLocks/>
          </p:cNvSpPr>
          <p:nvPr/>
        </p:nvSpPr>
        <p:spPr>
          <a:xfrm>
            <a:off x="1490226" y="3353722"/>
            <a:ext cx="6738551" cy="1331520"/>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kumimoji="1"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kumimoji="1"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kumimoji="1"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kumimoji="1"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kumimoji="1"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kumimoji="1"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kumimoji="1"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kumimoji="1"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kumimoji="1" sz="1600" kern="1200">
                <a:solidFill>
                  <a:schemeClr val="tx1"/>
                </a:solidFill>
                <a:latin typeface="+mn-lt"/>
                <a:ea typeface="+mn-ea"/>
                <a:cs typeface="+mn-cs"/>
              </a:defRPr>
            </a:lvl9pPr>
          </a:lstStyle>
          <a:p>
            <a:pPr marL="0" indent="0" algn="ctr">
              <a:lnSpc>
                <a:spcPct val="150000"/>
              </a:lnSpc>
              <a:buNone/>
            </a:pPr>
            <a:r>
              <a:rPr lang="ja-JP" altLang="en-US" sz="2400" b="1" dirty="0">
                <a:latin typeface="+mn-ea"/>
              </a:rPr>
              <a:t>特に</a:t>
            </a:r>
            <a:r>
              <a:rPr lang="en-US" altLang="ja-JP" sz="2400" b="1" dirty="0">
                <a:latin typeface="+mn-ea"/>
              </a:rPr>
              <a:t>CNN</a:t>
            </a:r>
            <a:r>
              <a:rPr lang="ja-JP" altLang="en-US" sz="2400" b="1" dirty="0">
                <a:latin typeface="+mn-ea"/>
              </a:rPr>
              <a:t>は画像認識において非常に効果的であるが課題も多い</a:t>
            </a:r>
            <a:r>
              <a:rPr lang="en-US" altLang="ja-JP" sz="2400" b="1" dirty="0">
                <a:latin typeface="+mn-ea"/>
              </a:rPr>
              <a:t>(</a:t>
            </a:r>
            <a:r>
              <a:rPr lang="ja-JP" altLang="en-US" sz="2400" b="1" dirty="0">
                <a:latin typeface="+mn-ea"/>
              </a:rPr>
              <a:t>大量のパラメータ</a:t>
            </a:r>
            <a:r>
              <a:rPr lang="en-US" altLang="ja-JP" sz="2400" b="1" dirty="0">
                <a:latin typeface="+mn-ea"/>
              </a:rPr>
              <a:t>,</a:t>
            </a:r>
            <a:r>
              <a:rPr lang="ja-JP" altLang="en-US" sz="2400" b="1" dirty="0">
                <a:latin typeface="+mn-ea"/>
              </a:rPr>
              <a:t>計算量</a:t>
            </a:r>
            <a:r>
              <a:rPr lang="en-US" altLang="ja-JP" sz="2400" b="1" dirty="0">
                <a:latin typeface="+mn-ea"/>
              </a:rPr>
              <a:t>)</a:t>
            </a:r>
          </a:p>
        </p:txBody>
      </p:sp>
      <p:sp>
        <p:nvSpPr>
          <p:cNvPr id="11" name="コンテンツ プレースホルダー 2"/>
          <p:cNvSpPr txBox="1">
            <a:spLocks/>
          </p:cNvSpPr>
          <p:nvPr/>
        </p:nvSpPr>
        <p:spPr>
          <a:xfrm>
            <a:off x="1017506" y="5339443"/>
            <a:ext cx="7780503" cy="1150860"/>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kumimoji="1"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kumimoji="1"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kumimoji="1"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kumimoji="1"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kumimoji="1"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kumimoji="1"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kumimoji="1"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kumimoji="1"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kumimoji="1" sz="1600" kern="1200">
                <a:solidFill>
                  <a:schemeClr val="tx1"/>
                </a:solidFill>
                <a:latin typeface="+mn-lt"/>
                <a:ea typeface="+mn-ea"/>
                <a:cs typeface="+mn-cs"/>
              </a:defRPr>
            </a:lvl9pPr>
          </a:lstStyle>
          <a:p>
            <a:pPr marL="0" indent="0" algn="ctr">
              <a:lnSpc>
                <a:spcPct val="120000"/>
              </a:lnSpc>
              <a:spcAft>
                <a:spcPts val="0"/>
              </a:spcAft>
              <a:buFont typeface="Wingdings" pitchFamily="2" charset="2"/>
              <a:buNone/>
            </a:pPr>
            <a:r>
              <a:rPr lang="ja-JP" altLang="en-US" sz="2400" b="1">
                <a:solidFill>
                  <a:schemeClr val="tx1">
                    <a:lumMod val="75000"/>
                    <a:lumOff val="25000"/>
                  </a:schemeClr>
                </a:solidFill>
                <a:latin typeface="+mn-ea"/>
              </a:rPr>
              <a:t>コンパクトモデル、</a:t>
            </a:r>
            <a:r>
              <a:rPr lang="ja-JP" altLang="en-US" sz="2400" b="1"/>
              <a:t>蒸留学習など</a:t>
            </a:r>
            <a:endParaRPr lang="en-US" altLang="ja-JP" sz="2400" b="1" dirty="0">
              <a:solidFill>
                <a:schemeClr val="tx1">
                  <a:lumMod val="75000"/>
                  <a:lumOff val="25000"/>
                </a:schemeClr>
              </a:solidFill>
              <a:latin typeface="+mn-ea"/>
            </a:endParaRPr>
          </a:p>
        </p:txBody>
      </p:sp>
      <p:sp>
        <p:nvSpPr>
          <p:cNvPr id="4" name="テキスト ボックス 3">
            <a:extLst>
              <a:ext uri="{FF2B5EF4-FFF2-40B4-BE49-F238E27FC236}">
                <a16:creationId xmlns:a16="http://schemas.microsoft.com/office/drawing/2014/main" id="{F566416C-35B8-B7BE-0F03-5B4032683260}"/>
              </a:ext>
            </a:extLst>
          </p:cNvPr>
          <p:cNvSpPr txBox="1"/>
          <p:nvPr/>
        </p:nvSpPr>
        <p:spPr>
          <a:xfrm>
            <a:off x="8513393" y="6305637"/>
            <a:ext cx="569232" cy="400110"/>
          </a:xfrm>
          <a:prstGeom prst="rect">
            <a:avLst/>
          </a:prstGeom>
          <a:noFill/>
        </p:spPr>
        <p:txBody>
          <a:bodyPr wrap="square" rtlCol="0">
            <a:spAutoFit/>
          </a:bodyPr>
          <a:lstStyle/>
          <a:p>
            <a:r>
              <a:rPr kumimoji="1" lang="en-US" altLang="ja-JP" sz="2000" b="1"/>
              <a:t>1</a:t>
            </a:r>
            <a:endParaRPr kumimoji="1" lang="ja-JP" altLang="en-US" sz="2000" b="1"/>
          </a:p>
        </p:txBody>
      </p:sp>
    </p:spTree>
    <p:extLst>
      <p:ext uri="{BB962C8B-B14F-4D97-AF65-F5344CB8AC3E}">
        <p14:creationId xmlns:p14="http://schemas.microsoft.com/office/powerpoint/2010/main" val="2131666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87B1B-AE1A-3110-D6B7-DCFD349360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BD8453-11BA-74FE-7F3D-A56861FABACD}"/>
              </a:ext>
            </a:extLst>
          </p:cNvPr>
          <p:cNvSpPr>
            <a:spLocks noGrp="1"/>
          </p:cNvSpPr>
          <p:nvPr>
            <p:ph type="title"/>
          </p:nvPr>
        </p:nvSpPr>
        <p:spPr/>
        <p:txBody>
          <a:bodyPr>
            <a:normAutofit/>
          </a:bodyPr>
          <a:lstStyle/>
          <a:p>
            <a:r>
              <a:rPr kumimoji="1" lang="ja-JP" altLang="en-US" b="1"/>
              <a:t>コンパクトモデル</a:t>
            </a:r>
            <a:endParaRPr kumimoji="1" lang="ja-JP" altLang="en-US" sz="4000" b="1" dirty="0"/>
          </a:p>
        </p:txBody>
      </p:sp>
      <p:sp>
        <p:nvSpPr>
          <p:cNvPr id="3" name="コンテンツ プレースホルダー 2">
            <a:extLst>
              <a:ext uri="{FF2B5EF4-FFF2-40B4-BE49-F238E27FC236}">
                <a16:creationId xmlns:a16="http://schemas.microsoft.com/office/drawing/2014/main" id="{29240C24-45B1-EAC4-ABF6-75BBFF661C6F}"/>
              </a:ext>
            </a:extLst>
          </p:cNvPr>
          <p:cNvSpPr>
            <a:spLocks noGrp="1"/>
          </p:cNvSpPr>
          <p:nvPr>
            <p:ph idx="1"/>
          </p:nvPr>
        </p:nvSpPr>
        <p:spPr>
          <a:xfrm>
            <a:off x="1252283" y="1105051"/>
            <a:ext cx="7310948" cy="1174853"/>
          </a:xfrm>
        </p:spPr>
        <p:txBody>
          <a:bodyPr>
            <a:noAutofit/>
          </a:bodyPr>
          <a:lstStyle/>
          <a:p>
            <a:pPr marL="0" indent="0" algn="ctr">
              <a:lnSpc>
                <a:spcPct val="150000"/>
              </a:lnSpc>
              <a:buNone/>
            </a:pPr>
            <a:r>
              <a:rPr lang="ja-JP" altLang="en-US" sz="2400" b="1">
                <a:latin typeface="メイリオ" panose="020B0604030504040204" pitchFamily="50" charset="-128"/>
                <a:ea typeface="メイリオ" panose="020B0604030504040204" pitchFamily="50" charset="-128"/>
              </a:rPr>
              <a:t>より軽量なモデルを提案することで、計算コストとメモリ消費を削減することを目的としたモデル</a:t>
            </a:r>
            <a:endParaRPr lang="en-US" altLang="ja-JP" sz="2400" b="1"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9A26B756-A9F7-B7CC-2296-981975B91109}"/>
              </a:ext>
            </a:extLst>
          </p:cNvPr>
          <p:cNvSpPr txBox="1"/>
          <p:nvPr/>
        </p:nvSpPr>
        <p:spPr>
          <a:xfrm>
            <a:off x="1408817" y="2191715"/>
            <a:ext cx="7061152" cy="1154162"/>
          </a:xfrm>
          <a:prstGeom prst="rect">
            <a:avLst/>
          </a:prstGeom>
          <a:noFill/>
        </p:spPr>
        <p:txBody>
          <a:bodyPr wrap="square">
            <a:spAutoFit/>
          </a:bodyPr>
          <a:lstStyle/>
          <a:p>
            <a:pPr marL="0" indent="0" algn="ctr">
              <a:lnSpc>
                <a:spcPct val="150000"/>
              </a:lnSpc>
              <a:buNone/>
            </a:pPr>
            <a:r>
              <a:rPr lang="ja-JP" altLang="en-US" sz="2400" b="1" dirty="0">
                <a:solidFill>
                  <a:srgbClr val="FF5050"/>
                </a:solidFill>
                <a:latin typeface="メイリオ" panose="020B0604030504040204" pitchFamily="50" charset="-128"/>
                <a:ea typeface="メイリオ" panose="020B0604030504040204" pitchFamily="50" charset="-128"/>
              </a:rPr>
              <a:t>例：</a:t>
            </a:r>
            <a:r>
              <a:rPr lang="en-US" altLang="ja-JP" sz="2400" b="1" dirty="0" err="1">
                <a:solidFill>
                  <a:srgbClr val="FF5050"/>
                </a:solidFill>
                <a:latin typeface="メイリオ" panose="020B0604030504040204" pitchFamily="50" charset="-128"/>
                <a:ea typeface="メイリオ" panose="020B0604030504040204" pitchFamily="50" charset="-128"/>
              </a:rPr>
              <a:t>MobileNet,SqueezeNet,EfficientNet</a:t>
            </a:r>
            <a:endParaRPr lang="en-US" altLang="ja-JP" sz="2400" b="1" dirty="0">
              <a:solidFill>
                <a:srgbClr val="FF5050"/>
              </a:solidFill>
              <a:latin typeface="メイリオ" panose="020B0604030504040204" pitchFamily="50" charset="-128"/>
              <a:ea typeface="メイリオ" panose="020B0604030504040204" pitchFamily="50" charset="-128"/>
            </a:endParaRPr>
          </a:p>
          <a:p>
            <a:pPr marL="0" indent="0" algn="ctr">
              <a:lnSpc>
                <a:spcPct val="150000"/>
              </a:lnSpc>
              <a:buNone/>
            </a:pPr>
            <a:r>
              <a:rPr lang="en-US" altLang="ja-JP" sz="2400" b="1" dirty="0">
                <a:solidFill>
                  <a:srgbClr val="FF5050"/>
                </a:solidFill>
                <a:latin typeface="メイリオ" panose="020B0604030504040204" pitchFamily="50" charset="-128"/>
                <a:ea typeface="メイリオ" panose="020B0604030504040204" pitchFamily="50" charset="-128"/>
              </a:rPr>
              <a:t>GhostNet</a:t>
            </a:r>
          </a:p>
        </p:txBody>
      </p:sp>
      <p:sp>
        <p:nvSpPr>
          <p:cNvPr id="10" name="テキスト ボックス 9">
            <a:extLst>
              <a:ext uri="{FF2B5EF4-FFF2-40B4-BE49-F238E27FC236}">
                <a16:creationId xmlns:a16="http://schemas.microsoft.com/office/drawing/2014/main" id="{59042795-98B3-B3F2-787D-CAD6E9C0C3DC}"/>
              </a:ext>
            </a:extLst>
          </p:cNvPr>
          <p:cNvSpPr txBox="1"/>
          <p:nvPr/>
        </p:nvSpPr>
        <p:spPr>
          <a:xfrm>
            <a:off x="1252283" y="3369665"/>
            <a:ext cx="8609926" cy="2862322"/>
          </a:xfrm>
          <a:prstGeom prst="rect">
            <a:avLst/>
          </a:prstGeom>
          <a:noFill/>
        </p:spPr>
        <p:txBody>
          <a:bodyPr wrap="square">
            <a:spAutoFit/>
          </a:bodyPr>
          <a:lstStyle/>
          <a:p>
            <a:r>
              <a:rPr lang="ja-JP" altLang="en-US" sz="2000" b="1" dirty="0">
                <a:latin typeface="メイリオ" panose="020B0604030504040204" pitchFamily="50" charset="-128"/>
                <a:ea typeface="メイリオ" panose="020B0604030504040204" pitchFamily="50" charset="-128"/>
              </a:rPr>
              <a:t>登場年</a:t>
            </a:r>
            <a:endParaRPr lang="en-US" altLang="ja-JP" sz="2000" b="1" dirty="0">
              <a:latin typeface="メイリオ" panose="020B0604030504040204" pitchFamily="50" charset="-128"/>
              <a:ea typeface="メイリオ" panose="020B0604030504040204" pitchFamily="50" charset="-128"/>
            </a:endParaRPr>
          </a:p>
          <a:p>
            <a:r>
              <a:rPr lang="en-US" altLang="ja-JP" sz="2000" b="1" dirty="0" err="1">
                <a:latin typeface="メイリオ" panose="020B0604030504040204" pitchFamily="50" charset="-128"/>
              </a:rPr>
              <a:t>SqueezeNet</a:t>
            </a:r>
            <a:r>
              <a:rPr lang="en-US" altLang="ja-JP" sz="2000" b="1" dirty="0">
                <a:latin typeface="メイリオ" panose="020B0604030504040204" pitchFamily="50" charset="-128"/>
              </a:rPr>
              <a:t>(2016):SqueezeNet1.1</a:t>
            </a:r>
            <a:r>
              <a:rPr lang="ja-JP" altLang="en-US" sz="2000" b="1" dirty="0">
                <a:latin typeface="メイリオ" panose="020B0604030504040204" pitchFamily="50" charset="-128"/>
              </a:rPr>
              <a:t>がさらに軽量化され、</a:t>
            </a:r>
            <a:r>
              <a:rPr lang="en-US" altLang="ja-JP" sz="2000" b="1" dirty="0">
                <a:latin typeface="メイリオ" panose="020B0604030504040204" pitchFamily="50" charset="-128"/>
              </a:rPr>
              <a:t>	</a:t>
            </a:r>
          </a:p>
          <a:p>
            <a:r>
              <a:rPr lang="en-US" altLang="ja-JP" sz="2000" b="1" dirty="0">
                <a:latin typeface="メイリオ" panose="020B0604030504040204" pitchFamily="50" charset="-128"/>
              </a:rPr>
              <a:t>	</a:t>
            </a:r>
            <a:r>
              <a:rPr lang="ja-JP" altLang="en-US" sz="2000" b="1" dirty="0">
                <a:latin typeface="メイリオ" panose="020B0604030504040204" pitchFamily="50" charset="-128"/>
              </a:rPr>
              <a:t>                 　　モバイルデバイス向けの最適化が進む</a:t>
            </a:r>
            <a:endParaRPr lang="en-US" altLang="ja-JP" sz="2000" b="1" dirty="0">
              <a:latin typeface="メイリオ" panose="020B0604030504040204" pitchFamily="50" charset="-128"/>
              <a:ea typeface="メイリオ" panose="020B0604030504040204" pitchFamily="50" charset="-128"/>
            </a:endParaRPr>
          </a:p>
          <a:p>
            <a:r>
              <a:rPr lang="en-US" altLang="ja-JP" sz="2000" b="1" dirty="0" err="1">
                <a:latin typeface="メイリオ" panose="020B0604030504040204" pitchFamily="50" charset="-128"/>
                <a:ea typeface="メイリオ" panose="020B0604030504040204" pitchFamily="50" charset="-128"/>
              </a:rPr>
              <a:t>MobileNet</a:t>
            </a:r>
            <a:r>
              <a:rPr lang="en-US" altLang="ja-JP" sz="2000" b="1" dirty="0">
                <a:latin typeface="メイリオ" panose="020B0604030504040204" pitchFamily="50" charset="-128"/>
                <a:ea typeface="メイリオ" panose="020B0604030504040204" pitchFamily="50" charset="-128"/>
              </a:rPr>
              <a:t>(2017):MobileNetV2,V3</a:t>
            </a:r>
            <a:r>
              <a:rPr lang="ja-JP" altLang="en-US" sz="2000" b="1" dirty="0">
                <a:latin typeface="メイリオ" panose="020B0604030504040204" pitchFamily="50" charset="-128"/>
                <a:ea typeface="メイリオ" panose="020B0604030504040204" pitchFamily="50" charset="-128"/>
              </a:rPr>
              <a:t>と進化し効率化に成功</a:t>
            </a:r>
            <a:endParaRPr lang="en-US" altLang="ja-JP" sz="2000" b="1" dirty="0">
              <a:latin typeface="メイリオ" panose="020B0604030504040204" pitchFamily="50" charset="-128"/>
              <a:ea typeface="メイリオ" panose="020B0604030504040204" pitchFamily="50" charset="-128"/>
            </a:endParaRPr>
          </a:p>
          <a:p>
            <a:r>
              <a:rPr lang="en-US" altLang="ja-JP" sz="2000" b="1" dirty="0" err="1">
                <a:latin typeface="メイリオ" panose="020B0604030504040204" pitchFamily="50" charset="-128"/>
                <a:ea typeface="メイリオ" panose="020B0604030504040204" pitchFamily="50" charset="-128"/>
              </a:rPr>
              <a:t>EfficientNet</a:t>
            </a:r>
            <a:r>
              <a:rPr lang="en-US" altLang="ja-JP" sz="2000" b="1" dirty="0">
                <a:latin typeface="メイリオ" panose="020B0604030504040204" pitchFamily="50" charset="-128"/>
                <a:ea typeface="メイリオ" panose="020B0604030504040204" pitchFamily="50" charset="-128"/>
              </a:rPr>
              <a:t>(2019)</a:t>
            </a:r>
            <a:r>
              <a:rPr lang="ja-JP" altLang="en-US" sz="2000" b="1" dirty="0">
                <a:latin typeface="メイリオ" panose="020B0604030504040204" pitchFamily="50" charset="-128"/>
                <a:ea typeface="メイリオ" panose="020B0604030504040204" pitchFamily="50" charset="-128"/>
              </a:rPr>
              <a:t>：</a:t>
            </a:r>
            <a:r>
              <a:rPr lang="en-US" altLang="ja-JP" sz="2000" b="1" dirty="0">
                <a:latin typeface="メイリオ" panose="020B0604030504040204" pitchFamily="50" charset="-128"/>
                <a:ea typeface="メイリオ" panose="020B0604030504040204" pitchFamily="50" charset="-128"/>
              </a:rPr>
              <a:t>NAS(Neural Architecture Search)	</a:t>
            </a:r>
          </a:p>
          <a:p>
            <a:r>
              <a:rPr lang="ja-JP" altLang="en-US" sz="2000" b="1" dirty="0">
                <a:latin typeface="メイリオ" panose="020B0604030504040204" pitchFamily="50" charset="-128"/>
                <a:ea typeface="メイリオ" panose="020B0604030504040204" pitchFamily="50" charset="-128"/>
              </a:rPr>
              <a:t>　　　　を用いて自動的に最適なモデルアーキテクチャを探索し、</a:t>
            </a:r>
            <a:endParaRPr lang="en-US" altLang="ja-JP" sz="2000" b="1" dirty="0">
              <a:latin typeface="メイリオ" panose="020B0604030504040204" pitchFamily="50" charset="-128"/>
              <a:ea typeface="メイリオ" panose="020B0604030504040204" pitchFamily="50" charset="-128"/>
            </a:endParaRPr>
          </a:p>
          <a:p>
            <a:r>
              <a:rPr lang="ja-JP" altLang="en-US" sz="2000" b="1" dirty="0">
                <a:latin typeface="メイリオ" panose="020B0604030504040204" pitchFamily="50" charset="-128"/>
                <a:ea typeface="メイリオ" panose="020B0604030504040204" pitchFamily="50" charset="-128"/>
              </a:rPr>
              <a:t>　　　　計算効率と制度の両方で他のモデルを上回る</a:t>
            </a:r>
            <a:endParaRPr lang="en-US" altLang="ja-JP" sz="2000" b="1" dirty="0">
              <a:latin typeface="メイリオ" panose="020B0604030504040204" pitchFamily="50" charset="-128"/>
              <a:ea typeface="メイリオ" panose="020B0604030504040204" pitchFamily="50" charset="-128"/>
            </a:endParaRPr>
          </a:p>
          <a:p>
            <a:r>
              <a:rPr lang="en-US" altLang="ja-JP" sz="2000" b="1" dirty="0">
                <a:latin typeface="メイリオ" panose="020B0604030504040204" pitchFamily="50" charset="-128"/>
                <a:ea typeface="メイリオ" panose="020B0604030504040204" pitchFamily="50" charset="-128"/>
              </a:rPr>
              <a:t>GhostNet V1(2020)[1]</a:t>
            </a:r>
            <a:r>
              <a:rPr lang="ja-JP" altLang="en-US" sz="2000" b="1" dirty="0">
                <a:latin typeface="メイリオ" panose="020B0604030504040204" pitchFamily="50" charset="-128"/>
                <a:ea typeface="メイリオ" panose="020B0604030504040204" pitchFamily="50" charset="-128"/>
              </a:rPr>
              <a:t>：</a:t>
            </a:r>
            <a:r>
              <a:rPr lang="en-US" altLang="ja-JP" sz="2000" b="1" dirty="0" err="1">
                <a:latin typeface="メイリオ" panose="020B0604030504040204" pitchFamily="50" charset="-128"/>
                <a:ea typeface="メイリオ" panose="020B0604030504040204" pitchFamily="50" charset="-128"/>
              </a:rPr>
              <a:t>EfficientNet</a:t>
            </a:r>
            <a:r>
              <a:rPr lang="ja-JP" altLang="en-US" sz="2000" b="1" dirty="0">
                <a:latin typeface="メイリオ" panose="020B0604030504040204" pitchFamily="50" charset="-128"/>
                <a:ea typeface="メイリオ" panose="020B0604030504040204" pitchFamily="50" charset="-128"/>
              </a:rPr>
              <a:t>や</a:t>
            </a:r>
            <a:r>
              <a:rPr lang="en-US" altLang="ja-JP" sz="2000" b="1" dirty="0" err="1">
                <a:latin typeface="メイリオ" panose="020B0604030504040204" pitchFamily="50" charset="-128"/>
                <a:ea typeface="メイリオ" panose="020B0604030504040204" pitchFamily="50" charset="-128"/>
              </a:rPr>
              <a:t>MobileNet</a:t>
            </a:r>
            <a:r>
              <a:rPr lang="ja-JP" altLang="en-US" sz="2000" b="1" dirty="0">
                <a:latin typeface="メイリオ" panose="020B0604030504040204" pitchFamily="50" charset="-128"/>
                <a:ea typeface="メイリオ" panose="020B0604030504040204" pitchFamily="50" charset="-128"/>
              </a:rPr>
              <a:t>などの</a:t>
            </a:r>
            <a:endParaRPr lang="en-US" altLang="ja-JP" sz="2000" b="1" dirty="0">
              <a:latin typeface="メイリオ" panose="020B0604030504040204" pitchFamily="50" charset="-128"/>
              <a:ea typeface="メイリオ" panose="020B0604030504040204" pitchFamily="50" charset="-128"/>
            </a:endParaRPr>
          </a:p>
          <a:p>
            <a:r>
              <a:rPr lang="ja-JP" altLang="en-US" sz="2000" b="1" dirty="0">
                <a:latin typeface="メイリオ" panose="020B0604030504040204" pitchFamily="50" charset="-128"/>
                <a:ea typeface="メイリオ" panose="020B0604030504040204" pitchFamily="50" charset="-128"/>
              </a:rPr>
              <a:t>　　　　先行研究を基に、軽量なアーキテクチャを目指した</a:t>
            </a:r>
            <a:endParaRPr lang="en-US" altLang="ja-JP" sz="2000" b="1"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4F0A9FAA-F09B-D4F9-65BF-B2761F0620EA}"/>
              </a:ext>
            </a:extLst>
          </p:cNvPr>
          <p:cNvSpPr txBox="1"/>
          <p:nvPr/>
        </p:nvSpPr>
        <p:spPr>
          <a:xfrm>
            <a:off x="1060057" y="6340314"/>
            <a:ext cx="7692691" cy="461665"/>
          </a:xfrm>
          <a:prstGeom prst="rect">
            <a:avLst/>
          </a:prstGeom>
          <a:noFill/>
        </p:spPr>
        <p:txBody>
          <a:bodyPr wrap="square" rtlCol="0">
            <a:spAutoFit/>
          </a:bodyPr>
          <a:lstStyle/>
          <a:p>
            <a:r>
              <a:rPr lang="en-US" altLang="ja-JP" sz="1200"/>
              <a:t>[1] Kai Han, Yunhe Wang, Qi Tian, Jianyuan Guo, Chunjing Xu and Chang Xu, “GhostNet: More Features from Cheap Operations”, Proc. CVPR (2020)</a:t>
            </a:r>
            <a:endParaRPr kumimoji="1" lang="ja-JP" altLang="en-US" sz="1200" dirty="0"/>
          </a:p>
        </p:txBody>
      </p:sp>
      <p:sp>
        <p:nvSpPr>
          <p:cNvPr id="6" name="テキスト ボックス 5">
            <a:extLst>
              <a:ext uri="{FF2B5EF4-FFF2-40B4-BE49-F238E27FC236}">
                <a16:creationId xmlns:a16="http://schemas.microsoft.com/office/drawing/2014/main" id="{BFB87E1E-7CF6-56B5-AD4E-6450E4569C95}"/>
              </a:ext>
            </a:extLst>
          </p:cNvPr>
          <p:cNvSpPr txBox="1"/>
          <p:nvPr/>
        </p:nvSpPr>
        <p:spPr>
          <a:xfrm>
            <a:off x="8513393" y="6305637"/>
            <a:ext cx="569232" cy="400110"/>
          </a:xfrm>
          <a:prstGeom prst="rect">
            <a:avLst/>
          </a:prstGeom>
          <a:noFill/>
        </p:spPr>
        <p:txBody>
          <a:bodyPr wrap="square" rtlCol="0">
            <a:spAutoFit/>
          </a:bodyPr>
          <a:lstStyle/>
          <a:p>
            <a:r>
              <a:rPr lang="en-US" altLang="ja-JP" sz="2000" b="1"/>
              <a:t>2</a:t>
            </a:r>
            <a:endParaRPr kumimoji="1" lang="ja-JP" altLang="en-US" sz="2000" b="1"/>
          </a:p>
        </p:txBody>
      </p:sp>
    </p:spTree>
    <p:extLst>
      <p:ext uri="{BB962C8B-B14F-4D97-AF65-F5344CB8AC3E}">
        <p14:creationId xmlns:p14="http://schemas.microsoft.com/office/powerpoint/2010/main" val="34014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CCE2E-A930-156F-5BAF-5742F40E74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BB3F20-EEB6-0C73-8ABE-AACC74645E6C}"/>
              </a:ext>
            </a:extLst>
          </p:cNvPr>
          <p:cNvSpPr>
            <a:spLocks noGrp="1"/>
          </p:cNvSpPr>
          <p:nvPr>
            <p:ph type="title"/>
          </p:nvPr>
        </p:nvSpPr>
        <p:spPr/>
        <p:txBody>
          <a:bodyPr>
            <a:normAutofit/>
          </a:bodyPr>
          <a:lstStyle/>
          <a:p>
            <a:r>
              <a:rPr lang="ja-JP" altLang="en-US" sz="4000" b="1"/>
              <a:t>従来研究</a:t>
            </a:r>
            <a:endParaRPr kumimoji="1" lang="ja-JP" altLang="en-US" sz="4000" b="1" dirty="0"/>
          </a:p>
        </p:txBody>
      </p:sp>
      <p:pic>
        <p:nvPicPr>
          <p:cNvPr id="5" name="図 4">
            <a:extLst>
              <a:ext uri="{FF2B5EF4-FFF2-40B4-BE49-F238E27FC236}">
                <a16:creationId xmlns:a16="http://schemas.microsoft.com/office/drawing/2014/main" id="{3ADD69E6-3F0C-763A-5527-DDEA33C0731F}"/>
              </a:ext>
            </a:extLst>
          </p:cNvPr>
          <p:cNvPicPr>
            <a:picLocks noChangeAspect="1"/>
          </p:cNvPicPr>
          <p:nvPr/>
        </p:nvPicPr>
        <p:blipFill>
          <a:blip r:embed="rId3"/>
          <a:stretch>
            <a:fillRect/>
          </a:stretch>
        </p:blipFill>
        <p:spPr>
          <a:xfrm>
            <a:off x="4357682" y="2832145"/>
            <a:ext cx="3864403" cy="3574771"/>
          </a:xfrm>
          <a:prstGeom prst="rect">
            <a:avLst/>
          </a:prstGeom>
        </p:spPr>
      </p:pic>
      <p:pic>
        <p:nvPicPr>
          <p:cNvPr id="11" name="図 10">
            <a:extLst>
              <a:ext uri="{FF2B5EF4-FFF2-40B4-BE49-F238E27FC236}">
                <a16:creationId xmlns:a16="http://schemas.microsoft.com/office/drawing/2014/main" id="{53B9B859-4B36-C47C-3CCD-F2D6F5433D28}"/>
              </a:ext>
            </a:extLst>
          </p:cNvPr>
          <p:cNvPicPr>
            <a:picLocks noChangeAspect="1"/>
          </p:cNvPicPr>
          <p:nvPr/>
        </p:nvPicPr>
        <p:blipFill>
          <a:blip r:embed="rId4"/>
          <a:stretch>
            <a:fillRect/>
          </a:stretch>
        </p:blipFill>
        <p:spPr>
          <a:xfrm>
            <a:off x="2312772" y="3153232"/>
            <a:ext cx="1022248" cy="1063391"/>
          </a:xfrm>
          <a:prstGeom prst="rect">
            <a:avLst/>
          </a:prstGeom>
        </p:spPr>
      </p:pic>
      <p:sp>
        <p:nvSpPr>
          <p:cNvPr id="12" name="正方形/長方形 11">
            <a:extLst>
              <a:ext uri="{FF2B5EF4-FFF2-40B4-BE49-F238E27FC236}">
                <a16:creationId xmlns:a16="http://schemas.microsoft.com/office/drawing/2014/main" id="{F490A51D-DD99-8E85-DA65-AC8DE04DEF8E}"/>
              </a:ext>
            </a:extLst>
          </p:cNvPr>
          <p:cNvSpPr/>
          <p:nvPr/>
        </p:nvSpPr>
        <p:spPr>
          <a:xfrm>
            <a:off x="5629164" y="2842936"/>
            <a:ext cx="670635" cy="620593"/>
          </a:xfrm>
          <a:prstGeom prst="rect">
            <a:avLst/>
          </a:prstGeom>
          <a:noFill/>
          <a:ln w="381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7" name="コンテンツ プレースホルダー 2">
            <a:extLst>
              <a:ext uri="{FF2B5EF4-FFF2-40B4-BE49-F238E27FC236}">
                <a16:creationId xmlns:a16="http://schemas.microsoft.com/office/drawing/2014/main" id="{5077257C-25F7-648A-FF40-0896088858EE}"/>
              </a:ext>
            </a:extLst>
          </p:cNvPr>
          <p:cNvSpPr>
            <a:spLocks noGrp="1"/>
          </p:cNvSpPr>
          <p:nvPr>
            <p:ph idx="1"/>
          </p:nvPr>
        </p:nvSpPr>
        <p:spPr>
          <a:xfrm>
            <a:off x="1044959" y="1068452"/>
            <a:ext cx="7648831" cy="1763693"/>
          </a:xfrm>
        </p:spPr>
        <p:txBody>
          <a:bodyPr>
            <a:noAutofit/>
          </a:bodyPr>
          <a:lstStyle/>
          <a:p>
            <a:pPr marL="0" indent="0">
              <a:lnSpc>
                <a:spcPct val="150000"/>
              </a:lnSpc>
              <a:buNone/>
            </a:pPr>
            <a:r>
              <a:rPr lang="en-US" altLang="ja-JP" sz="2400" b="1">
                <a:solidFill>
                  <a:schemeClr val="tx1"/>
                </a:solidFill>
                <a:latin typeface="メイリオ" panose="020B0604030504040204" pitchFamily="50" charset="-128"/>
                <a:ea typeface="メイリオ" panose="020B0604030504040204" pitchFamily="50" charset="-128"/>
              </a:rPr>
              <a:t>GhostNet</a:t>
            </a:r>
            <a:r>
              <a:rPr lang="ja-JP" altLang="en-US" sz="2400" b="1">
                <a:solidFill>
                  <a:schemeClr val="tx1"/>
                </a:solidFill>
                <a:latin typeface="メイリオ" panose="020B0604030504040204" pitchFamily="50" charset="-128"/>
                <a:ea typeface="メイリオ" panose="020B0604030504040204" pitchFamily="50" charset="-128"/>
              </a:rPr>
              <a:t>は、既存の</a:t>
            </a:r>
            <a:r>
              <a:rPr lang="en-US" altLang="ja-JP" sz="2400" b="1">
                <a:solidFill>
                  <a:schemeClr val="tx1"/>
                </a:solidFill>
                <a:latin typeface="メイリオ" panose="020B0604030504040204" pitchFamily="50" charset="-128"/>
                <a:ea typeface="メイリオ" panose="020B0604030504040204" pitchFamily="50" charset="-128"/>
              </a:rPr>
              <a:t>CNN</a:t>
            </a:r>
            <a:r>
              <a:rPr lang="ja-JP" altLang="en-US" sz="2400" b="1">
                <a:solidFill>
                  <a:schemeClr val="tx1"/>
                </a:solidFill>
                <a:latin typeface="メイリオ" panose="020B0604030504040204" pitchFamily="50" charset="-128"/>
                <a:ea typeface="メイリオ" panose="020B0604030504040204" pitchFamily="50" charset="-128"/>
              </a:rPr>
              <a:t>モデルに</a:t>
            </a:r>
            <a:r>
              <a:rPr lang="en-US" altLang="ja-JP" sz="2400" b="1">
                <a:solidFill>
                  <a:schemeClr val="tx1"/>
                </a:solidFill>
                <a:latin typeface="メイリオ" panose="020B0604030504040204" pitchFamily="50" charset="-128"/>
                <a:ea typeface="メイリオ" panose="020B0604030504040204" pitchFamily="50" charset="-128"/>
              </a:rPr>
              <a:t>Ghost Module</a:t>
            </a:r>
            <a:r>
              <a:rPr lang="ja-JP" altLang="en-US" sz="2400" b="1">
                <a:solidFill>
                  <a:schemeClr val="tx1"/>
                </a:solidFill>
                <a:latin typeface="メイリオ" panose="020B0604030504040204" pitchFamily="50" charset="-128"/>
                <a:ea typeface="メイリオ" panose="020B0604030504040204" pitchFamily="50" charset="-128"/>
              </a:rPr>
              <a:t>を統合させたものであり、既存の</a:t>
            </a:r>
            <a:r>
              <a:rPr lang="en-US" altLang="ja-JP" sz="2400" b="1">
                <a:solidFill>
                  <a:schemeClr val="tx1"/>
                </a:solidFill>
                <a:latin typeface="メイリオ" panose="020B0604030504040204" pitchFamily="50" charset="-128"/>
                <a:ea typeface="メイリオ" panose="020B0604030504040204" pitchFamily="50" charset="-128"/>
              </a:rPr>
              <a:t>CNN</a:t>
            </a:r>
            <a:r>
              <a:rPr lang="ja-JP" altLang="en-US" sz="2400" b="1">
                <a:solidFill>
                  <a:schemeClr val="tx1"/>
                </a:solidFill>
                <a:latin typeface="メイリオ" panose="020B0604030504040204" pitchFamily="50" charset="-128"/>
                <a:ea typeface="メイリオ" panose="020B0604030504040204" pitchFamily="50" charset="-128"/>
              </a:rPr>
              <a:t>の精度を維持させ、モデルの大幅な軽量化が期待できるもの</a:t>
            </a:r>
            <a:endParaRPr lang="en-US" altLang="ja-JP" sz="2400" b="1" dirty="0">
              <a:solidFill>
                <a:schemeClr val="tx1"/>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C6E79433-F8FC-D048-93C9-AC37D4B9128A}"/>
              </a:ext>
            </a:extLst>
          </p:cNvPr>
          <p:cNvSpPr txBox="1"/>
          <p:nvPr/>
        </p:nvSpPr>
        <p:spPr>
          <a:xfrm>
            <a:off x="1905549" y="4289880"/>
            <a:ext cx="1836694" cy="369332"/>
          </a:xfrm>
          <a:prstGeom prst="rect">
            <a:avLst/>
          </a:prstGeom>
          <a:noFill/>
        </p:spPr>
        <p:txBody>
          <a:bodyPr wrap="square" rtlCol="0">
            <a:spAutoFit/>
          </a:bodyPr>
          <a:lstStyle/>
          <a:p>
            <a:r>
              <a:rPr kumimoji="1" lang="ja-JP" altLang="en-US"/>
              <a:t>入力画像データ</a:t>
            </a:r>
          </a:p>
        </p:txBody>
      </p:sp>
      <p:sp>
        <p:nvSpPr>
          <p:cNvPr id="19" name="正方形/長方形 18">
            <a:extLst>
              <a:ext uri="{FF2B5EF4-FFF2-40B4-BE49-F238E27FC236}">
                <a16:creationId xmlns:a16="http://schemas.microsoft.com/office/drawing/2014/main" id="{681C2D94-1F71-D35F-CF8E-DF4E68045947}"/>
              </a:ext>
            </a:extLst>
          </p:cNvPr>
          <p:cNvSpPr/>
          <p:nvPr/>
        </p:nvSpPr>
        <p:spPr>
          <a:xfrm>
            <a:off x="5638999" y="3541622"/>
            <a:ext cx="670635" cy="620593"/>
          </a:xfrm>
          <a:prstGeom prst="rect">
            <a:avLst/>
          </a:prstGeom>
          <a:noFill/>
          <a:ln w="381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61D8F56F-8B79-E16B-7AD1-0FA354AE9985}"/>
              </a:ext>
            </a:extLst>
          </p:cNvPr>
          <p:cNvSpPr/>
          <p:nvPr/>
        </p:nvSpPr>
        <p:spPr>
          <a:xfrm>
            <a:off x="7551451" y="4960396"/>
            <a:ext cx="670635" cy="620593"/>
          </a:xfrm>
          <a:prstGeom prst="rect">
            <a:avLst/>
          </a:prstGeom>
          <a:noFill/>
          <a:ln w="381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AD35A7DE-C871-3B46-F91F-1BCE21B267D5}"/>
              </a:ext>
            </a:extLst>
          </p:cNvPr>
          <p:cNvSpPr/>
          <p:nvPr/>
        </p:nvSpPr>
        <p:spPr>
          <a:xfrm>
            <a:off x="4968364" y="5666978"/>
            <a:ext cx="670635" cy="620593"/>
          </a:xfrm>
          <a:prstGeom prst="rect">
            <a:avLst/>
          </a:prstGeom>
          <a:noFill/>
          <a:ln w="381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9433186-F0B2-2B6C-DD07-B6D8BBAC4ADB}"/>
              </a:ext>
            </a:extLst>
          </p:cNvPr>
          <p:cNvSpPr/>
          <p:nvPr/>
        </p:nvSpPr>
        <p:spPr>
          <a:xfrm>
            <a:off x="6936010" y="4274644"/>
            <a:ext cx="670635" cy="620593"/>
          </a:xfrm>
          <a:prstGeom prst="rect">
            <a:avLst/>
          </a:prstGeom>
          <a:noFill/>
          <a:ln w="38100">
            <a:solidFill>
              <a:schemeClr val="accent2">
                <a:lumMod val="60000"/>
                <a:lumOff val="4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D33D13D3-33EE-E31F-28A1-4A9B56EC1CDC}"/>
              </a:ext>
            </a:extLst>
          </p:cNvPr>
          <p:cNvSpPr/>
          <p:nvPr/>
        </p:nvSpPr>
        <p:spPr>
          <a:xfrm>
            <a:off x="6289884" y="5666978"/>
            <a:ext cx="670635" cy="620593"/>
          </a:xfrm>
          <a:prstGeom prst="rect">
            <a:avLst/>
          </a:prstGeom>
          <a:noFill/>
          <a:ln w="38100">
            <a:solidFill>
              <a:schemeClr val="accent2">
                <a:lumMod val="60000"/>
                <a:lumOff val="4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76F07793-73B0-9BF3-4B1A-2FA31F40A9C8}"/>
              </a:ext>
            </a:extLst>
          </p:cNvPr>
          <p:cNvSpPr txBox="1"/>
          <p:nvPr/>
        </p:nvSpPr>
        <p:spPr>
          <a:xfrm>
            <a:off x="4610720" y="6450547"/>
            <a:ext cx="3397827" cy="369332"/>
          </a:xfrm>
          <a:prstGeom prst="rect">
            <a:avLst/>
          </a:prstGeom>
          <a:noFill/>
        </p:spPr>
        <p:txBody>
          <a:bodyPr wrap="square" rtlCol="0">
            <a:spAutoFit/>
          </a:bodyPr>
          <a:lstStyle/>
          <a:p>
            <a:r>
              <a:rPr lang="ja-JP" altLang="en-US"/>
              <a:t>畳み込み処理後出力特徴マップ</a:t>
            </a:r>
            <a:endParaRPr kumimoji="1" lang="ja-JP" altLang="en-US"/>
          </a:p>
        </p:txBody>
      </p:sp>
      <p:sp>
        <p:nvSpPr>
          <p:cNvPr id="4" name="テキスト ボックス 3">
            <a:extLst>
              <a:ext uri="{FF2B5EF4-FFF2-40B4-BE49-F238E27FC236}">
                <a16:creationId xmlns:a16="http://schemas.microsoft.com/office/drawing/2014/main" id="{304942AA-B323-F7F2-43D0-57B0528AD43B}"/>
              </a:ext>
            </a:extLst>
          </p:cNvPr>
          <p:cNvSpPr txBox="1"/>
          <p:nvPr/>
        </p:nvSpPr>
        <p:spPr>
          <a:xfrm>
            <a:off x="8513393" y="6305637"/>
            <a:ext cx="569232" cy="400110"/>
          </a:xfrm>
          <a:prstGeom prst="rect">
            <a:avLst/>
          </a:prstGeom>
          <a:noFill/>
        </p:spPr>
        <p:txBody>
          <a:bodyPr wrap="square" rtlCol="0">
            <a:spAutoFit/>
          </a:bodyPr>
          <a:lstStyle/>
          <a:p>
            <a:r>
              <a:rPr lang="en-US" altLang="ja-JP" sz="2000" b="1"/>
              <a:t>3</a:t>
            </a:r>
            <a:endParaRPr kumimoji="1" lang="ja-JP" altLang="en-US" sz="2000" b="1"/>
          </a:p>
        </p:txBody>
      </p:sp>
    </p:spTree>
    <p:extLst>
      <p:ext uri="{BB962C8B-B14F-4D97-AF65-F5344CB8AC3E}">
        <p14:creationId xmlns:p14="http://schemas.microsoft.com/office/powerpoint/2010/main" val="2890084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9" grpId="0" animBg="1"/>
      <p:bldP spid="20" grpId="0" animBg="1"/>
      <p:bldP spid="21" grpId="0" animBg="1"/>
      <p:bldP spid="22"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6AFAE-DD5A-104F-9685-ED36D78D9D4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9DC1257-85B7-F9B2-0FE5-4C9BE133CF06}"/>
              </a:ext>
            </a:extLst>
          </p:cNvPr>
          <p:cNvSpPr>
            <a:spLocks noGrp="1"/>
          </p:cNvSpPr>
          <p:nvPr>
            <p:ph type="title"/>
          </p:nvPr>
        </p:nvSpPr>
        <p:spPr/>
        <p:txBody>
          <a:bodyPr>
            <a:normAutofit/>
          </a:bodyPr>
          <a:lstStyle/>
          <a:p>
            <a:r>
              <a:rPr lang="ja-JP" altLang="en-US" sz="4000" b="1"/>
              <a:t>従来研究</a:t>
            </a:r>
            <a:endParaRPr kumimoji="1" lang="ja-JP" altLang="en-US" sz="4000" b="1" dirty="0"/>
          </a:p>
        </p:txBody>
      </p:sp>
      <p:sp>
        <p:nvSpPr>
          <p:cNvPr id="3" name="コンテンツ プレースホルダー 2">
            <a:extLst>
              <a:ext uri="{FF2B5EF4-FFF2-40B4-BE49-F238E27FC236}">
                <a16:creationId xmlns:a16="http://schemas.microsoft.com/office/drawing/2014/main" id="{D3AF9388-BD64-677A-49CE-5637A54FEEE9}"/>
              </a:ext>
            </a:extLst>
          </p:cNvPr>
          <p:cNvSpPr>
            <a:spLocks noGrp="1"/>
          </p:cNvSpPr>
          <p:nvPr>
            <p:ph idx="1"/>
          </p:nvPr>
        </p:nvSpPr>
        <p:spPr>
          <a:xfrm>
            <a:off x="1252283" y="1105051"/>
            <a:ext cx="7310948" cy="1874264"/>
          </a:xfrm>
        </p:spPr>
        <p:txBody>
          <a:bodyPr>
            <a:noAutofit/>
          </a:bodyPr>
          <a:lstStyle/>
          <a:p>
            <a:pPr marL="0" indent="0">
              <a:lnSpc>
                <a:spcPct val="150000"/>
              </a:lnSpc>
              <a:buNone/>
            </a:pPr>
            <a:r>
              <a:rPr lang="en-US" altLang="ja-JP" sz="2400" b="1">
                <a:solidFill>
                  <a:schemeClr val="tx1"/>
                </a:solidFill>
                <a:latin typeface="メイリオ" panose="020B0604030504040204" pitchFamily="50" charset="-128"/>
                <a:ea typeface="メイリオ" panose="020B0604030504040204" pitchFamily="50" charset="-128"/>
              </a:rPr>
              <a:t>Ghost Module</a:t>
            </a:r>
            <a:endParaRPr lang="en-US" altLang="ja-JP" sz="2400" b="1" dirty="0">
              <a:solidFill>
                <a:schemeClr val="tx1"/>
              </a:solidFill>
              <a:latin typeface="メイリオ" panose="020B0604030504040204" pitchFamily="50" charset="-128"/>
              <a:ea typeface="メイリオ" panose="020B0604030504040204" pitchFamily="50" charset="-128"/>
            </a:endParaRPr>
          </a:p>
        </p:txBody>
      </p:sp>
      <p:pic>
        <p:nvPicPr>
          <p:cNvPr id="5" name="図 4">
            <a:extLst>
              <a:ext uri="{FF2B5EF4-FFF2-40B4-BE49-F238E27FC236}">
                <a16:creationId xmlns:a16="http://schemas.microsoft.com/office/drawing/2014/main" id="{544ECC72-D151-78E5-336E-77BB30166459}"/>
              </a:ext>
            </a:extLst>
          </p:cNvPr>
          <p:cNvPicPr>
            <a:picLocks noChangeAspect="1"/>
          </p:cNvPicPr>
          <p:nvPr/>
        </p:nvPicPr>
        <p:blipFill>
          <a:blip r:embed="rId3"/>
          <a:srcRect r="7973" b="23512"/>
          <a:stretch/>
        </p:blipFill>
        <p:spPr>
          <a:xfrm>
            <a:off x="809369" y="2042183"/>
            <a:ext cx="7982183" cy="2879066"/>
          </a:xfrm>
          <a:prstGeom prst="rect">
            <a:avLst/>
          </a:prstGeom>
        </p:spPr>
      </p:pic>
      <p:sp>
        <p:nvSpPr>
          <p:cNvPr id="6" name="テキスト ボックス 5">
            <a:extLst>
              <a:ext uri="{FF2B5EF4-FFF2-40B4-BE49-F238E27FC236}">
                <a16:creationId xmlns:a16="http://schemas.microsoft.com/office/drawing/2014/main" id="{96FA4FF5-DB6B-20E6-4745-1D59D9074787}"/>
              </a:ext>
            </a:extLst>
          </p:cNvPr>
          <p:cNvSpPr txBox="1"/>
          <p:nvPr/>
        </p:nvSpPr>
        <p:spPr>
          <a:xfrm>
            <a:off x="647527" y="5212562"/>
            <a:ext cx="8399367" cy="338554"/>
          </a:xfrm>
          <a:prstGeom prst="rect">
            <a:avLst/>
          </a:prstGeom>
          <a:noFill/>
        </p:spPr>
        <p:txBody>
          <a:bodyPr wrap="square" rtlCol="0">
            <a:spAutoFit/>
          </a:bodyPr>
          <a:lstStyle/>
          <a:p>
            <a:r>
              <a:rPr kumimoji="1" lang="ja-JP" altLang="en-US" sz="1600" b="1"/>
              <a:t>①入力特徴マップに対し、標準の畳み込み を適用し、出力特徴マップの半数を生成する</a:t>
            </a:r>
            <a:endParaRPr kumimoji="1" lang="en-US" altLang="ja-JP" sz="1600" b="1"/>
          </a:p>
        </p:txBody>
      </p:sp>
      <p:sp>
        <p:nvSpPr>
          <p:cNvPr id="7" name="テキスト ボックス 6">
            <a:extLst>
              <a:ext uri="{FF2B5EF4-FFF2-40B4-BE49-F238E27FC236}">
                <a16:creationId xmlns:a16="http://schemas.microsoft.com/office/drawing/2014/main" id="{8CAC9243-BBFD-AC35-5879-E5D368B58627}"/>
              </a:ext>
            </a:extLst>
          </p:cNvPr>
          <p:cNvSpPr txBox="1"/>
          <p:nvPr/>
        </p:nvSpPr>
        <p:spPr>
          <a:xfrm>
            <a:off x="647527" y="5520339"/>
            <a:ext cx="8399367" cy="338554"/>
          </a:xfrm>
          <a:prstGeom prst="rect">
            <a:avLst/>
          </a:prstGeom>
          <a:noFill/>
        </p:spPr>
        <p:txBody>
          <a:bodyPr wrap="square" rtlCol="0">
            <a:spAutoFit/>
          </a:bodyPr>
          <a:lstStyle/>
          <a:p>
            <a:r>
              <a:rPr kumimoji="1" lang="ja-JP" altLang="en-US" sz="1600" b="1"/>
              <a:t>②生成された特徴マップに対し、線形変換を適用し新たな特徴マップを生成する</a:t>
            </a:r>
            <a:endParaRPr kumimoji="1" lang="en-US" altLang="ja-JP" sz="1600" b="1"/>
          </a:p>
        </p:txBody>
      </p:sp>
      <p:sp>
        <p:nvSpPr>
          <p:cNvPr id="8" name="テキスト ボックス 7">
            <a:extLst>
              <a:ext uri="{FF2B5EF4-FFF2-40B4-BE49-F238E27FC236}">
                <a16:creationId xmlns:a16="http://schemas.microsoft.com/office/drawing/2014/main" id="{F707A6D0-5EBF-B44E-8CF5-09EB59ED27AB}"/>
              </a:ext>
            </a:extLst>
          </p:cNvPr>
          <p:cNvSpPr txBox="1"/>
          <p:nvPr/>
        </p:nvSpPr>
        <p:spPr>
          <a:xfrm>
            <a:off x="647527" y="5828116"/>
            <a:ext cx="8399367" cy="338554"/>
          </a:xfrm>
          <a:prstGeom prst="rect">
            <a:avLst/>
          </a:prstGeom>
          <a:noFill/>
        </p:spPr>
        <p:txBody>
          <a:bodyPr wrap="square" rtlCol="0">
            <a:spAutoFit/>
          </a:bodyPr>
          <a:lstStyle/>
          <a:p>
            <a:r>
              <a:rPr lang="ja-JP" altLang="en-US" sz="1600" b="1"/>
              <a:t>③手順①を直接出力に利用</a:t>
            </a:r>
            <a:endParaRPr lang="en-US" altLang="ja-JP" sz="1600" b="1"/>
          </a:p>
        </p:txBody>
      </p:sp>
      <p:sp>
        <p:nvSpPr>
          <p:cNvPr id="9" name="テキスト ボックス 8">
            <a:extLst>
              <a:ext uri="{FF2B5EF4-FFF2-40B4-BE49-F238E27FC236}">
                <a16:creationId xmlns:a16="http://schemas.microsoft.com/office/drawing/2014/main" id="{792838B4-2531-9436-8A11-866154C0E342}"/>
              </a:ext>
            </a:extLst>
          </p:cNvPr>
          <p:cNvSpPr txBox="1"/>
          <p:nvPr/>
        </p:nvSpPr>
        <p:spPr>
          <a:xfrm>
            <a:off x="647527" y="6135893"/>
            <a:ext cx="8399367" cy="338554"/>
          </a:xfrm>
          <a:prstGeom prst="rect">
            <a:avLst/>
          </a:prstGeom>
          <a:noFill/>
        </p:spPr>
        <p:txBody>
          <a:bodyPr wrap="square" rtlCol="0">
            <a:spAutoFit/>
          </a:bodyPr>
          <a:lstStyle/>
          <a:p>
            <a:r>
              <a:rPr kumimoji="1" lang="ja-JP" altLang="en-US" sz="1600" b="1" dirty="0"/>
              <a:t>④手順②を手順①と結合し、最終出力として統合</a:t>
            </a:r>
          </a:p>
        </p:txBody>
      </p:sp>
      <p:sp>
        <p:nvSpPr>
          <p:cNvPr id="10" name="テキスト ボックス 9">
            <a:extLst>
              <a:ext uri="{FF2B5EF4-FFF2-40B4-BE49-F238E27FC236}">
                <a16:creationId xmlns:a16="http://schemas.microsoft.com/office/drawing/2014/main" id="{4FD1E3C2-D795-543B-4BBB-D2135A2CC34C}"/>
              </a:ext>
            </a:extLst>
          </p:cNvPr>
          <p:cNvSpPr txBox="1"/>
          <p:nvPr/>
        </p:nvSpPr>
        <p:spPr>
          <a:xfrm>
            <a:off x="8513393" y="6305637"/>
            <a:ext cx="569232" cy="400110"/>
          </a:xfrm>
          <a:prstGeom prst="rect">
            <a:avLst/>
          </a:prstGeom>
          <a:noFill/>
        </p:spPr>
        <p:txBody>
          <a:bodyPr wrap="square" rtlCol="0">
            <a:spAutoFit/>
          </a:bodyPr>
          <a:lstStyle/>
          <a:p>
            <a:r>
              <a:rPr lang="en-US" altLang="ja-JP" sz="2000" b="1"/>
              <a:t>4</a:t>
            </a:r>
            <a:endParaRPr kumimoji="1" lang="ja-JP" altLang="en-US" sz="2000" b="1"/>
          </a:p>
        </p:txBody>
      </p:sp>
    </p:spTree>
    <p:extLst>
      <p:ext uri="{BB962C8B-B14F-4D97-AF65-F5344CB8AC3E}">
        <p14:creationId xmlns:p14="http://schemas.microsoft.com/office/powerpoint/2010/main" val="1963687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sz="4000" b="1"/>
              <a:t>従来研究</a:t>
            </a:r>
            <a:endParaRPr kumimoji="1" lang="ja-JP" altLang="en-US" sz="4000" b="1" dirty="0"/>
          </a:p>
        </p:txBody>
      </p:sp>
      <p:sp>
        <p:nvSpPr>
          <p:cNvPr id="3" name="コンテンツ プレースホルダー 2">
            <a:extLst>
              <a:ext uri="{FF2B5EF4-FFF2-40B4-BE49-F238E27FC236}">
                <a16:creationId xmlns:a16="http://schemas.microsoft.com/office/drawing/2014/main" id="{979D03E1-0B5C-00F1-2224-4F8FA77C6596}"/>
              </a:ext>
            </a:extLst>
          </p:cNvPr>
          <p:cNvSpPr>
            <a:spLocks noGrp="1"/>
          </p:cNvSpPr>
          <p:nvPr>
            <p:ph idx="1"/>
          </p:nvPr>
        </p:nvSpPr>
        <p:spPr>
          <a:xfrm>
            <a:off x="1252283" y="1105051"/>
            <a:ext cx="7310948" cy="1874264"/>
          </a:xfrm>
        </p:spPr>
        <p:txBody>
          <a:bodyPr>
            <a:noAutofit/>
          </a:bodyPr>
          <a:lstStyle/>
          <a:p>
            <a:pPr marL="0" indent="0">
              <a:lnSpc>
                <a:spcPct val="150000"/>
              </a:lnSpc>
              <a:buNone/>
            </a:pPr>
            <a:r>
              <a:rPr lang="en-US" altLang="ja-JP" sz="2400" b="1">
                <a:solidFill>
                  <a:schemeClr val="tx1"/>
                </a:solidFill>
                <a:latin typeface="メイリオ" panose="020B0604030504040204" pitchFamily="50" charset="-128"/>
                <a:ea typeface="メイリオ" panose="020B0604030504040204" pitchFamily="50" charset="-128"/>
              </a:rPr>
              <a:t>Ghost</a:t>
            </a:r>
            <a:r>
              <a:rPr lang="ja-JP" altLang="en-US" sz="2400" b="1">
                <a:solidFill>
                  <a:schemeClr val="tx1"/>
                </a:solidFill>
                <a:latin typeface="メイリオ" panose="020B0604030504040204" pitchFamily="50" charset="-128"/>
                <a:ea typeface="メイリオ" panose="020B0604030504040204" pitchFamily="50" charset="-128"/>
              </a:rPr>
              <a:t> </a:t>
            </a:r>
            <a:r>
              <a:rPr lang="en-US" altLang="ja-JP" sz="2400" b="1">
                <a:solidFill>
                  <a:schemeClr val="tx1"/>
                </a:solidFill>
                <a:latin typeface="メイリオ" panose="020B0604030504040204" pitchFamily="50" charset="-128"/>
                <a:ea typeface="メイリオ" panose="020B0604030504040204" pitchFamily="50" charset="-128"/>
              </a:rPr>
              <a:t>Bottleneck</a:t>
            </a:r>
            <a:endParaRPr lang="en-US" altLang="ja-JP" sz="2400" b="1" dirty="0">
              <a:solidFill>
                <a:schemeClr val="tx1"/>
              </a:solidFill>
              <a:latin typeface="メイリオ" panose="020B0604030504040204" pitchFamily="50" charset="-128"/>
              <a:ea typeface="メイリオ" panose="020B0604030504040204" pitchFamily="50" charset="-128"/>
            </a:endParaRPr>
          </a:p>
        </p:txBody>
      </p:sp>
      <p:pic>
        <p:nvPicPr>
          <p:cNvPr id="4" name="図 3">
            <a:extLst>
              <a:ext uri="{FF2B5EF4-FFF2-40B4-BE49-F238E27FC236}">
                <a16:creationId xmlns:a16="http://schemas.microsoft.com/office/drawing/2014/main" id="{84370753-A8CA-FB97-A63F-AFB241558275}"/>
              </a:ext>
            </a:extLst>
          </p:cNvPr>
          <p:cNvPicPr>
            <a:picLocks noChangeAspect="1"/>
          </p:cNvPicPr>
          <p:nvPr/>
        </p:nvPicPr>
        <p:blipFill>
          <a:blip r:embed="rId3"/>
          <a:stretch>
            <a:fillRect/>
          </a:stretch>
        </p:blipFill>
        <p:spPr>
          <a:xfrm>
            <a:off x="1883879" y="1804624"/>
            <a:ext cx="6047756" cy="4682134"/>
          </a:xfrm>
          <a:prstGeom prst="rect">
            <a:avLst/>
          </a:prstGeom>
        </p:spPr>
      </p:pic>
      <p:sp>
        <p:nvSpPr>
          <p:cNvPr id="6" name="テキスト ボックス 5">
            <a:extLst>
              <a:ext uri="{FF2B5EF4-FFF2-40B4-BE49-F238E27FC236}">
                <a16:creationId xmlns:a16="http://schemas.microsoft.com/office/drawing/2014/main" id="{AE93435F-AA6C-582C-146C-F49218180A0D}"/>
              </a:ext>
            </a:extLst>
          </p:cNvPr>
          <p:cNvSpPr txBox="1"/>
          <p:nvPr/>
        </p:nvSpPr>
        <p:spPr>
          <a:xfrm>
            <a:off x="8513393" y="6305637"/>
            <a:ext cx="569232" cy="400110"/>
          </a:xfrm>
          <a:prstGeom prst="rect">
            <a:avLst/>
          </a:prstGeom>
          <a:noFill/>
        </p:spPr>
        <p:txBody>
          <a:bodyPr wrap="square" rtlCol="0">
            <a:spAutoFit/>
          </a:bodyPr>
          <a:lstStyle/>
          <a:p>
            <a:r>
              <a:rPr lang="en-US" altLang="ja-JP" sz="2000" b="1"/>
              <a:t>5</a:t>
            </a:r>
            <a:endParaRPr kumimoji="1" lang="ja-JP" altLang="en-US" sz="2000" b="1"/>
          </a:p>
        </p:txBody>
      </p:sp>
    </p:spTree>
    <p:extLst>
      <p:ext uri="{BB962C8B-B14F-4D97-AF65-F5344CB8AC3E}">
        <p14:creationId xmlns:p14="http://schemas.microsoft.com/office/powerpoint/2010/main" val="2297639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sz="4000" b="1"/>
              <a:t>従来研究</a:t>
            </a:r>
            <a:endParaRPr kumimoji="1" lang="ja-JP" altLang="en-US" sz="4000" b="1" dirty="0"/>
          </a:p>
        </p:txBody>
      </p:sp>
      <p:pic>
        <p:nvPicPr>
          <p:cNvPr id="3" name="図 2" descr="ダイアグラム&#10;&#10;自動的に生成された説明">
            <a:extLst>
              <a:ext uri="{FF2B5EF4-FFF2-40B4-BE49-F238E27FC236}">
                <a16:creationId xmlns:a16="http://schemas.microsoft.com/office/drawing/2014/main" id="{40F532C5-E036-7F6E-82CF-85BCF5F01173}"/>
              </a:ext>
            </a:extLst>
          </p:cNvPr>
          <p:cNvPicPr>
            <a:picLocks noChangeAspect="1"/>
          </p:cNvPicPr>
          <p:nvPr/>
        </p:nvPicPr>
        <p:blipFill rotWithShape="1">
          <a:blip r:embed="rId3"/>
          <a:srcRect l="2024" t="10669" r="1901" b="5354"/>
          <a:stretch/>
        </p:blipFill>
        <p:spPr bwMode="auto">
          <a:xfrm>
            <a:off x="780331" y="2762567"/>
            <a:ext cx="7766217" cy="2205673"/>
          </a:xfrm>
          <a:prstGeom prst="rect">
            <a:avLst/>
          </a:prstGeom>
          <a:ln>
            <a:noFill/>
          </a:ln>
          <a:extLst>
            <a:ext uri="{53640926-AAD7-44D8-BBD7-CCE9431645EC}">
              <a14:shadowObscured xmlns:a14="http://schemas.microsoft.com/office/drawing/2010/main"/>
            </a:ext>
          </a:extLst>
        </p:spPr>
      </p:pic>
      <p:sp>
        <p:nvSpPr>
          <p:cNvPr id="4" name="コンテンツ プレースホルダー 2">
            <a:extLst>
              <a:ext uri="{FF2B5EF4-FFF2-40B4-BE49-F238E27FC236}">
                <a16:creationId xmlns:a16="http://schemas.microsoft.com/office/drawing/2014/main" id="{76FCFDBE-F0F0-E5A4-849E-1A56F10D82C5}"/>
              </a:ext>
            </a:extLst>
          </p:cNvPr>
          <p:cNvSpPr>
            <a:spLocks noGrp="1"/>
          </p:cNvSpPr>
          <p:nvPr>
            <p:ph idx="1"/>
          </p:nvPr>
        </p:nvSpPr>
        <p:spPr>
          <a:xfrm>
            <a:off x="1252283" y="1105051"/>
            <a:ext cx="7310948" cy="1874264"/>
          </a:xfrm>
        </p:spPr>
        <p:txBody>
          <a:bodyPr>
            <a:noAutofit/>
          </a:bodyPr>
          <a:lstStyle/>
          <a:p>
            <a:pPr marL="0" indent="0">
              <a:lnSpc>
                <a:spcPct val="150000"/>
              </a:lnSpc>
              <a:buNone/>
            </a:pPr>
            <a:r>
              <a:rPr lang="en-US" altLang="ja-JP" sz="2400" b="1">
                <a:solidFill>
                  <a:schemeClr val="tx1"/>
                </a:solidFill>
                <a:latin typeface="メイリオ" panose="020B0604030504040204" pitchFamily="50" charset="-128"/>
                <a:ea typeface="メイリオ" panose="020B0604030504040204" pitchFamily="50" charset="-128"/>
              </a:rPr>
              <a:t>GhostNet</a:t>
            </a:r>
            <a:endParaRPr lang="en-US" altLang="ja-JP" sz="24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84E45722-D05C-E6D7-0D00-F498A902B8B4}"/>
              </a:ext>
            </a:extLst>
          </p:cNvPr>
          <p:cNvSpPr txBox="1"/>
          <p:nvPr/>
        </p:nvSpPr>
        <p:spPr>
          <a:xfrm>
            <a:off x="8513393" y="6305637"/>
            <a:ext cx="569232" cy="400110"/>
          </a:xfrm>
          <a:prstGeom prst="rect">
            <a:avLst/>
          </a:prstGeom>
          <a:noFill/>
        </p:spPr>
        <p:txBody>
          <a:bodyPr wrap="square" rtlCol="0">
            <a:spAutoFit/>
          </a:bodyPr>
          <a:lstStyle/>
          <a:p>
            <a:r>
              <a:rPr lang="en-US" altLang="ja-JP" sz="2000" b="1"/>
              <a:t>6</a:t>
            </a:r>
          </a:p>
        </p:txBody>
      </p:sp>
    </p:spTree>
    <p:extLst>
      <p:ext uri="{BB962C8B-B14F-4D97-AF65-F5344CB8AC3E}">
        <p14:creationId xmlns:p14="http://schemas.microsoft.com/office/powerpoint/2010/main" val="3362514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78648-4F6B-B42C-240F-3A8FA85E8CF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138548E-D465-80F8-7B0F-6AB4772CB265}"/>
              </a:ext>
            </a:extLst>
          </p:cNvPr>
          <p:cNvSpPr>
            <a:spLocks noGrp="1"/>
          </p:cNvSpPr>
          <p:nvPr>
            <p:ph type="title"/>
          </p:nvPr>
        </p:nvSpPr>
        <p:spPr/>
        <p:txBody>
          <a:bodyPr>
            <a:normAutofit/>
          </a:bodyPr>
          <a:lstStyle/>
          <a:p>
            <a:r>
              <a:rPr lang="ja-JP" altLang="en-US" sz="4000" b="1"/>
              <a:t>従来研究</a:t>
            </a:r>
            <a:endParaRPr kumimoji="1" lang="ja-JP" altLang="en-US" sz="4000" b="1" dirty="0"/>
          </a:p>
        </p:txBody>
      </p:sp>
      <p:sp>
        <p:nvSpPr>
          <p:cNvPr id="4" name="コンテンツ プレースホルダー 2">
            <a:extLst>
              <a:ext uri="{FF2B5EF4-FFF2-40B4-BE49-F238E27FC236}">
                <a16:creationId xmlns:a16="http://schemas.microsoft.com/office/drawing/2014/main" id="{0EEF2FBD-A9F7-E459-789C-054E2AA6633B}"/>
              </a:ext>
            </a:extLst>
          </p:cNvPr>
          <p:cNvSpPr>
            <a:spLocks noGrp="1"/>
          </p:cNvSpPr>
          <p:nvPr>
            <p:ph idx="1"/>
          </p:nvPr>
        </p:nvSpPr>
        <p:spPr>
          <a:xfrm>
            <a:off x="1252283" y="1105051"/>
            <a:ext cx="7310948" cy="1874264"/>
          </a:xfrm>
        </p:spPr>
        <p:txBody>
          <a:bodyPr>
            <a:noAutofit/>
          </a:bodyPr>
          <a:lstStyle/>
          <a:p>
            <a:pPr marL="0" indent="0">
              <a:lnSpc>
                <a:spcPct val="150000"/>
              </a:lnSpc>
              <a:buNone/>
            </a:pPr>
            <a:r>
              <a:rPr lang="en-US" altLang="ja-JP" sz="2400" b="1">
                <a:solidFill>
                  <a:schemeClr val="tx1"/>
                </a:solidFill>
                <a:latin typeface="メイリオ" panose="020B0604030504040204" pitchFamily="50" charset="-128"/>
                <a:ea typeface="メイリオ" panose="020B0604030504040204" pitchFamily="50" charset="-128"/>
              </a:rPr>
              <a:t>GhostNet</a:t>
            </a:r>
            <a:endParaRPr lang="en-US" altLang="ja-JP" sz="2400" b="1" dirty="0">
              <a:solidFill>
                <a:schemeClr val="tx1"/>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461086BC-D356-3EBA-D71E-1A7B2E5BBB9E}"/>
              </a:ext>
            </a:extLst>
          </p:cNvPr>
          <p:cNvPicPr>
            <a:picLocks noChangeAspect="1"/>
          </p:cNvPicPr>
          <p:nvPr/>
        </p:nvPicPr>
        <p:blipFill>
          <a:blip r:embed="rId3"/>
          <a:srcRect l="-1" r="-1509" b="49660"/>
          <a:stretch/>
        </p:blipFill>
        <p:spPr>
          <a:xfrm>
            <a:off x="1601028" y="2534621"/>
            <a:ext cx="6613457" cy="2688130"/>
          </a:xfrm>
          <a:prstGeom prst="rect">
            <a:avLst/>
          </a:prstGeom>
        </p:spPr>
      </p:pic>
      <p:sp>
        <p:nvSpPr>
          <p:cNvPr id="7" name="四角形: 角を丸くする 6">
            <a:extLst>
              <a:ext uri="{FF2B5EF4-FFF2-40B4-BE49-F238E27FC236}">
                <a16:creationId xmlns:a16="http://schemas.microsoft.com/office/drawing/2014/main" id="{7BDB3998-68BE-B8BA-C96F-4AC27C47B9A2}"/>
              </a:ext>
            </a:extLst>
          </p:cNvPr>
          <p:cNvSpPr/>
          <p:nvPr/>
        </p:nvSpPr>
        <p:spPr>
          <a:xfrm>
            <a:off x="6557211" y="4360758"/>
            <a:ext cx="721895" cy="96253"/>
          </a:xfrm>
          <a:prstGeom prst="roundRect">
            <a:avLst/>
          </a:prstGeom>
          <a:solidFill>
            <a:srgbClr val="FF00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73E3BEE2-09B0-A4BB-C988-150D0F275EF6}"/>
              </a:ext>
            </a:extLst>
          </p:cNvPr>
          <p:cNvSpPr/>
          <p:nvPr/>
        </p:nvSpPr>
        <p:spPr>
          <a:xfrm>
            <a:off x="5299996" y="4360757"/>
            <a:ext cx="721895" cy="96253"/>
          </a:xfrm>
          <a:prstGeom prst="roundRect">
            <a:avLst/>
          </a:prstGeom>
          <a:solidFill>
            <a:srgbClr val="FF00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11C20BD-B62D-D638-3661-67B82B8E1C93}"/>
              </a:ext>
            </a:extLst>
          </p:cNvPr>
          <p:cNvSpPr/>
          <p:nvPr/>
        </p:nvSpPr>
        <p:spPr>
          <a:xfrm>
            <a:off x="2415672" y="4360756"/>
            <a:ext cx="721895" cy="96253"/>
          </a:xfrm>
          <a:prstGeom prst="roundRect">
            <a:avLst/>
          </a:prstGeom>
          <a:solidFill>
            <a:srgbClr val="FF00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1AFD91F8-2666-B448-2D99-3F982C44BF38}"/>
              </a:ext>
            </a:extLst>
          </p:cNvPr>
          <p:cNvSpPr/>
          <p:nvPr/>
        </p:nvSpPr>
        <p:spPr>
          <a:xfrm>
            <a:off x="1542013" y="2406316"/>
            <a:ext cx="6794759" cy="317633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pic>
        <p:nvPicPr>
          <p:cNvPr id="11" name="図 10">
            <a:extLst>
              <a:ext uri="{FF2B5EF4-FFF2-40B4-BE49-F238E27FC236}">
                <a16:creationId xmlns:a16="http://schemas.microsoft.com/office/drawing/2014/main" id="{4EFA0A67-9016-7BDE-2D6B-23709D70B90B}"/>
              </a:ext>
            </a:extLst>
          </p:cNvPr>
          <p:cNvPicPr>
            <a:picLocks noChangeAspect="1"/>
          </p:cNvPicPr>
          <p:nvPr/>
        </p:nvPicPr>
        <p:blipFill>
          <a:blip r:embed="rId3"/>
          <a:srcRect l="-3" t="50300" r="-1047" b="-640"/>
          <a:stretch/>
        </p:blipFill>
        <p:spPr>
          <a:xfrm>
            <a:off x="1753428" y="2662926"/>
            <a:ext cx="6583344" cy="2688130"/>
          </a:xfrm>
          <a:prstGeom prst="rect">
            <a:avLst/>
          </a:prstGeom>
        </p:spPr>
      </p:pic>
      <p:sp>
        <p:nvSpPr>
          <p:cNvPr id="12" name="四角形: 角を丸くする 11">
            <a:extLst>
              <a:ext uri="{FF2B5EF4-FFF2-40B4-BE49-F238E27FC236}">
                <a16:creationId xmlns:a16="http://schemas.microsoft.com/office/drawing/2014/main" id="{61C7F6F6-B9D6-4291-47AA-0BDD7E79D28D}"/>
              </a:ext>
            </a:extLst>
          </p:cNvPr>
          <p:cNvSpPr/>
          <p:nvPr/>
        </p:nvSpPr>
        <p:spPr>
          <a:xfrm>
            <a:off x="6668677" y="4200352"/>
            <a:ext cx="721895" cy="96253"/>
          </a:xfrm>
          <a:prstGeom prst="roundRect">
            <a:avLst/>
          </a:prstGeom>
          <a:solidFill>
            <a:srgbClr val="FF00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3" name="四角形: 角を丸くする 12">
                <a:extLst>
                  <a:ext uri="{FF2B5EF4-FFF2-40B4-BE49-F238E27FC236}">
                    <a16:creationId xmlns:a16="http://schemas.microsoft.com/office/drawing/2014/main" id="{2E71DAEC-5BAE-D438-B4C0-9A5EBA55867E}"/>
                  </a:ext>
                </a:extLst>
              </p:cNvPr>
              <p:cNvSpPr/>
              <p:nvPr/>
            </p:nvSpPr>
            <p:spPr>
              <a:xfrm>
                <a:off x="5299996" y="1275347"/>
                <a:ext cx="3543215" cy="1066816"/>
              </a:xfrm>
              <a:prstGeom prst="roundRect">
                <a:avLst/>
              </a:prstGeom>
              <a:solidFill>
                <a:srgbClr val="FFFF00"/>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b="1"/>
                  <a:t>フィルターサイズ</a:t>
                </a:r>
                <a:r>
                  <a:rPr kumimoji="1" lang="en-US" altLang="ja-JP" b="1"/>
                  <a:t>:</a:t>
                </a:r>
                <a14:m>
                  <m:oMath xmlns:m="http://schemas.openxmlformats.org/officeDocument/2006/math">
                    <m:r>
                      <a:rPr kumimoji="1" lang="en-US" altLang="ja-JP" b="1" i="1" smtClean="0">
                        <a:latin typeface="Cambria Math" panose="02040503050406030204" pitchFamily="18" charset="0"/>
                      </a:rPr>
                      <m:t>𝟑</m:t>
                    </m:r>
                    <m:r>
                      <a:rPr kumimoji="1" lang="en-US" altLang="ja-JP" b="1" i="1" smtClean="0">
                        <a:latin typeface="Cambria Math" panose="02040503050406030204" pitchFamily="18" charset="0"/>
                        <a:ea typeface="Cambria Math" panose="02040503050406030204" pitchFamily="18" charset="0"/>
                      </a:rPr>
                      <m:t>×</m:t>
                    </m:r>
                    <m:r>
                      <a:rPr kumimoji="1" lang="en-US" altLang="ja-JP" b="1" i="1" smtClean="0">
                        <a:latin typeface="Cambria Math" panose="02040503050406030204" pitchFamily="18" charset="0"/>
                        <a:ea typeface="Cambria Math" panose="02040503050406030204" pitchFamily="18" charset="0"/>
                      </a:rPr>
                      <m:t>𝟑</m:t>
                    </m:r>
                  </m:oMath>
                </a14:m>
                <a:endParaRPr kumimoji="1" lang="en-US" altLang="ja-JP" b="1">
                  <a:ea typeface="Cambria Math" panose="02040503050406030204" pitchFamily="18" charset="0"/>
                </a:endParaRPr>
              </a:p>
            </p:txBody>
          </p:sp>
        </mc:Choice>
        <mc:Fallback xmlns="">
          <p:sp>
            <p:nvSpPr>
              <p:cNvPr id="13" name="四角形: 角を丸くする 12">
                <a:extLst>
                  <a:ext uri="{FF2B5EF4-FFF2-40B4-BE49-F238E27FC236}">
                    <a16:creationId xmlns:a16="http://schemas.microsoft.com/office/drawing/2014/main" id="{2E71DAEC-5BAE-D438-B4C0-9A5EBA55867E}"/>
                  </a:ext>
                </a:extLst>
              </p:cNvPr>
              <p:cNvSpPr>
                <a:spLocks noRot="1" noChangeAspect="1" noMove="1" noResize="1" noEditPoints="1" noAdjustHandles="1" noChangeArrowheads="1" noChangeShapeType="1" noTextEdit="1"/>
              </p:cNvSpPr>
              <p:nvPr/>
            </p:nvSpPr>
            <p:spPr>
              <a:xfrm>
                <a:off x="5299996" y="1275347"/>
                <a:ext cx="3543215" cy="1066816"/>
              </a:xfrm>
              <a:prstGeom prst="roundRect">
                <a:avLst/>
              </a:prstGeom>
              <a:blipFill>
                <a:blip r:embed="rId4"/>
                <a:stretch>
                  <a:fillRect/>
                </a:stretch>
              </a:blipFill>
            </p:spPr>
            <p:txBody>
              <a:bodyPr/>
              <a:lstStyle/>
              <a:p>
                <a:r>
                  <a:rPr lang="ja-JP" altLang="en-US">
                    <a:noFill/>
                  </a:rPr>
                  <a:t> </a:t>
                </a:r>
              </a:p>
            </p:txBody>
          </p:sp>
        </mc:Fallback>
      </mc:AlternateContent>
      <p:sp>
        <p:nvSpPr>
          <p:cNvPr id="14" name="四角形: 角を丸くする 13">
            <a:extLst>
              <a:ext uri="{FF2B5EF4-FFF2-40B4-BE49-F238E27FC236}">
                <a16:creationId xmlns:a16="http://schemas.microsoft.com/office/drawing/2014/main" id="{87E6356C-C0D0-39DA-0493-69594DB77CF9}"/>
              </a:ext>
            </a:extLst>
          </p:cNvPr>
          <p:cNvSpPr/>
          <p:nvPr/>
        </p:nvSpPr>
        <p:spPr>
          <a:xfrm>
            <a:off x="5437445" y="5026520"/>
            <a:ext cx="721895" cy="96253"/>
          </a:xfrm>
          <a:prstGeom prst="roundRect">
            <a:avLst/>
          </a:prstGeom>
          <a:solidFill>
            <a:srgbClr val="FF00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19F6BC7B-96AA-C663-C791-B104F8796EEC}"/>
              </a:ext>
            </a:extLst>
          </p:cNvPr>
          <p:cNvSpPr/>
          <p:nvPr/>
        </p:nvSpPr>
        <p:spPr>
          <a:xfrm>
            <a:off x="6668677" y="4200351"/>
            <a:ext cx="721895" cy="96253"/>
          </a:xfrm>
          <a:prstGeom prst="round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F4CB7C4D-96CE-57F8-C489-A11AB1BBC5AA}"/>
              </a:ext>
            </a:extLst>
          </p:cNvPr>
          <p:cNvSpPr/>
          <p:nvPr/>
        </p:nvSpPr>
        <p:spPr>
          <a:xfrm>
            <a:off x="5683894" y="1530189"/>
            <a:ext cx="2894266" cy="557132"/>
          </a:xfrm>
          <a:prstGeom prst="roundRect">
            <a:avLst/>
          </a:prstGeom>
          <a:solidFill>
            <a:srgbClr val="FFFF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41E280B6-2DB6-4009-9369-3A856033346D}"/>
              </a:ext>
            </a:extLst>
          </p:cNvPr>
          <p:cNvSpPr/>
          <p:nvPr/>
        </p:nvSpPr>
        <p:spPr>
          <a:xfrm>
            <a:off x="5437445" y="5026519"/>
            <a:ext cx="721895" cy="96253"/>
          </a:xfrm>
          <a:prstGeom prst="round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4A4BFA29-B307-BCD5-6E66-60DFB39649E2}"/>
                  </a:ext>
                </a:extLst>
              </p:cNvPr>
              <p:cNvSpPr txBox="1"/>
              <p:nvPr/>
            </p:nvSpPr>
            <p:spPr>
              <a:xfrm>
                <a:off x="5796429" y="1515154"/>
                <a:ext cx="2899327" cy="646331"/>
              </a:xfrm>
              <a:prstGeom prst="rect">
                <a:avLst/>
              </a:prstGeom>
              <a:noFill/>
            </p:spPr>
            <p:txBody>
              <a:bodyPr wrap="square" rtlCol="0">
                <a:spAutoFit/>
              </a:bodyPr>
              <a:lstStyle/>
              <a:p>
                <a:r>
                  <a:rPr kumimoji="1" lang="ja-JP" altLang="en-US" b="1"/>
                  <a:t>フィルターサイズ</a:t>
                </a:r>
                <a:r>
                  <a:rPr kumimoji="1" lang="en-US" altLang="ja-JP" b="1"/>
                  <a:t>:</a:t>
                </a:r>
                <a14:m>
                  <m:oMath xmlns:m="http://schemas.openxmlformats.org/officeDocument/2006/math">
                    <m:r>
                      <a:rPr kumimoji="1" lang="en-US" altLang="ja-JP" b="1" i="1" smtClean="0">
                        <a:latin typeface="Cambria Math" panose="02040503050406030204" pitchFamily="18" charset="0"/>
                      </a:rPr>
                      <m:t>𝟑</m:t>
                    </m:r>
                    <m:r>
                      <a:rPr kumimoji="1" lang="en-US" altLang="ja-JP" b="1" i="1" smtClean="0">
                        <a:latin typeface="Cambria Math" panose="02040503050406030204" pitchFamily="18" charset="0"/>
                        <a:ea typeface="Cambria Math" panose="02040503050406030204" pitchFamily="18" charset="0"/>
                      </a:rPr>
                      <m:t>×</m:t>
                    </m:r>
                    <m:r>
                      <a:rPr kumimoji="1" lang="en-US" altLang="ja-JP" b="1" i="1" smtClean="0">
                        <a:latin typeface="Cambria Math" panose="02040503050406030204" pitchFamily="18" charset="0"/>
                        <a:ea typeface="Cambria Math" panose="02040503050406030204" pitchFamily="18" charset="0"/>
                      </a:rPr>
                      <m:t>𝟑</m:t>
                    </m:r>
                  </m:oMath>
                </a14:m>
                <a:endParaRPr kumimoji="1" lang="en-US" altLang="ja-JP" b="1">
                  <a:ea typeface="Cambria Math" panose="02040503050406030204" pitchFamily="18" charset="0"/>
                </a:endParaRPr>
              </a:p>
              <a:p>
                <a:r>
                  <a:rPr kumimoji="1" lang="ja-JP" altLang="en-US" b="1"/>
                  <a:t>分割数</a:t>
                </a:r>
                <a:r>
                  <a:rPr kumimoji="1" lang="en-US" altLang="ja-JP" b="1"/>
                  <a:t>:</a:t>
                </a:r>
                <a:r>
                  <a:rPr lang="ja-JP" altLang="en-US" b="1"/>
                  <a:t>用途による</a:t>
                </a:r>
                <a:endParaRPr kumimoji="1" lang="ja-JP" altLang="en-US" b="1"/>
              </a:p>
            </p:txBody>
          </p:sp>
        </mc:Choice>
        <mc:Fallback xmlns="">
          <p:sp>
            <p:nvSpPr>
              <p:cNvPr id="18" name="テキスト ボックス 17">
                <a:extLst>
                  <a:ext uri="{FF2B5EF4-FFF2-40B4-BE49-F238E27FC236}">
                    <a16:creationId xmlns:a16="http://schemas.microsoft.com/office/drawing/2014/main" id="{4A4BFA29-B307-BCD5-6E66-60DFB39649E2}"/>
                  </a:ext>
                </a:extLst>
              </p:cNvPr>
              <p:cNvSpPr txBox="1">
                <a:spLocks noRot="1" noChangeAspect="1" noMove="1" noResize="1" noEditPoints="1" noAdjustHandles="1" noChangeArrowheads="1" noChangeShapeType="1" noTextEdit="1"/>
              </p:cNvSpPr>
              <p:nvPr/>
            </p:nvSpPr>
            <p:spPr>
              <a:xfrm>
                <a:off x="5796429" y="1515154"/>
                <a:ext cx="2899327" cy="646331"/>
              </a:xfrm>
              <a:prstGeom prst="rect">
                <a:avLst/>
              </a:prstGeom>
              <a:blipFill>
                <a:blip r:embed="rId5"/>
                <a:stretch>
                  <a:fillRect l="-1895" t="-9434" b="-16038"/>
                </a:stretch>
              </a:blipFill>
            </p:spPr>
            <p:txBody>
              <a:bodyPr/>
              <a:lstStyle/>
              <a:p>
                <a:r>
                  <a:rPr lang="ja-JP" altLang="en-US">
                    <a:noFill/>
                  </a:rPr>
                  <a:t> </a:t>
                </a:r>
              </a:p>
            </p:txBody>
          </p:sp>
        </mc:Fallback>
      </mc:AlternateContent>
      <p:sp>
        <p:nvSpPr>
          <p:cNvPr id="20" name="テキスト ボックス 19">
            <a:extLst>
              <a:ext uri="{FF2B5EF4-FFF2-40B4-BE49-F238E27FC236}">
                <a16:creationId xmlns:a16="http://schemas.microsoft.com/office/drawing/2014/main" id="{A5E92451-302E-B892-DA19-912811C17335}"/>
              </a:ext>
            </a:extLst>
          </p:cNvPr>
          <p:cNvSpPr txBox="1"/>
          <p:nvPr/>
        </p:nvSpPr>
        <p:spPr>
          <a:xfrm>
            <a:off x="8513393" y="6305637"/>
            <a:ext cx="569232" cy="400110"/>
          </a:xfrm>
          <a:prstGeom prst="rect">
            <a:avLst/>
          </a:prstGeom>
          <a:noFill/>
        </p:spPr>
        <p:txBody>
          <a:bodyPr wrap="square" rtlCol="0">
            <a:spAutoFit/>
          </a:bodyPr>
          <a:lstStyle/>
          <a:p>
            <a:r>
              <a:rPr lang="en-US" altLang="ja-JP" sz="2000" b="1"/>
              <a:t>7</a:t>
            </a:r>
            <a:endParaRPr kumimoji="1" lang="ja-JP" altLang="en-US" sz="2000" b="1"/>
          </a:p>
        </p:txBody>
      </p:sp>
    </p:spTree>
    <p:extLst>
      <p:ext uri="{BB962C8B-B14F-4D97-AF65-F5344CB8AC3E}">
        <p14:creationId xmlns:p14="http://schemas.microsoft.com/office/powerpoint/2010/main" val="505511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500" fill="hold"/>
                                        <p:tgtEl>
                                          <p:spTgt spid="13"/>
                                        </p:tgtEl>
                                        <p:attrNameLst>
                                          <p:attrName>ppt_x</p:attrName>
                                        </p:attrNameLst>
                                      </p:cBhvr>
                                      <p:tavLst>
                                        <p:tav tm="0">
                                          <p:val>
                                            <p:strVal val="#ppt_x"/>
                                          </p:val>
                                        </p:tav>
                                        <p:tav tm="100000">
                                          <p:val>
                                            <p:strVal val="#ppt_x"/>
                                          </p:val>
                                        </p:tav>
                                      </p:tavLst>
                                    </p:anim>
                                    <p:anim calcmode="lin" valueType="num">
                                      <p:cBhvr additive="base">
                                        <p:cTn id="1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down)">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500"/>
                                        <p:tgtEl>
                                          <p:spTgt spid="16"/>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P spid="13" grpId="0" animBg="1"/>
      <p:bldP spid="14" grpId="0" animBg="1"/>
      <p:bldP spid="15" grpId="0" animBg="1"/>
      <p:bldP spid="16" grpId="0" animBg="1"/>
      <p:bldP spid="17" grpId="0" animBg="1"/>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FAAD6-D935-EB0A-D181-C2D43A32A8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D60937-0D38-E245-FA18-503E4C8A0DAB}"/>
              </a:ext>
            </a:extLst>
          </p:cNvPr>
          <p:cNvSpPr>
            <a:spLocks noGrp="1"/>
          </p:cNvSpPr>
          <p:nvPr>
            <p:ph type="title"/>
          </p:nvPr>
        </p:nvSpPr>
        <p:spPr/>
        <p:txBody>
          <a:bodyPr>
            <a:normAutofit/>
          </a:bodyPr>
          <a:lstStyle/>
          <a:p>
            <a:r>
              <a:rPr lang="ja-JP" altLang="en-US" sz="4000" b="1"/>
              <a:t>従来研究</a:t>
            </a:r>
            <a:endParaRPr kumimoji="1" lang="ja-JP" altLang="en-US" sz="4000" b="1" dirty="0"/>
          </a:p>
        </p:txBody>
      </p:sp>
      <p:sp>
        <p:nvSpPr>
          <p:cNvPr id="4" name="コンテンツ プレースホルダー 2">
            <a:extLst>
              <a:ext uri="{FF2B5EF4-FFF2-40B4-BE49-F238E27FC236}">
                <a16:creationId xmlns:a16="http://schemas.microsoft.com/office/drawing/2014/main" id="{2ADFE709-156E-B1D0-6536-25CC280B1ACC}"/>
              </a:ext>
            </a:extLst>
          </p:cNvPr>
          <p:cNvSpPr>
            <a:spLocks noGrp="1"/>
          </p:cNvSpPr>
          <p:nvPr>
            <p:ph idx="1"/>
          </p:nvPr>
        </p:nvSpPr>
        <p:spPr>
          <a:xfrm>
            <a:off x="1252283" y="1105051"/>
            <a:ext cx="7310948" cy="1874264"/>
          </a:xfrm>
        </p:spPr>
        <p:txBody>
          <a:bodyPr>
            <a:noAutofit/>
          </a:bodyPr>
          <a:lstStyle/>
          <a:p>
            <a:pPr marL="0" indent="0">
              <a:lnSpc>
                <a:spcPct val="150000"/>
              </a:lnSpc>
              <a:buNone/>
            </a:pPr>
            <a:r>
              <a:rPr lang="en-US" altLang="ja-JP" sz="2400" b="1">
                <a:solidFill>
                  <a:schemeClr val="tx1"/>
                </a:solidFill>
                <a:latin typeface="メイリオ" panose="020B0604030504040204" pitchFamily="50" charset="-128"/>
                <a:ea typeface="メイリオ" panose="020B0604030504040204" pitchFamily="50" charset="-128"/>
              </a:rPr>
              <a:t>GhostNet</a:t>
            </a:r>
            <a:endParaRPr lang="en-US" altLang="ja-JP" sz="2400" b="1" dirty="0">
              <a:solidFill>
                <a:schemeClr val="tx1"/>
              </a:solidFill>
              <a:latin typeface="メイリオ" panose="020B0604030504040204" pitchFamily="50" charset="-128"/>
              <a:ea typeface="メイリオ" panose="020B0604030504040204" pitchFamily="50" charset="-128"/>
            </a:endParaRPr>
          </a:p>
        </p:txBody>
      </p:sp>
      <p:pic>
        <p:nvPicPr>
          <p:cNvPr id="5" name="図 4">
            <a:extLst>
              <a:ext uri="{FF2B5EF4-FFF2-40B4-BE49-F238E27FC236}">
                <a16:creationId xmlns:a16="http://schemas.microsoft.com/office/drawing/2014/main" id="{C432A242-7ADC-3918-B0AC-A31F152E4BC2}"/>
              </a:ext>
            </a:extLst>
          </p:cNvPr>
          <p:cNvPicPr>
            <a:picLocks noChangeAspect="1"/>
          </p:cNvPicPr>
          <p:nvPr/>
        </p:nvPicPr>
        <p:blipFill>
          <a:blip r:embed="rId3"/>
          <a:srcRect r="-132" b="51732"/>
          <a:stretch/>
        </p:blipFill>
        <p:spPr>
          <a:xfrm>
            <a:off x="2047136" y="1889273"/>
            <a:ext cx="5930537" cy="4495705"/>
          </a:xfrm>
          <a:prstGeom prst="rect">
            <a:avLst/>
          </a:prstGeom>
        </p:spPr>
      </p:pic>
      <p:sp>
        <p:nvSpPr>
          <p:cNvPr id="6" name="四角形: 角を丸くする 5">
            <a:extLst>
              <a:ext uri="{FF2B5EF4-FFF2-40B4-BE49-F238E27FC236}">
                <a16:creationId xmlns:a16="http://schemas.microsoft.com/office/drawing/2014/main" id="{087759D6-43B6-FAE3-57D6-D3F2428FFD59}"/>
              </a:ext>
            </a:extLst>
          </p:cNvPr>
          <p:cNvSpPr/>
          <p:nvPr/>
        </p:nvSpPr>
        <p:spPr>
          <a:xfrm>
            <a:off x="2472612" y="2967134"/>
            <a:ext cx="337883" cy="90669"/>
          </a:xfrm>
          <a:prstGeom prst="roundRect">
            <a:avLst/>
          </a:prstGeom>
          <a:solidFill>
            <a:schemeClr val="tx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A0A75792-6189-9734-C7E8-2A91AD044E9B}"/>
              </a:ext>
            </a:extLst>
          </p:cNvPr>
          <p:cNvCxnSpPr/>
          <p:nvPr/>
        </p:nvCxnSpPr>
        <p:spPr>
          <a:xfrm>
            <a:off x="2810495" y="2864498"/>
            <a:ext cx="4812615" cy="0"/>
          </a:xfrm>
          <a:prstGeom prst="line">
            <a:avLst/>
          </a:prstGeom>
          <a:ln w="57150">
            <a:prstDash val="sysDash"/>
          </a:ln>
        </p:spPr>
        <p:style>
          <a:lnRef idx="1">
            <a:schemeClr val="dk1"/>
          </a:lnRef>
          <a:fillRef idx="0">
            <a:schemeClr val="dk1"/>
          </a:fillRef>
          <a:effectRef idx="0">
            <a:schemeClr val="dk1"/>
          </a:effectRef>
          <a:fontRef idx="minor">
            <a:schemeClr val="tx1"/>
          </a:fontRef>
        </p:style>
      </p:cxnSp>
      <p:sp>
        <p:nvSpPr>
          <p:cNvPr id="18" name="楕円 17">
            <a:extLst>
              <a:ext uri="{FF2B5EF4-FFF2-40B4-BE49-F238E27FC236}">
                <a16:creationId xmlns:a16="http://schemas.microsoft.com/office/drawing/2014/main" id="{D5597D51-ED4E-837F-00F9-E5E305D73837}"/>
              </a:ext>
            </a:extLst>
          </p:cNvPr>
          <p:cNvSpPr/>
          <p:nvPr/>
        </p:nvSpPr>
        <p:spPr>
          <a:xfrm>
            <a:off x="4170784" y="2691988"/>
            <a:ext cx="335902" cy="326571"/>
          </a:xfrm>
          <a:prstGeom prst="ellipse">
            <a:avLst/>
          </a:prstGeom>
          <a:noFill/>
          <a:ln w="571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BA2C2560-97E6-448C-F496-9E4AA35724CA}"/>
              </a:ext>
            </a:extLst>
          </p:cNvPr>
          <p:cNvSpPr/>
          <p:nvPr/>
        </p:nvSpPr>
        <p:spPr>
          <a:xfrm>
            <a:off x="4676502" y="2691988"/>
            <a:ext cx="335902" cy="326571"/>
          </a:xfrm>
          <a:prstGeom prst="ellipse">
            <a:avLst/>
          </a:prstGeom>
          <a:noFill/>
          <a:ln w="57150">
            <a:solidFill>
              <a:schemeClr val="accent4"/>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A26EB123-9A66-2181-5873-D1F81171F2F3}"/>
              </a:ext>
            </a:extLst>
          </p:cNvPr>
          <p:cNvSpPr/>
          <p:nvPr/>
        </p:nvSpPr>
        <p:spPr>
          <a:xfrm>
            <a:off x="5514276" y="2672366"/>
            <a:ext cx="335902" cy="326571"/>
          </a:xfrm>
          <a:prstGeom prst="ellipse">
            <a:avLst/>
          </a:prstGeom>
          <a:noFill/>
          <a:ln w="57150">
            <a:solidFill>
              <a:srgbClr val="FFFF0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cxnSp>
        <p:nvCxnSpPr>
          <p:cNvPr id="21" name="直線コネクタ 20">
            <a:extLst>
              <a:ext uri="{FF2B5EF4-FFF2-40B4-BE49-F238E27FC236}">
                <a16:creationId xmlns:a16="http://schemas.microsoft.com/office/drawing/2014/main" id="{A4A6DBA2-4079-6451-17C5-77D30D144EB1}"/>
              </a:ext>
            </a:extLst>
          </p:cNvPr>
          <p:cNvCxnSpPr>
            <a:cxnSpLocks/>
          </p:cNvCxnSpPr>
          <p:nvPr/>
        </p:nvCxnSpPr>
        <p:spPr>
          <a:xfrm>
            <a:off x="5514276" y="2063578"/>
            <a:ext cx="0" cy="3373395"/>
          </a:xfrm>
          <a:prstGeom prst="line">
            <a:avLst/>
          </a:prstGeom>
          <a:ln w="57150">
            <a:prstDash val="sysDash"/>
          </a:ln>
        </p:spPr>
        <p:style>
          <a:lnRef idx="1">
            <a:schemeClr val="dk1"/>
          </a:lnRef>
          <a:fillRef idx="0">
            <a:schemeClr val="dk1"/>
          </a:fillRef>
          <a:effectRef idx="0">
            <a:schemeClr val="dk1"/>
          </a:effectRef>
          <a:fontRef idx="minor">
            <a:schemeClr val="tx1"/>
          </a:fontRef>
        </p:style>
      </p:cxnSp>
      <p:sp>
        <p:nvSpPr>
          <p:cNvPr id="24" name="楕円 23">
            <a:extLst>
              <a:ext uri="{FF2B5EF4-FFF2-40B4-BE49-F238E27FC236}">
                <a16:creationId xmlns:a16="http://schemas.microsoft.com/office/drawing/2014/main" id="{C3102487-A791-BB0D-C87F-91ABEC1809DD}"/>
              </a:ext>
            </a:extLst>
          </p:cNvPr>
          <p:cNvSpPr/>
          <p:nvPr/>
        </p:nvSpPr>
        <p:spPr>
          <a:xfrm>
            <a:off x="5346325" y="2041401"/>
            <a:ext cx="335902" cy="326571"/>
          </a:xfrm>
          <a:prstGeom prst="ellipse">
            <a:avLst/>
          </a:prstGeom>
          <a:noFill/>
          <a:ln w="571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439F9CDF-8836-6558-CBEB-C1176F77CDD7}"/>
              </a:ext>
            </a:extLst>
          </p:cNvPr>
          <p:cNvSpPr/>
          <p:nvPr/>
        </p:nvSpPr>
        <p:spPr>
          <a:xfrm>
            <a:off x="5346325" y="2353994"/>
            <a:ext cx="335902" cy="326571"/>
          </a:xfrm>
          <a:prstGeom prst="ellipse">
            <a:avLst/>
          </a:prstGeom>
          <a:noFill/>
          <a:ln w="57150">
            <a:solidFill>
              <a:schemeClr val="accent4"/>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0A132D3B-B70F-496D-B9C7-14C0DD5BB531}"/>
              </a:ext>
            </a:extLst>
          </p:cNvPr>
          <p:cNvSpPr/>
          <p:nvPr/>
        </p:nvSpPr>
        <p:spPr>
          <a:xfrm>
            <a:off x="5346324" y="2803848"/>
            <a:ext cx="335902" cy="326571"/>
          </a:xfrm>
          <a:prstGeom prst="ellipse">
            <a:avLst/>
          </a:prstGeom>
          <a:noFill/>
          <a:ln w="57150">
            <a:solidFill>
              <a:srgbClr val="FFFF0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0547B66F-95A6-EE6C-1C0A-045BA4A1786F}"/>
              </a:ext>
            </a:extLst>
          </p:cNvPr>
          <p:cNvSpPr txBox="1"/>
          <p:nvPr/>
        </p:nvSpPr>
        <p:spPr>
          <a:xfrm>
            <a:off x="8513393" y="6305637"/>
            <a:ext cx="569232" cy="400110"/>
          </a:xfrm>
          <a:prstGeom prst="rect">
            <a:avLst/>
          </a:prstGeom>
          <a:noFill/>
        </p:spPr>
        <p:txBody>
          <a:bodyPr wrap="square" rtlCol="0">
            <a:spAutoFit/>
          </a:bodyPr>
          <a:lstStyle/>
          <a:p>
            <a:r>
              <a:rPr lang="en-US" altLang="ja-JP" sz="2000" b="1"/>
              <a:t>8</a:t>
            </a:r>
            <a:endParaRPr kumimoji="1" lang="ja-JP" altLang="en-US" sz="2000" b="1"/>
          </a:p>
        </p:txBody>
      </p:sp>
    </p:spTree>
    <p:extLst>
      <p:ext uri="{BB962C8B-B14F-4D97-AF65-F5344CB8AC3E}">
        <p14:creationId xmlns:p14="http://schemas.microsoft.com/office/powerpoint/2010/main" val="3721989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nodeType="clickEffect">
                                  <p:stCondLst>
                                    <p:cond delay="0"/>
                                  </p:stCondLst>
                                  <p:childTnLst>
                                    <p:animEffect transition="out" filter="fade">
                                      <p:cBhvr>
                                        <p:cTn id="25" dur="500"/>
                                        <p:tgtEl>
                                          <p:spTgt spid="12"/>
                                        </p:tgtEl>
                                      </p:cBhvr>
                                    </p:animEffect>
                                    <p:set>
                                      <p:cBhvr>
                                        <p:cTn id="26" dur="1" fill="hold">
                                          <p:stCondLst>
                                            <p:cond delay="499"/>
                                          </p:stCondLst>
                                        </p:cTn>
                                        <p:tgtEl>
                                          <p:spTgt spid="1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grpId="1" nodeType="clickEffect">
                                  <p:stCondLst>
                                    <p:cond delay="0"/>
                                  </p:stCondLst>
                                  <p:childTnLst>
                                    <p:animEffect transition="out" filter="fade">
                                      <p:cBhvr>
                                        <p:cTn id="30" dur="500"/>
                                        <p:tgtEl>
                                          <p:spTgt spid="6"/>
                                        </p:tgtEl>
                                      </p:cBhvr>
                                    </p:animEffect>
                                    <p:set>
                                      <p:cBhvr>
                                        <p:cTn id="31" dur="1" fill="hold">
                                          <p:stCondLst>
                                            <p:cond delay="499"/>
                                          </p:stCondLst>
                                        </p:cTn>
                                        <p:tgtEl>
                                          <p:spTgt spid="6"/>
                                        </p:tgtEl>
                                        <p:attrNameLst>
                                          <p:attrName>style.visibility</p:attrName>
                                        </p:attrNameLst>
                                      </p:cBhvr>
                                      <p:to>
                                        <p:strVal val="hidden"/>
                                      </p:to>
                                    </p:set>
                                  </p:childTnLst>
                                </p:cTn>
                              </p:par>
                              <p:par>
                                <p:cTn id="32" presetID="10" presetClass="exit" presetSubtype="0" fill="hold" grpId="1" nodeType="withEffect">
                                  <p:stCondLst>
                                    <p:cond delay="0"/>
                                  </p:stCondLst>
                                  <p:childTnLst>
                                    <p:animEffect transition="out" filter="fade">
                                      <p:cBhvr>
                                        <p:cTn id="33" dur="500"/>
                                        <p:tgtEl>
                                          <p:spTgt spid="18"/>
                                        </p:tgtEl>
                                      </p:cBhvr>
                                    </p:animEffect>
                                    <p:set>
                                      <p:cBhvr>
                                        <p:cTn id="34" dur="1" fill="hold">
                                          <p:stCondLst>
                                            <p:cond delay="499"/>
                                          </p:stCondLst>
                                        </p:cTn>
                                        <p:tgtEl>
                                          <p:spTgt spid="18"/>
                                        </p:tgtEl>
                                        <p:attrNameLst>
                                          <p:attrName>style.visibility</p:attrName>
                                        </p:attrNameLst>
                                      </p:cBhvr>
                                      <p:to>
                                        <p:strVal val="hidden"/>
                                      </p:to>
                                    </p:set>
                                  </p:childTnLst>
                                </p:cTn>
                              </p:par>
                              <p:par>
                                <p:cTn id="35" presetID="10" presetClass="exit" presetSubtype="0" fill="hold" grpId="1" nodeType="withEffect">
                                  <p:stCondLst>
                                    <p:cond delay="0"/>
                                  </p:stCondLst>
                                  <p:childTnLst>
                                    <p:animEffect transition="out" filter="fade">
                                      <p:cBhvr>
                                        <p:cTn id="36" dur="500"/>
                                        <p:tgtEl>
                                          <p:spTgt spid="19"/>
                                        </p:tgtEl>
                                      </p:cBhvr>
                                    </p:animEffect>
                                    <p:set>
                                      <p:cBhvr>
                                        <p:cTn id="37" dur="1" fill="hold">
                                          <p:stCondLst>
                                            <p:cond delay="499"/>
                                          </p:stCondLst>
                                        </p:cTn>
                                        <p:tgtEl>
                                          <p:spTgt spid="19"/>
                                        </p:tgtEl>
                                        <p:attrNameLst>
                                          <p:attrName>style.visibility</p:attrName>
                                        </p:attrNameLst>
                                      </p:cBhvr>
                                      <p:to>
                                        <p:strVal val="hidden"/>
                                      </p:to>
                                    </p:set>
                                  </p:childTnLst>
                                </p:cTn>
                              </p:par>
                              <p:par>
                                <p:cTn id="38" presetID="10" presetClass="exit" presetSubtype="0" fill="hold" grpId="1" nodeType="withEffect">
                                  <p:stCondLst>
                                    <p:cond delay="0"/>
                                  </p:stCondLst>
                                  <p:childTnLst>
                                    <p:animEffect transition="out" filter="fade">
                                      <p:cBhvr>
                                        <p:cTn id="39" dur="500"/>
                                        <p:tgtEl>
                                          <p:spTgt spid="20"/>
                                        </p:tgtEl>
                                      </p:cBhvr>
                                    </p:animEffect>
                                    <p:set>
                                      <p:cBhvr>
                                        <p:cTn id="40" dur="1" fill="hold">
                                          <p:stCondLst>
                                            <p:cond delay="499"/>
                                          </p:stCondLst>
                                        </p:cTn>
                                        <p:tgtEl>
                                          <p:spTgt spid="20"/>
                                        </p:tgtEl>
                                        <p:attrNameLst>
                                          <p:attrName>style.visibility</p:attrName>
                                        </p:attrNameLst>
                                      </p:cBhvr>
                                      <p:to>
                                        <p:strVal val="hidden"/>
                                      </p:to>
                                    </p:se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500"/>
                                        <p:tgtEl>
                                          <p:spTgt spid="26"/>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xit" presetSubtype="0" fill="hold" grpId="1" nodeType="clickEffect">
                                  <p:stCondLst>
                                    <p:cond delay="0"/>
                                  </p:stCondLst>
                                  <p:childTnLst>
                                    <p:animEffect transition="out" filter="fade">
                                      <p:cBhvr>
                                        <p:cTn id="58" dur="500"/>
                                        <p:tgtEl>
                                          <p:spTgt spid="25"/>
                                        </p:tgtEl>
                                      </p:cBhvr>
                                    </p:animEffect>
                                    <p:set>
                                      <p:cBhvr>
                                        <p:cTn id="59" dur="1" fill="hold">
                                          <p:stCondLst>
                                            <p:cond delay="499"/>
                                          </p:stCondLst>
                                        </p:cTn>
                                        <p:tgtEl>
                                          <p:spTgt spid="25"/>
                                        </p:tgtEl>
                                        <p:attrNameLst>
                                          <p:attrName>style.visibility</p:attrName>
                                        </p:attrNameLst>
                                      </p:cBhvr>
                                      <p:to>
                                        <p:strVal val="hidden"/>
                                      </p:to>
                                    </p:set>
                                  </p:childTnLst>
                                </p:cTn>
                              </p:par>
                              <p:par>
                                <p:cTn id="60" presetID="10" presetClass="exit" presetSubtype="0" fill="hold" grpId="1" nodeType="withEffect">
                                  <p:stCondLst>
                                    <p:cond delay="0"/>
                                  </p:stCondLst>
                                  <p:childTnLst>
                                    <p:animEffect transition="out" filter="fade">
                                      <p:cBhvr>
                                        <p:cTn id="61" dur="500"/>
                                        <p:tgtEl>
                                          <p:spTgt spid="26"/>
                                        </p:tgtEl>
                                      </p:cBhvr>
                                    </p:animEffect>
                                    <p:set>
                                      <p:cBhvr>
                                        <p:cTn id="62" dur="1" fill="hold">
                                          <p:stCondLst>
                                            <p:cond delay="499"/>
                                          </p:stCondLst>
                                        </p:cTn>
                                        <p:tgtEl>
                                          <p:spTgt spid="26"/>
                                        </p:tgtEl>
                                        <p:attrNameLst>
                                          <p:attrName>style.visibility</p:attrName>
                                        </p:attrNameLst>
                                      </p:cBhvr>
                                      <p:to>
                                        <p:strVal val="hidden"/>
                                      </p:to>
                                    </p:set>
                                  </p:childTnLst>
                                </p:cTn>
                              </p:par>
                              <p:par>
                                <p:cTn id="63" presetID="10" presetClass="exit" presetSubtype="0" fill="hold" grpId="1" nodeType="withEffect">
                                  <p:stCondLst>
                                    <p:cond delay="0"/>
                                  </p:stCondLst>
                                  <p:childTnLst>
                                    <p:animEffect transition="out" filter="fade">
                                      <p:cBhvr>
                                        <p:cTn id="64" dur="500"/>
                                        <p:tgtEl>
                                          <p:spTgt spid="24"/>
                                        </p:tgtEl>
                                      </p:cBhvr>
                                    </p:animEffect>
                                    <p:set>
                                      <p:cBhvr>
                                        <p:cTn id="65"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8" grpId="0" animBg="1"/>
      <p:bldP spid="18" grpId="1" animBg="1"/>
      <p:bldP spid="19" grpId="0" animBg="1"/>
      <p:bldP spid="19" grpId="1" animBg="1"/>
      <p:bldP spid="20" grpId="0" animBg="1"/>
      <p:bldP spid="20" grpId="1" animBg="1"/>
      <p:bldP spid="24" grpId="0" animBg="1"/>
      <p:bldP spid="24" grpId="1" animBg="1"/>
      <p:bldP spid="25" grpId="0" animBg="1"/>
      <p:bldP spid="25" grpId="1" animBg="1"/>
      <p:bldP spid="26" grpId="0" animBg="1"/>
      <p:bldP spid="26"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57305-EFB3-BCD8-97DD-A9517D72DD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9952D79-198B-960B-E5A1-D65CA6E698DB}"/>
              </a:ext>
            </a:extLst>
          </p:cNvPr>
          <p:cNvSpPr>
            <a:spLocks noGrp="1"/>
          </p:cNvSpPr>
          <p:nvPr>
            <p:ph type="title"/>
          </p:nvPr>
        </p:nvSpPr>
        <p:spPr/>
        <p:txBody>
          <a:bodyPr>
            <a:normAutofit/>
          </a:bodyPr>
          <a:lstStyle/>
          <a:p>
            <a:r>
              <a:rPr lang="ja-JP" altLang="en-US" sz="4000" b="1"/>
              <a:t>従来研究</a:t>
            </a:r>
            <a:endParaRPr kumimoji="1" lang="ja-JP" altLang="en-US" sz="4000" b="1" dirty="0"/>
          </a:p>
        </p:txBody>
      </p:sp>
      <p:sp>
        <p:nvSpPr>
          <p:cNvPr id="5" name="テキスト ボックス 4">
            <a:extLst>
              <a:ext uri="{FF2B5EF4-FFF2-40B4-BE49-F238E27FC236}">
                <a16:creationId xmlns:a16="http://schemas.microsoft.com/office/drawing/2014/main" id="{828838C0-C2D7-EA56-7868-765F41BA1754}"/>
              </a:ext>
            </a:extLst>
          </p:cNvPr>
          <p:cNvSpPr txBox="1"/>
          <p:nvPr/>
        </p:nvSpPr>
        <p:spPr>
          <a:xfrm>
            <a:off x="914400" y="1927632"/>
            <a:ext cx="7693572" cy="1323439"/>
          </a:xfrm>
          <a:prstGeom prst="rect">
            <a:avLst/>
          </a:prstGeom>
          <a:noFill/>
        </p:spPr>
        <p:txBody>
          <a:bodyPr wrap="square">
            <a:spAutoFit/>
          </a:bodyPr>
          <a:lstStyle/>
          <a:p>
            <a:r>
              <a:rPr lang="ja-JP" altLang="en-US" sz="2000" dirty="0">
                <a:latin typeface="+mj-ea"/>
                <a:ea typeface="+mj-ea"/>
              </a:rPr>
              <a:t>チャンネル方向と空間方向の</a:t>
            </a:r>
            <a:r>
              <a:rPr lang="en-US" altLang="ja-JP" sz="2000" dirty="0">
                <a:latin typeface="+mj-ea"/>
                <a:ea typeface="+mj-ea"/>
              </a:rPr>
              <a:t>Attention</a:t>
            </a:r>
            <a:r>
              <a:rPr lang="ja-JP" altLang="en-US" sz="2000" dirty="0">
                <a:latin typeface="+mj-ea"/>
                <a:ea typeface="+mj-ea"/>
              </a:rPr>
              <a:t>を統合</a:t>
            </a:r>
            <a:endParaRPr lang="en-US" altLang="ja-JP" sz="2000" dirty="0">
              <a:latin typeface="+mj-ea"/>
              <a:ea typeface="+mj-ea"/>
            </a:endParaRPr>
          </a:p>
          <a:p>
            <a:r>
              <a:rPr lang="ja-JP" altLang="en-US" sz="2000" dirty="0">
                <a:latin typeface="+mj-ea"/>
                <a:ea typeface="+mj-ea"/>
              </a:rPr>
              <a:t>→特徴を適応的に強調・抑制する残差ブロック</a:t>
            </a:r>
            <a:endParaRPr lang="en-US" altLang="ja-JP" sz="2000" dirty="0">
              <a:latin typeface="+mj-ea"/>
              <a:ea typeface="+mj-ea"/>
            </a:endParaRPr>
          </a:p>
          <a:p>
            <a:endParaRPr lang="en-US" altLang="ja-JP" sz="2000" dirty="0">
              <a:latin typeface="+mj-ea"/>
              <a:ea typeface="+mj-ea"/>
            </a:endParaRPr>
          </a:p>
          <a:p>
            <a:r>
              <a:rPr lang="ja-JP" altLang="en-US" sz="2000" dirty="0">
                <a:latin typeface="+mj-ea"/>
                <a:ea typeface="+mj-ea"/>
              </a:rPr>
              <a:t>重要な情報を効率的に学習、モデルの表現力と性能の向上</a:t>
            </a:r>
            <a:endParaRPr lang="en-US" altLang="ja-JP" sz="2000" dirty="0">
              <a:latin typeface="+mj-ea"/>
              <a:ea typeface="+mj-ea"/>
            </a:endParaRPr>
          </a:p>
        </p:txBody>
      </p:sp>
      <p:sp>
        <p:nvSpPr>
          <p:cNvPr id="7" name="テキスト ボックス 6">
            <a:extLst>
              <a:ext uri="{FF2B5EF4-FFF2-40B4-BE49-F238E27FC236}">
                <a16:creationId xmlns:a16="http://schemas.microsoft.com/office/drawing/2014/main" id="{CBFF077B-ADD2-75AC-C4E9-B6908328D536}"/>
              </a:ext>
            </a:extLst>
          </p:cNvPr>
          <p:cNvSpPr txBox="1"/>
          <p:nvPr/>
        </p:nvSpPr>
        <p:spPr>
          <a:xfrm>
            <a:off x="812799" y="792861"/>
            <a:ext cx="7939949" cy="1154162"/>
          </a:xfrm>
          <a:prstGeom prst="rect">
            <a:avLst/>
          </a:prstGeom>
          <a:noFill/>
        </p:spPr>
        <p:txBody>
          <a:bodyPr wrap="square">
            <a:spAutoFit/>
          </a:bodyPr>
          <a:lstStyle/>
          <a:p>
            <a:pPr marL="0" indent="0">
              <a:lnSpc>
                <a:spcPct val="150000"/>
              </a:lnSpc>
              <a:buNone/>
            </a:pPr>
            <a:r>
              <a:rPr lang="en-US" altLang="ja-JP" sz="2400" b="1" dirty="0">
                <a:latin typeface="メイリオ" panose="020B0604030504040204" pitchFamily="50" charset="-128"/>
                <a:ea typeface="メイリオ" panose="020B0604030504040204" pitchFamily="50" charset="-128"/>
              </a:rPr>
              <a:t>Channel-wise and Spatial Attention </a:t>
            </a:r>
            <a:r>
              <a:rPr lang="en-US" altLang="ja-JP" sz="2400" b="1">
                <a:latin typeface="メイリオ" panose="020B0604030504040204" pitchFamily="50" charset="-128"/>
                <a:ea typeface="メイリオ" panose="020B0604030504040204" pitchFamily="50" charset="-128"/>
              </a:rPr>
              <a:t>Residual block</a:t>
            </a:r>
            <a:r>
              <a:rPr lang="en-US" altLang="ja-JP" sz="2400" b="1" dirty="0">
                <a:solidFill>
                  <a:schemeClr val="tx1"/>
                </a:solidFill>
                <a:latin typeface="メイリオ" panose="020B0604030504040204" pitchFamily="50" charset="-128"/>
                <a:ea typeface="メイリオ" panose="020B0604030504040204" pitchFamily="50" charset="-128"/>
              </a:rPr>
              <a:t>(</a:t>
            </a:r>
            <a:r>
              <a:rPr lang="en-US" altLang="ja-JP" sz="2400" b="1">
                <a:solidFill>
                  <a:schemeClr val="tx1"/>
                </a:solidFill>
                <a:latin typeface="メイリオ" panose="020B0604030504040204" pitchFamily="50" charset="-128"/>
                <a:ea typeface="メイリオ" panose="020B0604030504040204" pitchFamily="50" charset="-128"/>
              </a:rPr>
              <a:t>CSAR block</a:t>
            </a:r>
            <a:r>
              <a:rPr lang="en-US" altLang="ja-JP" sz="2400" b="1" dirty="0">
                <a:solidFill>
                  <a:schemeClr val="tx1"/>
                </a:solidFill>
                <a:latin typeface="メイリオ" panose="020B0604030504040204" pitchFamily="50" charset="-128"/>
                <a:ea typeface="メイリオ" panose="020B0604030504040204" pitchFamily="50" charset="-128"/>
              </a:rPr>
              <a:t>)[3]</a:t>
            </a:r>
          </a:p>
        </p:txBody>
      </p:sp>
      <p:pic>
        <p:nvPicPr>
          <p:cNvPr id="9" name="図 8">
            <a:extLst>
              <a:ext uri="{FF2B5EF4-FFF2-40B4-BE49-F238E27FC236}">
                <a16:creationId xmlns:a16="http://schemas.microsoft.com/office/drawing/2014/main" id="{64E0C7CF-5148-E434-1915-559F19B040A6}"/>
              </a:ext>
            </a:extLst>
          </p:cNvPr>
          <p:cNvPicPr>
            <a:picLocks noChangeAspect="1"/>
          </p:cNvPicPr>
          <p:nvPr/>
        </p:nvPicPr>
        <p:blipFill>
          <a:blip r:embed="rId3"/>
          <a:stretch>
            <a:fillRect/>
          </a:stretch>
        </p:blipFill>
        <p:spPr>
          <a:xfrm>
            <a:off x="914400" y="3128554"/>
            <a:ext cx="7838348" cy="3211760"/>
          </a:xfrm>
          <a:prstGeom prst="rect">
            <a:avLst/>
          </a:prstGeom>
        </p:spPr>
      </p:pic>
      <p:sp>
        <p:nvSpPr>
          <p:cNvPr id="3" name="矢印: 下 2">
            <a:extLst>
              <a:ext uri="{FF2B5EF4-FFF2-40B4-BE49-F238E27FC236}">
                <a16:creationId xmlns:a16="http://schemas.microsoft.com/office/drawing/2014/main" id="{7FB92FC6-F71A-1409-A94E-C1338316E59D}"/>
              </a:ext>
            </a:extLst>
          </p:cNvPr>
          <p:cNvSpPr/>
          <p:nvPr/>
        </p:nvSpPr>
        <p:spPr>
          <a:xfrm>
            <a:off x="3762375" y="2589351"/>
            <a:ext cx="704850" cy="238125"/>
          </a:xfrm>
          <a:prstGeom prst="downArrow">
            <a:avLst/>
          </a:prstGeom>
          <a:solidFill>
            <a:srgbClr val="FF0000"/>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7B033DD7-3394-B58A-158D-4892AFB887E1}"/>
              </a:ext>
            </a:extLst>
          </p:cNvPr>
          <p:cNvSpPr txBox="1"/>
          <p:nvPr/>
        </p:nvSpPr>
        <p:spPr>
          <a:xfrm>
            <a:off x="1060057" y="6340314"/>
            <a:ext cx="7692691" cy="461665"/>
          </a:xfrm>
          <a:prstGeom prst="rect">
            <a:avLst/>
          </a:prstGeom>
          <a:noFill/>
        </p:spPr>
        <p:txBody>
          <a:bodyPr wrap="square" rtlCol="0">
            <a:spAutoFit/>
          </a:bodyPr>
          <a:lstStyle/>
          <a:p>
            <a:r>
              <a:rPr lang="en-US" altLang="ja-JP" sz="1200"/>
              <a:t>[3] Hu Yanting et al. “Channel-wise and spatial feature modulation network for single image super-resolution”, IEEE Transactions on Circuits and Systems for Video Technology, 30.11: 3911-3927 (2019)</a:t>
            </a:r>
            <a:endParaRPr kumimoji="1" lang="ja-JP" altLang="en-US" sz="1200" dirty="0"/>
          </a:p>
        </p:txBody>
      </p:sp>
      <p:sp>
        <p:nvSpPr>
          <p:cNvPr id="10" name="四角形: 角を丸くする 9">
            <a:extLst>
              <a:ext uri="{FF2B5EF4-FFF2-40B4-BE49-F238E27FC236}">
                <a16:creationId xmlns:a16="http://schemas.microsoft.com/office/drawing/2014/main" id="{C0F56CA5-1B24-1795-D363-4492138EA387}"/>
              </a:ext>
            </a:extLst>
          </p:cNvPr>
          <p:cNvSpPr/>
          <p:nvPr/>
        </p:nvSpPr>
        <p:spPr>
          <a:xfrm>
            <a:off x="2445952" y="3953342"/>
            <a:ext cx="507314" cy="744525"/>
          </a:xfrm>
          <a:prstGeom prst="roundRect">
            <a:avLst/>
          </a:prstGeom>
          <a:noFill/>
          <a:ln w="762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B07A34FA-0D12-B51A-1255-FABC82FC73B4}"/>
              </a:ext>
            </a:extLst>
          </p:cNvPr>
          <p:cNvSpPr/>
          <p:nvPr/>
        </p:nvSpPr>
        <p:spPr>
          <a:xfrm>
            <a:off x="2445952" y="4774565"/>
            <a:ext cx="507314" cy="744525"/>
          </a:xfrm>
          <a:prstGeom prst="roundRect">
            <a:avLst/>
          </a:prstGeom>
          <a:noFill/>
          <a:ln w="762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646B5969-D5C5-E39E-3BA2-7A325C2986AD}"/>
              </a:ext>
            </a:extLst>
          </p:cNvPr>
          <p:cNvSpPr/>
          <p:nvPr/>
        </p:nvSpPr>
        <p:spPr>
          <a:xfrm>
            <a:off x="6651368" y="4149839"/>
            <a:ext cx="507314" cy="1212993"/>
          </a:xfrm>
          <a:prstGeom prst="roundRect">
            <a:avLst/>
          </a:prstGeom>
          <a:noFill/>
          <a:ln w="762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E0044FAB-4375-4E5A-37E4-0E9D26BD831D}"/>
              </a:ext>
            </a:extLst>
          </p:cNvPr>
          <p:cNvSpPr txBox="1"/>
          <p:nvPr/>
        </p:nvSpPr>
        <p:spPr>
          <a:xfrm>
            <a:off x="8513393" y="6305637"/>
            <a:ext cx="569232" cy="400110"/>
          </a:xfrm>
          <a:prstGeom prst="rect">
            <a:avLst/>
          </a:prstGeom>
          <a:noFill/>
        </p:spPr>
        <p:txBody>
          <a:bodyPr wrap="square" rtlCol="0">
            <a:spAutoFit/>
          </a:bodyPr>
          <a:lstStyle/>
          <a:p>
            <a:r>
              <a:rPr lang="en-US" altLang="ja-JP" sz="2000" b="1"/>
              <a:t>9</a:t>
            </a:r>
            <a:endParaRPr kumimoji="1" lang="ja-JP" altLang="en-US" sz="2000" b="1"/>
          </a:p>
        </p:txBody>
      </p:sp>
    </p:spTree>
    <p:extLst>
      <p:ext uri="{BB962C8B-B14F-4D97-AF65-F5344CB8AC3E}">
        <p14:creationId xmlns:p14="http://schemas.microsoft.com/office/powerpoint/2010/main" val="884474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DE1E5-2A8A-AD29-E1C8-F4FE8DBED36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B07964-FF0E-F3A7-D95A-9EC05AD00DCD}"/>
              </a:ext>
            </a:extLst>
          </p:cNvPr>
          <p:cNvSpPr>
            <a:spLocks noGrp="1"/>
          </p:cNvSpPr>
          <p:nvPr>
            <p:ph type="title"/>
          </p:nvPr>
        </p:nvSpPr>
        <p:spPr/>
        <p:txBody>
          <a:bodyPr>
            <a:normAutofit/>
          </a:bodyPr>
          <a:lstStyle/>
          <a:p>
            <a:r>
              <a:rPr lang="ja-JP" altLang="en-US" sz="4000" b="1"/>
              <a:t>従来研究</a:t>
            </a:r>
            <a:endParaRPr kumimoji="1" lang="ja-JP" altLang="en-US" sz="4000" b="1" dirty="0"/>
          </a:p>
        </p:txBody>
      </p:sp>
      <p:sp>
        <p:nvSpPr>
          <p:cNvPr id="7" name="テキスト ボックス 6">
            <a:extLst>
              <a:ext uri="{FF2B5EF4-FFF2-40B4-BE49-F238E27FC236}">
                <a16:creationId xmlns:a16="http://schemas.microsoft.com/office/drawing/2014/main" id="{D86E9C14-FA06-302D-1355-945FDF6DFE64}"/>
              </a:ext>
            </a:extLst>
          </p:cNvPr>
          <p:cNvSpPr txBox="1"/>
          <p:nvPr/>
        </p:nvSpPr>
        <p:spPr>
          <a:xfrm>
            <a:off x="812799" y="792861"/>
            <a:ext cx="7939949" cy="1154162"/>
          </a:xfrm>
          <a:prstGeom prst="rect">
            <a:avLst/>
          </a:prstGeom>
          <a:noFill/>
        </p:spPr>
        <p:txBody>
          <a:bodyPr wrap="square">
            <a:spAutoFit/>
          </a:bodyPr>
          <a:lstStyle/>
          <a:p>
            <a:pPr marL="0" indent="0">
              <a:lnSpc>
                <a:spcPct val="150000"/>
              </a:lnSpc>
              <a:buNone/>
            </a:pPr>
            <a:r>
              <a:rPr lang="en-US" altLang="ja-JP" sz="2400" b="1" dirty="0">
                <a:latin typeface="メイリオ" panose="020B0604030504040204" pitchFamily="50" charset="-128"/>
                <a:ea typeface="メイリオ" panose="020B0604030504040204" pitchFamily="50" charset="-128"/>
              </a:rPr>
              <a:t>Channel-wise and Spatial Attention </a:t>
            </a:r>
            <a:r>
              <a:rPr lang="en-US" altLang="ja-JP" sz="2400" b="1">
                <a:latin typeface="メイリオ" panose="020B0604030504040204" pitchFamily="50" charset="-128"/>
                <a:ea typeface="メイリオ" panose="020B0604030504040204" pitchFamily="50" charset="-128"/>
              </a:rPr>
              <a:t>Residual Block</a:t>
            </a:r>
            <a:r>
              <a:rPr lang="en-US" altLang="ja-JP" sz="2400" b="1" dirty="0">
                <a:solidFill>
                  <a:schemeClr val="tx1"/>
                </a:solidFill>
                <a:latin typeface="メイリオ" panose="020B0604030504040204" pitchFamily="50" charset="-128"/>
                <a:ea typeface="メイリオ" panose="020B0604030504040204" pitchFamily="50" charset="-128"/>
              </a:rPr>
              <a:t>(</a:t>
            </a:r>
            <a:r>
              <a:rPr lang="en-US" altLang="ja-JP" sz="2400" b="1">
                <a:solidFill>
                  <a:schemeClr val="tx1"/>
                </a:solidFill>
                <a:latin typeface="メイリオ" panose="020B0604030504040204" pitchFamily="50" charset="-128"/>
                <a:ea typeface="メイリオ" panose="020B0604030504040204" pitchFamily="50" charset="-128"/>
              </a:rPr>
              <a:t>CSAR </a:t>
            </a:r>
            <a:r>
              <a:rPr lang="en-US" altLang="ja-JP" sz="2400" b="1">
                <a:latin typeface="メイリオ" panose="020B0604030504040204" pitchFamily="50" charset="-128"/>
                <a:ea typeface="メイリオ" panose="020B0604030504040204" pitchFamily="50" charset="-128"/>
              </a:rPr>
              <a:t>B</a:t>
            </a:r>
            <a:r>
              <a:rPr lang="en-US" altLang="ja-JP" sz="2400" b="1">
                <a:solidFill>
                  <a:schemeClr val="tx1"/>
                </a:solidFill>
                <a:latin typeface="メイリオ" panose="020B0604030504040204" pitchFamily="50" charset="-128"/>
                <a:ea typeface="メイリオ" panose="020B0604030504040204" pitchFamily="50" charset="-128"/>
              </a:rPr>
              <a:t>lock)[3]</a:t>
            </a:r>
            <a:endParaRPr lang="en-US" altLang="ja-JP" sz="2400" b="1" dirty="0">
              <a:solidFill>
                <a:schemeClr val="tx1"/>
              </a:solidFill>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242A4295-189C-1A97-A837-44232D599F99}"/>
              </a:ext>
            </a:extLst>
          </p:cNvPr>
          <p:cNvSpPr txBox="1"/>
          <p:nvPr/>
        </p:nvSpPr>
        <p:spPr>
          <a:xfrm>
            <a:off x="1060057" y="6340314"/>
            <a:ext cx="7692691" cy="461665"/>
          </a:xfrm>
          <a:prstGeom prst="rect">
            <a:avLst/>
          </a:prstGeom>
          <a:noFill/>
        </p:spPr>
        <p:txBody>
          <a:bodyPr wrap="square" rtlCol="0">
            <a:spAutoFit/>
          </a:bodyPr>
          <a:lstStyle/>
          <a:p>
            <a:r>
              <a:rPr lang="en-US" altLang="ja-JP" sz="1200"/>
              <a:t>[3] Hu Yanting et al. “Channel-wise and spatial feature modulation network for single image super-resolution”, IEEE Transactions on Circuits and Systems for Video Technology, 30.11: 3911-3927 (2019)</a:t>
            </a:r>
            <a:endParaRPr kumimoji="1" lang="ja-JP" altLang="en-US" sz="1200" dirty="0"/>
          </a:p>
        </p:txBody>
      </p:sp>
      <p:pic>
        <p:nvPicPr>
          <p:cNvPr id="8" name="図 7">
            <a:extLst>
              <a:ext uri="{FF2B5EF4-FFF2-40B4-BE49-F238E27FC236}">
                <a16:creationId xmlns:a16="http://schemas.microsoft.com/office/drawing/2014/main" id="{C79D1539-C920-9542-85F9-FC4358F31E6A}"/>
              </a:ext>
            </a:extLst>
          </p:cNvPr>
          <p:cNvPicPr>
            <a:picLocks noChangeAspect="1"/>
          </p:cNvPicPr>
          <p:nvPr/>
        </p:nvPicPr>
        <p:blipFill>
          <a:blip r:embed="rId3"/>
          <a:stretch>
            <a:fillRect/>
          </a:stretch>
        </p:blipFill>
        <p:spPr>
          <a:xfrm>
            <a:off x="633186" y="2225542"/>
            <a:ext cx="8331201" cy="3839597"/>
          </a:xfrm>
          <a:prstGeom prst="rect">
            <a:avLst/>
          </a:prstGeom>
        </p:spPr>
      </p:pic>
      <p:sp>
        <p:nvSpPr>
          <p:cNvPr id="11" name="テキスト ボックス 10">
            <a:extLst>
              <a:ext uri="{FF2B5EF4-FFF2-40B4-BE49-F238E27FC236}">
                <a16:creationId xmlns:a16="http://schemas.microsoft.com/office/drawing/2014/main" id="{3BDCE68B-F912-0EA9-8B84-EB6D88C39639}"/>
              </a:ext>
            </a:extLst>
          </p:cNvPr>
          <p:cNvSpPr txBox="1"/>
          <p:nvPr/>
        </p:nvSpPr>
        <p:spPr>
          <a:xfrm>
            <a:off x="8513393" y="6305637"/>
            <a:ext cx="569232" cy="400110"/>
          </a:xfrm>
          <a:prstGeom prst="rect">
            <a:avLst/>
          </a:prstGeom>
          <a:noFill/>
        </p:spPr>
        <p:txBody>
          <a:bodyPr wrap="square" rtlCol="0">
            <a:spAutoFit/>
          </a:bodyPr>
          <a:lstStyle/>
          <a:p>
            <a:r>
              <a:rPr kumimoji="1" lang="en-US" altLang="ja-JP" sz="2000" b="1"/>
              <a:t>10</a:t>
            </a:r>
            <a:endParaRPr kumimoji="1" lang="ja-JP" altLang="en-US" sz="2000" b="1"/>
          </a:p>
        </p:txBody>
      </p:sp>
    </p:spTree>
    <p:extLst>
      <p:ext uri="{BB962C8B-B14F-4D97-AF65-F5344CB8AC3E}">
        <p14:creationId xmlns:p14="http://schemas.microsoft.com/office/powerpoint/2010/main" val="3305576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b="1"/>
              <a:t>提案手法</a:t>
            </a:r>
            <a:endParaRPr kumimoji="1" lang="ja-JP" altLang="en-US" sz="4000" b="1" dirty="0"/>
          </a:p>
        </p:txBody>
      </p:sp>
      <p:sp>
        <p:nvSpPr>
          <p:cNvPr id="5" name="テキスト ボックス 4">
            <a:extLst>
              <a:ext uri="{FF2B5EF4-FFF2-40B4-BE49-F238E27FC236}">
                <a16:creationId xmlns:a16="http://schemas.microsoft.com/office/drawing/2014/main" id="{BDF34C67-904C-47DA-21F1-27F4F21CF8D5}"/>
              </a:ext>
            </a:extLst>
          </p:cNvPr>
          <p:cNvSpPr txBox="1"/>
          <p:nvPr/>
        </p:nvSpPr>
        <p:spPr>
          <a:xfrm>
            <a:off x="914400" y="1255265"/>
            <a:ext cx="7498080" cy="954107"/>
          </a:xfrm>
          <a:prstGeom prst="rect">
            <a:avLst/>
          </a:prstGeom>
          <a:noFill/>
        </p:spPr>
        <p:txBody>
          <a:bodyPr wrap="square">
            <a:spAutoFit/>
          </a:bodyPr>
          <a:lstStyle/>
          <a:p>
            <a:r>
              <a:rPr lang="en-US" altLang="ja-JP" sz="2800">
                <a:latin typeface="+mj-ea"/>
                <a:ea typeface="+mj-ea"/>
              </a:rPr>
              <a:t>GhostNet</a:t>
            </a:r>
            <a:r>
              <a:rPr lang="ja-JP" altLang="en-US" sz="2800">
                <a:latin typeface="+mj-ea"/>
                <a:ea typeface="+mj-ea"/>
              </a:rPr>
              <a:t>に</a:t>
            </a:r>
            <a:r>
              <a:rPr lang="en-US" altLang="ja-JP" sz="2800">
                <a:latin typeface="+mj-ea"/>
                <a:ea typeface="+mj-ea"/>
              </a:rPr>
              <a:t>CSAR Block</a:t>
            </a:r>
            <a:r>
              <a:rPr lang="ja-JP" altLang="en-US" sz="2800">
                <a:latin typeface="+mj-ea"/>
                <a:ea typeface="+mj-ea"/>
              </a:rPr>
              <a:t>を導入したモデルの提案</a:t>
            </a:r>
            <a:endParaRPr lang="en-US" altLang="ja-JP" sz="2800">
              <a:latin typeface="+mj-ea"/>
              <a:ea typeface="+mj-ea"/>
            </a:endParaRPr>
          </a:p>
        </p:txBody>
      </p:sp>
      <p:pic>
        <p:nvPicPr>
          <p:cNvPr id="12" name="図 11">
            <a:extLst>
              <a:ext uri="{FF2B5EF4-FFF2-40B4-BE49-F238E27FC236}">
                <a16:creationId xmlns:a16="http://schemas.microsoft.com/office/drawing/2014/main" id="{414EE3EB-ADE9-2CAA-5754-8CC8D0D53970}"/>
              </a:ext>
            </a:extLst>
          </p:cNvPr>
          <p:cNvPicPr>
            <a:picLocks noChangeAspect="1"/>
          </p:cNvPicPr>
          <p:nvPr/>
        </p:nvPicPr>
        <p:blipFill>
          <a:blip r:embed="rId3"/>
          <a:stretch>
            <a:fillRect/>
          </a:stretch>
        </p:blipFill>
        <p:spPr>
          <a:xfrm>
            <a:off x="848717" y="2956298"/>
            <a:ext cx="7984305" cy="3215901"/>
          </a:xfrm>
          <a:prstGeom prst="rect">
            <a:avLst/>
          </a:prstGeom>
        </p:spPr>
      </p:pic>
      <p:sp>
        <p:nvSpPr>
          <p:cNvPr id="4" name="テキスト ボックス 3">
            <a:extLst>
              <a:ext uri="{FF2B5EF4-FFF2-40B4-BE49-F238E27FC236}">
                <a16:creationId xmlns:a16="http://schemas.microsoft.com/office/drawing/2014/main" id="{3553608B-4243-43AC-EF30-E65B99D4D5EC}"/>
              </a:ext>
            </a:extLst>
          </p:cNvPr>
          <p:cNvSpPr txBox="1"/>
          <p:nvPr/>
        </p:nvSpPr>
        <p:spPr>
          <a:xfrm>
            <a:off x="8513393" y="6305637"/>
            <a:ext cx="569232" cy="400110"/>
          </a:xfrm>
          <a:prstGeom prst="rect">
            <a:avLst/>
          </a:prstGeom>
          <a:noFill/>
        </p:spPr>
        <p:txBody>
          <a:bodyPr wrap="square" rtlCol="0">
            <a:spAutoFit/>
          </a:bodyPr>
          <a:lstStyle/>
          <a:p>
            <a:r>
              <a:rPr kumimoji="1" lang="en-US" altLang="ja-JP" sz="2000" b="1"/>
              <a:t>11</a:t>
            </a:r>
            <a:endParaRPr kumimoji="1" lang="ja-JP" altLang="en-US" sz="2000" b="1"/>
          </a:p>
        </p:txBody>
      </p:sp>
    </p:spTree>
    <p:extLst>
      <p:ext uri="{BB962C8B-B14F-4D97-AF65-F5344CB8AC3E}">
        <p14:creationId xmlns:p14="http://schemas.microsoft.com/office/powerpoint/2010/main" val="2885022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b="1"/>
              <a:t>提案手法</a:t>
            </a:r>
            <a:endParaRPr kumimoji="1" lang="ja-JP" altLang="en-US" sz="4000" b="1" dirty="0"/>
          </a:p>
        </p:txBody>
      </p:sp>
      <p:sp>
        <p:nvSpPr>
          <p:cNvPr id="5" name="テキスト ボックス 4">
            <a:extLst>
              <a:ext uri="{FF2B5EF4-FFF2-40B4-BE49-F238E27FC236}">
                <a16:creationId xmlns:a16="http://schemas.microsoft.com/office/drawing/2014/main" id="{BDF34C67-904C-47DA-21F1-27F4F21CF8D5}"/>
              </a:ext>
            </a:extLst>
          </p:cNvPr>
          <p:cNvSpPr txBox="1"/>
          <p:nvPr/>
        </p:nvSpPr>
        <p:spPr>
          <a:xfrm>
            <a:off x="914400" y="1255265"/>
            <a:ext cx="7498080" cy="954107"/>
          </a:xfrm>
          <a:prstGeom prst="rect">
            <a:avLst/>
          </a:prstGeom>
          <a:noFill/>
        </p:spPr>
        <p:txBody>
          <a:bodyPr wrap="square">
            <a:spAutoFit/>
          </a:bodyPr>
          <a:lstStyle/>
          <a:p>
            <a:r>
              <a:rPr lang="ja-JP" altLang="en-US" sz="2800">
                <a:latin typeface="+mj-ea"/>
                <a:ea typeface="+mj-ea"/>
              </a:rPr>
              <a:t>従来モデル</a:t>
            </a:r>
            <a:r>
              <a:rPr lang="en-US" altLang="ja-JP" sz="2800">
                <a:latin typeface="+mj-ea"/>
                <a:ea typeface="+mj-ea"/>
              </a:rPr>
              <a:t>GhostNet</a:t>
            </a:r>
            <a:r>
              <a:rPr lang="ja-JP" altLang="en-US" sz="2800">
                <a:latin typeface="+mj-ea"/>
                <a:ea typeface="+mj-ea"/>
              </a:rPr>
              <a:t>への</a:t>
            </a:r>
            <a:r>
              <a:rPr lang="en-US" altLang="ja-JP" sz="2800">
                <a:latin typeface="+mj-ea"/>
                <a:ea typeface="+mj-ea"/>
              </a:rPr>
              <a:t>CSAR block</a:t>
            </a:r>
            <a:r>
              <a:rPr lang="ja-JP" altLang="en-US" sz="2800">
                <a:latin typeface="+mj-ea"/>
                <a:ea typeface="+mj-ea"/>
              </a:rPr>
              <a:t>の</a:t>
            </a:r>
            <a:endParaRPr lang="en-US" altLang="ja-JP" sz="2800">
              <a:latin typeface="+mj-ea"/>
              <a:ea typeface="+mj-ea"/>
            </a:endParaRPr>
          </a:p>
          <a:p>
            <a:r>
              <a:rPr lang="ja-JP" altLang="en-US" sz="2800">
                <a:latin typeface="+mj-ea"/>
                <a:ea typeface="+mj-ea"/>
              </a:rPr>
              <a:t>導入方法について</a:t>
            </a:r>
            <a:endParaRPr lang="en-US" altLang="ja-JP" sz="2800">
              <a:latin typeface="+mj-ea"/>
              <a:ea typeface="+mj-ea"/>
            </a:endParaRPr>
          </a:p>
        </p:txBody>
      </p:sp>
      <p:pic>
        <p:nvPicPr>
          <p:cNvPr id="3" name="図 2">
            <a:extLst>
              <a:ext uri="{FF2B5EF4-FFF2-40B4-BE49-F238E27FC236}">
                <a16:creationId xmlns:a16="http://schemas.microsoft.com/office/drawing/2014/main" id="{DE11EB15-E78C-8F80-872C-5D97497C6F4F}"/>
              </a:ext>
            </a:extLst>
          </p:cNvPr>
          <p:cNvPicPr>
            <a:picLocks noChangeAspect="1"/>
          </p:cNvPicPr>
          <p:nvPr/>
        </p:nvPicPr>
        <p:blipFill>
          <a:blip r:embed="rId3"/>
          <a:stretch>
            <a:fillRect/>
          </a:stretch>
        </p:blipFill>
        <p:spPr>
          <a:xfrm>
            <a:off x="2431582" y="2209372"/>
            <a:ext cx="4280836" cy="4313892"/>
          </a:xfrm>
          <a:prstGeom prst="rect">
            <a:avLst/>
          </a:prstGeom>
        </p:spPr>
      </p:pic>
      <p:sp>
        <p:nvSpPr>
          <p:cNvPr id="6" name="正方形/長方形 5">
            <a:extLst>
              <a:ext uri="{FF2B5EF4-FFF2-40B4-BE49-F238E27FC236}">
                <a16:creationId xmlns:a16="http://schemas.microsoft.com/office/drawing/2014/main" id="{E4E90A1B-C56E-DF9C-8EB5-8450341EE231}"/>
              </a:ext>
            </a:extLst>
          </p:cNvPr>
          <p:cNvSpPr/>
          <p:nvPr/>
        </p:nvSpPr>
        <p:spPr>
          <a:xfrm>
            <a:off x="731520" y="929541"/>
            <a:ext cx="8171789" cy="5593723"/>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pic>
        <p:nvPicPr>
          <p:cNvPr id="10" name="図 9">
            <a:extLst>
              <a:ext uri="{FF2B5EF4-FFF2-40B4-BE49-F238E27FC236}">
                <a16:creationId xmlns:a16="http://schemas.microsoft.com/office/drawing/2014/main" id="{F2B58D43-C317-F202-6524-278F5D2323AA}"/>
              </a:ext>
            </a:extLst>
          </p:cNvPr>
          <p:cNvPicPr>
            <a:picLocks noChangeAspect="1"/>
          </p:cNvPicPr>
          <p:nvPr/>
        </p:nvPicPr>
        <p:blipFill>
          <a:blip r:embed="rId4"/>
          <a:stretch>
            <a:fillRect/>
          </a:stretch>
        </p:blipFill>
        <p:spPr>
          <a:xfrm>
            <a:off x="6260827" y="518378"/>
            <a:ext cx="2642482" cy="2665067"/>
          </a:xfrm>
          <a:prstGeom prst="rect">
            <a:avLst/>
          </a:prstGeom>
        </p:spPr>
      </p:pic>
      <p:sp>
        <p:nvSpPr>
          <p:cNvPr id="11" name="楕円 10">
            <a:extLst>
              <a:ext uri="{FF2B5EF4-FFF2-40B4-BE49-F238E27FC236}">
                <a16:creationId xmlns:a16="http://schemas.microsoft.com/office/drawing/2014/main" id="{7AA8633D-AEB0-D949-EA7C-3BAB44C50C37}"/>
              </a:ext>
            </a:extLst>
          </p:cNvPr>
          <p:cNvSpPr/>
          <p:nvPr/>
        </p:nvSpPr>
        <p:spPr>
          <a:xfrm>
            <a:off x="7075172" y="2546843"/>
            <a:ext cx="1013791" cy="336176"/>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0BBBABD6-9B2C-0F8B-1FD0-DDEEA9C34C93}"/>
              </a:ext>
            </a:extLst>
          </p:cNvPr>
          <p:cNvSpPr/>
          <p:nvPr/>
        </p:nvSpPr>
        <p:spPr>
          <a:xfrm>
            <a:off x="7073171" y="2172039"/>
            <a:ext cx="1013791" cy="336176"/>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F2A041CC-5062-4A76-9467-59B3E7FAA5A9}"/>
              </a:ext>
            </a:extLst>
          </p:cNvPr>
          <p:cNvSpPr/>
          <p:nvPr/>
        </p:nvSpPr>
        <p:spPr>
          <a:xfrm>
            <a:off x="506896" y="1255265"/>
            <a:ext cx="5263102" cy="20243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DA943809-669F-1FAC-4AC7-874F657726B7}"/>
              </a:ext>
            </a:extLst>
          </p:cNvPr>
          <p:cNvSpPr/>
          <p:nvPr/>
        </p:nvSpPr>
        <p:spPr>
          <a:xfrm>
            <a:off x="755374" y="1113183"/>
            <a:ext cx="1369261" cy="27829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200"/>
              <a:t>Ghost Module</a:t>
            </a:r>
            <a:endParaRPr kumimoji="1" lang="ja-JP" altLang="en-US" sz="1200"/>
          </a:p>
        </p:txBody>
      </p:sp>
      <p:pic>
        <p:nvPicPr>
          <p:cNvPr id="40" name="図 39">
            <a:extLst>
              <a:ext uri="{FF2B5EF4-FFF2-40B4-BE49-F238E27FC236}">
                <a16:creationId xmlns:a16="http://schemas.microsoft.com/office/drawing/2014/main" id="{62CAD642-AC54-5F37-72D3-8AFBCA1DF43A}"/>
              </a:ext>
            </a:extLst>
          </p:cNvPr>
          <p:cNvPicPr>
            <a:picLocks noChangeAspect="1"/>
          </p:cNvPicPr>
          <p:nvPr/>
        </p:nvPicPr>
        <p:blipFill>
          <a:blip r:embed="rId5"/>
          <a:srcRect t="3311"/>
          <a:stretch/>
        </p:blipFill>
        <p:spPr>
          <a:xfrm>
            <a:off x="816171" y="1431303"/>
            <a:ext cx="4664194" cy="1802297"/>
          </a:xfrm>
          <a:prstGeom prst="rect">
            <a:avLst/>
          </a:prstGeom>
        </p:spPr>
      </p:pic>
      <p:pic>
        <p:nvPicPr>
          <p:cNvPr id="13" name="図 12">
            <a:extLst>
              <a:ext uri="{FF2B5EF4-FFF2-40B4-BE49-F238E27FC236}">
                <a16:creationId xmlns:a16="http://schemas.microsoft.com/office/drawing/2014/main" id="{7ACFECD7-ECCC-808D-75BB-427A823C9CF8}"/>
              </a:ext>
            </a:extLst>
          </p:cNvPr>
          <p:cNvPicPr>
            <a:picLocks noChangeAspect="1"/>
          </p:cNvPicPr>
          <p:nvPr/>
        </p:nvPicPr>
        <p:blipFill>
          <a:blip r:embed="rId6"/>
          <a:stretch>
            <a:fillRect/>
          </a:stretch>
        </p:blipFill>
        <p:spPr>
          <a:xfrm>
            <a:off x="1149551" y="3588856"/>
            <a:ext cx="7676147" cy="3082217"/>
          </a:xfrm>
          <a:prstGeom prst="rect">
            <a:avLst/>
          </a:prstGeom>
        </p:spPr>
      </p:pic>
      <p:sp>
        <p:nvSpPr>
          <p:cNvPr id="14" name="四角形: 角を丸くする 13">
            <a:extLst>
              <a:ext uri="{FF2B5EF4-FFF2-40B4-BE49-F238E27FC236}">
                <a16:creationId xmlns:a16="http://schemas.microsoft.com/office/drawing/2014/main" id="{38954631-A4F4-7C03-9093-22C45A0C72EA}"/>
              </a:ext>
            </a:extLst>
          </p:cNvPr>
          <p:cNvSpPr/>
          <p:nvPr/>
        </p:nvSpPr>
        <p:spPr>
          <a:xfrm>
            <a:off x="2608932" y="5255271"/>
            <a:ext cx="529515" cy="423688"/>
          </a:xfrm>
          <a:prstGeom prst="roundRect">
            <a:avLst/>
          </a:prstGeom>
          <a:noFill/>
          <a:ln w="76200">
            <a:solidFill>
              <a:srgbClr val="FF505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F4E893F5-DF2A-7791-415D-E0B9690E4287}"/>
              </a:ext>
            </a:extLst>
          </p:cNvPr>
          <p:cNvSpPr/>
          <p:nvPr/>
        </p:nvSpPr>
        <p:spPr>
          <a:xfrm>
            <a:off x="3701075" y="5487575"/>
            <a:ext cx="870925" cy="624467"/>
          </a:xfrm>
          <a:prstGeom prst="roundRect">
            <a:avLst/>
          </a:prstGeom>
          <a:noFill/>
          <a:ln w="76200">
            <a:solidFill>
              <a:srgbClr val="FF505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BD7BD8E7-82AC-5B99-0364-F10B03991B6E}"/>
              </a:ext>
            </a:extLst>
          </p:cNvPr>
          <p:cNvSpPr/>
          <p:nvPr/>
        </p:nvSpPr>
        <p:spPr>
          <a:xfrm>
            <a:off x="6739608" y="4707679"/>
            <a:ext cx="529515" cy="844569"/>
          </a:xfrm>
          <a:prstGeom prst="roundRect">
            <a:avLst/>
          </a:prstGeom>
          <a:noFill/>
          <a:ln w="76200">
            <a:solidFill>
              <a:srgbClr val="FF505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7125D7ED-D677-108C-B86F-1946D7FB36E5}"/>
              </a:ext>
            </a:extLst>
          </p:cNvPr>
          <p:cNvSpPr txBox="1"/>
          <p:nvPr/>
        </p:nvSpPr>
        <p:spPr>
          <a:xfrm>
            <a:off x="8513393" y="6305637"/>
            <a:ext cx="569232" cy="400110"/>
          </a:xfrm>
          <a:prstGeom prst="rect">
            <a:avLst/>
          </a:prstGeom>
          <a:noFill/>
        </p:spPr>
        <p:txBody>
          <a:bodyPr wrap="square" rtlCol="0">
            <a:spAutoFit/>
          </a:bodyPr>
          <a:lstStyle/>
          <a:p>
            <a:r>
              <a:rPr kumimoji="1" lang="en-US" altLang="ja-JP" sz="2000" b="1"/>
              <a:t>12</a:t>
            </a:r>
            <a:endParaRPr kumimoji="1" lang="ja-JP" altLang="en-US" sz="2000" b="1"/>
          </a:p>
        </p:txBody>
      </p:sp>
    </p:spTree>
    <p:extLst>
      <p:ext uri="{BB962C8B-B14F-4D97-AF65-F5344CB8AC3E}">
        <p14:creationId xmlns:p14="http://schemas.microsoft.com/office/powerpoint/2010/main" val="463563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fade">
                                      <p:cBhvr>
                                        <p:cTn id="29" dur="500"/>
                                        <p:tgtEl>
                                          <p:spTgt spid="4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2" grpId="0" animBg="1"/>
      <p:bldP spid="15" grpId="0" animBg="1"/>
      <p:bldP spid="16" grpId="0" animBg="1"/>
      <p:bldP spid="14" grpId="0" animBg="1"/>
      <p:bldP spid="17"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DA183-D20A-D0CC-FDF6-09852073ECF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3A38BEA-B334-C68E-8EB9-CED41E5AF601}"/>
              </a:ext>
            </a:extLst>
          </p:cNvPr>
          <p:cNvSpPr>
            <a:spLocks noGrp="1"/>
          </p:cNvSpPr>
          <p:nvPr>
            <p:ph type="title"/>
          </p:nvPr>
        </p:nvSpPr>
        <p:spPr/>
        <p:txBody>
          <a:bodyPr>
            <a:normAutofit/>
          </a:bodyPr>
          <a:lstStyle/>
          <a:p>
            <a:r>
              <a:rPr kumimoji="1" lang="ja-JP" altLang="en-US" b="1"/>
              <a:t>提案手法</a:t>
            </a:r>
            <a:endParaRPr kumimoji="1" lang="ja-JP" altLang="en-US" sz="4000" b="1" dirty="0"/>
          </a:p>
        </p:txBody>
      </p:sp>
      <p:sp>
        <p:nvSpPr>
          <p:cNvPr id="11" name="正方形/長方形 10">
            <a:extLst>
              <a:ext uri="{FF2B5EF4-FFF2-40B4-BE49-F238E27FC236}">
                <a16:creationId xmlns:a16="http://schemas.microsoft.com/office/drawing/2014/main" id="{9A295334-94D7-FE91-E9CA-87D6481C23DE}"/>
              </a:ext>
            </a:extLst>
          </p:cNvPr>
          <p:cNvSpPr/>
          <p:nvPr/>
        </p:nvSpPr>
        <p:spPr>
          <a:xfrm>
            <a:off x="346709" y="1027056"/>
            <a:ext cx="8424311" cy="58758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000" b="1"/>
              <a:t>CSAR</a:t>
            </a:r>
            <a:r>
              <a:rPr lang="ja-JP" altLang="en-US" sz="2000" b="1"/>
              <a:t> </a:t>
            </a:r>
            <a:r>
              <a:rPr lang="en-US" altLang="ja-JP" sz="2000" b="1"/>
              <a:t>Block</a:t>
            </a:r>
            <a:r>
              <a:rPr lang="ja-JP" altLang="en-US" sz="2000" b="1"/>
              <a:t>の各アテンションの効果を比較</a:t>
            </a:r>
            <a:endParaRPr kumimoji="1" lang="ja-JP" altLang="en-US" sz="2000" b="1"/>
          </a:p>
        </p:txBody>
      </p:sp>
      <p:pic>
        <p:nvPicPr>
          <p:cNvPr id="5" name="図 4">
            <a:extLst>
              <a:ext uri="{FF2B5EF4-FFF2-40B4-BE49-F238E27FC236}">
                <a16:creationId xmlns:a16="http://schemas.microsoft.com/office/drawing/2014/main" id="{7E2BC51D-0951-2E7D-2BE5-690BE852953D}"/>
              </a:ext>
            </a:extLst>
          </p:cNvPr>
          <p:cNvPicPr>
            <a:picLocks noChangeAspect="1"/>
          </p:cNvPicPr>
          <p:nvPr/>
        </p:nvPicPr>
        <p:blipFill>
          <a:blip r:embed="rId3"/>
          <a:stretch>
            <a:fillRect/>
          </a:stretch>
        </p:blipFill>
        <p:spPr>
          <a:xfrm>
            <a:off x="346710" y="4225403"/>
            <a:ext cx="8779420" cy="2482065"/>
          </a:xfrm>
          <a:prstGeom prst="rect">
            <a:avLst/>
          </a:prstGeom>
        </p:spPr>
      </p:pic>
      <p:pic>
        <p:nvPicPr>
          <p:cNvPr id="9" name="図 8">
            <a:extLst>
              <a:ext uri="{FF2B5EF4-FFF2-40B4-BE49-F238E27FC236}">
                <a16:creationId xmlns:a16="http://schemas.microsoft.com/office/drawing/2014/main" id="{822216C3-7AB8-2FD0-5E7E-19CA8B8DDA9E}"/>
              </a:ext>
            </a:extLst>
          </p:cNvPr>
          <p:cNvPicPr>
            <a:picLocks noChangeAspect="1"/>
          </p:cNvPicPr>
          <p:nvPr/>
        </p:nvPicPr>
        <p:blipFill>
          <a:blip r:embed="rId4"/>
          <a:srcRect r="1993"/>
          <a:stretch/>
        </p:blipFill>
        <p:spPr>
          <a:xfrm>
            <a:off x="336761" y="1717768"/>
            <a:ext cx="8789369" cy="2482066"/>
          </a:xfrm>
          <a:prstGeom prst="rect">
            <a:avLst/>
          </a:prstGeom>
        </p:spPr>
      </p:pic>
      <p:sp>
        <p:nvSpPr>
          <p:cNvPr id="12" name="四角形: 角を丸くする 11">
            <a:extLst>
              <a:ext uri="{FF2B5EF4-FFF2-40B4-BE49-F238E27FC236}">
                <a16:creationId xmlns:a16="http://schemas.microsoft.com/office/drawing/2014/main" id="{BA46CB80-18FC-E3C0-71BE-86F602A1583B}"/>
              </a:ext>
            </a:extLst>
          </p:cNvPr>
          <p:cNvSpPr/>
          <p:nvPr/>
        </p:nvSpPr>
        <p:spPr>
          <a:xfrm>
            <a:off x="1902941" y="1124465"/>
            <a:ext cx="5325762" cy="358346"/>
          </a:xfrm>
          <a:prstGeom prst="round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1B349FD6-4758-6F78-1F57-07E4A5D6BE83}"/>
              </a:ext>
            </a:extLst>
          </p:cNvPr>
          <p:cNvSpPr txBox="1"/>
          <p:nvPr/>
        </p:nvSpPr>
        <p:spPr>
          <a:xfrm>
            <a:off x="360624" y="1027057"/>
            <a:ext cx="8410396" cy="870688"/>
          </a:xfrm>
          <a:prstGeom prst="rect">
            <a:avLst/>
          </a:prstGeom>
          <a:noFill/>
        </p:spPr>
        <p:txBody>
          <a:bodyPr wrap="square" rtlCol="0">
            <a:spAutoFit/>
          </a:bodyPr>
          <a:lstStyle/>
          <a:p>
            <a:pPr algn="ctr">
              <a:lnSpc>
                <a:spcPct val="150000"/>
              </a:lnSpc>
            </a:pPr>
            <a:r>
              <a:rPr lang="ja-JP" altLang="en-US" b="1"/>
              <a:t>分割数</a:t>
            </a:r>
            <a:r>
              <a:rPr lang="en-US" altLang="ja-JP" b="1"/>
              <a:t>(S=2)</a:t>
            </a:r>
            <a:r>
              <a:rPr lang="ja-JP" altLang="en-US" b="1"/>
              <a:t>と提案手法</a:t>
            </a:r>
            <a:r>
              <a:rPr lang="en-US" altLang="ja-JP" b="1"/>
              <a:t>(S=4)</a:t>
            </a:r>
            <a:r>
              <a:rPr lang="ja-JP" altLang="en-US" sz="1800" b="1"/>
              <a:t>の効果を比較</a:t>
            </a:r>
            <a:endParaRPr kumimoji="1" lang="ja-JP" altLang="en-US" sz="1800" b="1"/>
          </a:p>
          <a:p>
            <a:pPr algn="ctr">
              <a:lnSpc>
                <a:spcPct val="150000"/>
              </a:lnSpc>
            </a:pPr>
            <a:endParaRPr kumimoji="1" lang="ja-JP" altLang="en-US"/>
          </a:p>
        </p:txBody>
      </p:sp>
      <p:pic>
        <p:nvPicPr>
          <p:cNvPr id="14" name="図 13">
            <a:extLst>
              <a:ext uri="{FF2B5EF4-FFF2-40B4-BE49-F238E27FC236}">
                <a16:creationId xmlns:a16="http://schemas.microsoft.com/office/drawing/2014/main" id="{6B665875-C716-5AB4-6B15-D956E3F8782F}"/>
              </a:ext>
            </a:extLst>
          </p:cNvPr>
          <p:cNvPicPr>
            <a:picLocks noChangeAspect="1"/>
          </p:cNvPicPr>
          <p:nvPr/>
        </p:nvPicPr>
        <p:blipFill>
          <a:blip r:embed="rId5"/>
          <a:stretch>
            <a:fillRect/>
          </a:stretch>
        </p:blipFill>
        <p:spPr>
          <a:xfrm>
            <a:off x="1501408" y="4250973"/>
            <a:ext cx="6460952" cy="2594278"/>
          </a:xfrm>
          <a:prstGeom prst="rect">
            <a:avLst/>
          </a:prstGeom>
        </p:spPr>
      </p:pic>
      <p:pic>
        <p:nvPicPr>
          <p:cNvPr id="18" name="図 17">
            <a:extLst>
              <a:ext uri="{FF2B5EF4-FFF2-40B4-BE49-F238E27FC236}">
                <a16:creationId xmlns:a16="http://schemas.microsoft.com/office/drawing/2014/main" id="{8E3B72C7-57A0-018B-8B61-EFDE573E708D}"/>
              </a:ext>
            </a:extLst>
          </p:cNvPr>
          <p:cNvPicPr>
            <a:picLocks noChangeAspect="1"/>
          </p:cNvPicPr>
          <p:nvPr/>
        </p:nvPicPr>
        <p:blipFill>
          <a:blip r:embed="rId6"/>
          <a:stretch>
            <a:fillRect/>
          </a:stretch>
        </p:blipFill>
        <p:spPr>
          <a:xfrm>
            <a:off x="1501408" y="1695538"/>
            <a:ext cx="6460952" cy="2607426"/>
          </a:xfrm>
          <a:prstGeom prst="rect">
            <a:avLst/>
          </a:prstGeom>
        </p:spPr>
      </p:pic>
      <p:sp>
        <p:nvSpPr>
          <p:cNvPr id="19" name="四角形: 角を丸くする 18">
            <a:extLst>
              <a:ext uri="{FF2B5EF4-FFF2-40B4-BE49-F238E27FC236}">
                <a16:creationId xmlns:a16="http://schemas.microsoft.com/office/drawing/2014/main" id="{7589A1EF-0F33-648B-5681-31AC69A7A709}"/>
              </a:ext>
            </a:extLst>
          </p:cNvPr>
          <p:cNvSpPr/>
          <p:nvPr/>
        </p:nvSpPr>
        <p:spPr>
          <a:xfrm>
            <a:off x="1804086" y="1897745"/>
            <a:ext cx="951471" cy="407604"/>
          </a:xfrm>
          <a:prstGeom prst="roundRect">
            <a:avLst/>
          </a:prstGeom>
          <a:ln w="7620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b="1"/>
              <a:t>S=2</a:t>
            </a:r>
            <a:endParaRPr kumimoji="1" lang="ja-JP" altLang="en-US" b="1"/>
          </a:p>
        </p:txBody>
      </p:sp>
      <p:sp>
        <p:nvSpPr>
          <p:cNvPr id="20" name="四角形: 角を丸くする 19">
            <a:extLst>
              <a:ext uri="{FF2B5EF4-FFF2-40B4-BE49-F238E27FC236}">
                <a16:creationId xmlns:a16="http://schemas.microsoft.com/office/drawing/2014/main" id="{2BA484E8-E35C-C706-1924-F08CF685F23B}"/>
              </a:ext>
            </a:extLst>
          </p:cNvPr>
          <p:cNvSpPr/>
          <p:nvPr/>
        </p:nvSpPr>
        <p:spPr>
          <a:xfrm>
            <a:off x="1804085" y="4459470"/>
            <a:ext cx="951471" cy="407604"/>
          </a:xfrm>
          <a:prstGeom prst="roundRect">
            <a:avLst/>
          </a:prstGeom>
          <a:ln w="7620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b="1"/>
              <a:t>S=4</a:t>
            </a:r>
            <a:endParaRPr kumimoji="1" lang="ja-JP" altLang="en-US" b="1"/>
          </a:p>
        </p:txBody>
      </p:sp>
      <p:sp>
        <p:nvSpPr>
          <p:cNvPr id="21" name="四角形: 角を丸くする 20">
            <a:extLst>
              <a:ext uri="{FF2B5EF4-FFF2-40B4-BE49-F238E27FC236}">
                <a16:creationId xmlns:a16="http://schemas.microsoft.com/office/drawing/2014/main" id="{27327610-13C7-A7EC-3B23-A679C8748AB4}"/>
              </a:ext>
            </a:extLst>
          </p:cNvPr>
          <p:cNvSpPr/>
          <p:nvPr/>
        </p:nvSpPr>
        <p:spPr>
          <a:xfrm>
            <a:off x="2755556" y="2999251"/>
            <a:ext cx="1705233" cy="1069646"/>
          </a:xfrm>
          <a:prstGeom prst="roundRect">
            <a:avLst/>
          </a:prstGeom>
          <a:noFill/>
          <a:ln w="762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20FBFBF5-7EE3-DFCC-C4AB-257342090489}"/>
              </a:ext>
            </a:extLst>
          </p:cNvPr>
          <p:cNvSpPr/>
          <p:nvPr/>
        </p:nvSpPr>
        <p:spPr>
          <a:xfrm>
            <a:off x="2755556" y="5544254"/>
            <a:ext cx="1705233" cy="1069646"/>
          </a:xfrm>
          <a:prstGeom prst="roundRect">
            <a:avLst/>
          </a:prstGeom>
          <a:noFill/>
          <a:ln w="762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3" name="四角形: 角を丸くする 22">
            <a:extLst>
              <a:ext uri="{FF2B5EF4-FFF2-40B4-BE49-F238E27FC236}">
                <a16:creationId xmlns:a16="http://schemas.microsoft.com/office/drawing/2014/main" id="{BB99F040-E75A-97B9-C15E-DCDB123DF06F}"/>
              </a:ext>
            </a:extLst>
          </p:cNvPr>
          <p:cNvSpPr/>
          <p:nvPr/>
        </p:nvSpPr>
        <p:spPr>
          <a:xfrm>
            <a:off x="6082638" y="2558353"/>
            <a:ext cx="701221" cy="1069646"/>
          </a:xfrm>
          <a:prstGeom prst="roundRect">
            <a:avLst/>
          </a:prstGeom>
          <a:noFill/>
          <a:ln w="762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8DD58DF2-ACAD-DE1C-29D6-0EA89A0AFAAD}"/>
              </a:ext>
            </a:extLst>
          </p:cNvPr>
          <p:cNvSpPr/>
          <p:nvPr/>
        </p:nvSpPr>
        <p:spPr>
          <a:xfrm>
            <a:off x="6082638" y="5052037"/>
            <a:ext cx="701221" cy="1069646"/>
          </a:xfrm>
          <a:prstGeom prst="roundRect">
            <a:avLst/>
          </a:prstGeom>
          <a:noFill/>
          <a:ln w="762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3DD888CE-7F7B-0105-F8E1-271B1586B7D3}"/>
              </a:ext>
            </a:extLst>
          </p:cNvPr>
          <p:cNvSpPr txBox="1"/>
          <p:nvPr/>
        </p:nvSpPr>
        <p:spPr>
          <a:xfrm>
            <a:off x="8647276" y="6457890"/>
            <a:ext cx="569232" cy="400110"/>
          </a:xfrm>
          <a:prstGeom prst="rect">
            <a:avLst/>
          </a:prstGeom>
          <a:noFill/>
        </p:spPr>
        <p:txBody>
          <a:bodyPr wrap="square" rtlCol="0">
            <a:spAutoFit/>
          </a:bodyPr>
          <a:lstStyle/>
          <a:p>
            <a:r>
              <a:rPr kumimoji="1" lang="en-US" altLang="ja-JP" sz="2000" b="1"/>
              <a:t>13</a:t>
            </a:r>
            <a:endParaRPr kumimoji="1" lang="ja-JP" altLang="en-US" sz="2000" b="1"/>
          </a:p>
        </p:txBody>
      </p:sp>
    </p:spTree>
    <p:extLst>
      <p:ext uri="{BB962C8B-B14F-4D97-AF65-F5344CB8AC3E}">
        <p14:creationId xmlns:p14="http://schemas.microsoft.com/office/powerpoint/2010/main" val="4207137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5"/>
                                        </p:tgtEl>
                                      </p:cBhvr>
                                    </p:animEffect>
                                    <p:set>
                                      <p:cBhvr>
                                        <p:cTn id="10" dur="1" fill="hold">
                                          <p:stCondLst>
                                            <p:cond delay="499"/>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down)">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down)">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9" grpId="0" animBg="1"/>
      <p:bldP spid="20" grpId="0" animBg="1"/>
      <p:bldP spid="21" grpId="0" animBg="1"/>
      <p:bldP spid="22" grpId="0" animBg="1"/>
      <p:bldP spid="23" grpId="0" animBg="1"/>
      <p:bldP spid="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A1BFE-271B-A253-9FFF-410963DEE5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8F922D2-3062-BD6E-1901-C7F9CAD2A708}"/>
              </a:ext>
            </a:extLst>
          </p:cNvPr>
          <p:cNvSpPr>
            <a:spLocks noGrp="1"/>
          </p:cNvSpPr>
          <p:nvPr>
            <p:ph type="title"/>
          </p:nvPr>
        </p:nvSpPr>
        <p:spPr/>
        <p:txBody>
          <a:bodyPr>
            <a:normAutofit/>
          </a:bodyPr>
          <a:lstStyle/>
          <a:p>
            <a:r>
              <a:rPr lang="ja-JP" altLang="en-US" sz="4000" b="1"/>
              <a:t>実験概要</a:t>
            </a:r>
            <a:endParaRPr kumimoji="1" lang="ja-JP" altLang="en-US" sz="4000" b="1" dirty="0"/>
          </a:p>
        </p:txBody>
      </p:sp>
      <p:sp>
        <p:nvSpPr>
          <p:cNvPr id="3" name="テキスト ボックス 2">
            <a:extLst>
              <a:ext uri="{FF2B5EF4-FFF2-40B4-BE49-F238E27FC236}">
                <a16:creationId xmlns:a16="http://schemas.microsoft.com/office/drawing/2014/main" id="{B797C31A-68D2-A24B-1331-DC144E6CF314}"/>
              </a:ext>
            </a:extLst>
          </p:cNvPr>
          <p:cNvSpPr txBox="1"/>
          <p:nvPr/>
        </p:nvSpPr>
        <p:spPr>
          <a:xfrm>
            <a:off x="773723" y="1095131"/>
            <a:ext cx="7833430" cy="4893647"/>
          </a:xfrm>
          <a:prstGeom prst="rect">
            <a:avLst/>
          </a:prstGeom>
          <a:noFill/>
        </p:spPr>
        <p:txBody>
          <a:bodyPr wrap="square">
            <a:spAutoFit/>
          </a:bodyPr>
          <a:lstStyle/>
          <a:p>
            <a:r>
              <a:rPr lang="ja-JP" altLang="en-US" sz="2400" dirty="0">
                <a:latin typeface="+mj-ea"/>
                <a:ea typeface="+mj-ea"/>
              </a:rPr>
              <a:t>データセット</a:t>
            </a:r>
            <a:endParaRPr lang="en-US" altLang="ja-JP" sz="2400" dirty="0">
              <a:latin typeface="+mj-ea"/>
              <a:ea typeface="+mj-ea"/>
            </a:endParaRPr>
          </a:p>
          <a:p>
            <a:r>
              <a:rPr lang="en-US" altLang="ja-JP" sz="2400">
                <a:latin typeface="+mj-ea"/>
                <a:ea typeface="+mj-ea"/>
              </a:rPr>
              <a:t>CIFAR-10</a:t>
            </a:r>
            <a:endParaRPr lang="en-US" altLang="ja-JP" sz="2400" dirty="0">
              <a:latin typeface="+mj-ea"/>
              <a:ea typeface="+mj-ea"/>
            </a:endParaRPr>
          </a:p>
          <a:p>
            <a:pPr algn="ctr"/>
            <a:r>
              <a:rPr lang="ja-JP" altLang="en-US" sz="2400">
                <a:latin typeface="+mj-ea"/>
                <a:ea typeface="+mj-ea"/>
              </a:rPr>
              <a:t>訓練データ</a:t>
            </a:r>
            <a:r>
              <a:rPr lang="en-US" altLang="ja-JP" sz="2400">
                <a:latin typeface="+mj-ea"/>
                <a:ea typeface="+mj-ea"/>
              </a:rPr>
              <a:t>50000</a:t>
            </a:r>
            <a:r>
              <a:rPr lang="ja-JP" altLang="en-US" sz="2400">
                <a:latin typeface="+mj-ea"/>
                <a:ea typeface="+mj-ea"/>
              </a:rPr>
              <a:t>枚</a:t>
            </a:r>
            <a:endParaRPr lang="en-US" altLang="ja-JP" sz="2400">
              <a:latin typeface="+mj-ea"/>
              <a:ea typeface="+mj-ea"/>
            </a:endParaRPr>
          </a:p>
          <a:p>
            <a:pPr algn="ctr"/>
            <a:r>
              <a:rPr lang="ja-JP" altLang="en-US" sz="2400">
                <a:latin typeface="+mj-ea"/>
                <a:ea typeface="+mj-ea"/>
              </a:rPr>
              <a:t>テストデータ</a:t>
            </a:r>
            <a:r>
              <a:rPr lang="en-US" altLang="ja-JP" sz="2400">
                <a:latin typeface="+mj-ea"/>
                <a:ea typeface="+mj-ea"/>
              </a:rPr>
              <a:t>10000</a:t>
            </a:r>
            <a:r>
              <a:rPr lang="ja-JP" altLang="en-US" sz="2400">
                <a:latin typeface="+mj-ea"/>
                <a:ea typeface="+mj-ea"/>
              </a:rPr>
              <a:t>枚</a:t>
            </a:r>
            <a:endParaRPr lang="en-US" altLang="ja-JP" sz="2400">
              <a:latin typeface="+mj-ea"/>
              <a:ea typeface="+mj-ea"/>
            </a:endParaRPr>
          </a:p>
          <a:p>
            <a:endParaRPr lang="en-US" altLang="ja-JP" sz="2400" dirty="0">
              <a:latin typeface="+mj-ea"/>
              <a:ea typeface="+mj-ea"/>
            </a:endParaRPr>
          </a:p>
          <a:p>
            <a:r>
              <a:rPr lang="ja-JP" altLang="en-US" sz="2400" dirty="0">
                <a:latin typeface="+mj-ea"/>
                <a:ea typeface="+mj-ea"/>
              </a:rPr>
              <a:t>評価</a:t>
            </a:r>
            <a:endParaRPr lang="en-US" altLang="ja-JP" sz="2400" dirty="0">
              <a:latin typeface="+mj-ea"/>
              <a:ea typeface="+mj-ea"/>
            </a:endParaRPr>
          </a:p>
          <a:p>
            <a:r>
              <a:rPr lang="ja-JP" altLang="en-US" sz="2400">
                <a:latin typeface="+mj-ea"/>
                <a:ea typeface="+mj-ea"/>
              </a:rPr>
              <a:t>・</a:t>
            </a:r>
            <a:r>
              <a:rPr lang="ja-JP" altLang="en-US" sz="2400" dirty="0">
                <a:latin typeface="+mj-ea"/>
                <a:ea typeface="+mj-ea"/>
              </a:rPr>
              <a:t>テスト精度　・</a:t>
            </a:r>
            <a:r>
              <a:rPr lang="ja-JP" altLang="en-US" sz="2400">
                <a:latin typeface="+mj-ea"/>
                <a:ea typeface="+mj-ea"/>
              </a:rPr>
              <a:t>計測時間</a:t>
            </a:r>
            <a:endParaRPr lang="en-US" altLang="ja-JP" sz="2400">
              <a:latin typeface="+mj-ea"/>
              <a:ea typeface="+mj-ea"/>
            </a:endParaRPr>
          </a:p>
          <a:p>
            <a:endParaRPr lang="en-US" altLang="ja-JP" sz="2400">
              <a:latin typeface="+mj-ea"/>
              <a:ea typeface="+mj-ea"/>
            </a:endParaRPr>
          </a:p>
          <a:p>
            <a:r>
              <a:rPr lang="ja-JP" altLang="en-US" sz="2400">
                <a:latin typeface="+mj-ea"/>
                <a:ea typeface="+mj-ea"/>
              </a:rPr>
              <a:t>各モデルのハイパーパラメータ</a:t>
            </a:r>
            <a:endParaRPr lang="en-US" altLang="ja-JP" sz="2400">
              <a:latin typeface="+mj-ea"/>
              <a:ea typeface="+mj-ea"/>
            </a:endParaRPr>
          </a:p>
          <a:p>
            <a:pPr algn="ctr"/>
            <a:r>
              <a:rPr lang="en-US" altLang="ja-JP" sz="2400">
                <a:latin typeface="+mj-ea"/>
                <a:ea typeface="+mj-ea"/>
              </a:rPr>
              <a:t>Epoc</a:t>
            </a:r>
            <a:r>
              <a:rPr lang="ja-JP" altLang="en-US" sz="2400">
                <a:latin typeface="+mj-ea"/>
                <a:ea typeface="+mj-ea"/>
              </a:rPr>
              <a:t>数：</a:t>
            </a:r>
            <a:r>
              <a:rPr lang="en-US" altLang="ja-JP" sz="2400">
                <a:latin typeface="+mj-ea"/>
                <a:ea typeface="+mj-ea"/>
              </a:rPr>
              <a:t>10</a:t>
            </a:r>
          </a:p>
          <a:p>
            <a:pPr algn="ctr"/>
            <a:r>
              <a:rPr lang="ja-JP" altLang="en-US" sz="2400">
                <a:latin typeface="+mj-ea"/>
                <a:ea typeface="+mj-ea"/>
              </a:rPr>
              <a:t>バッチサイズ：</a:t>
            </a:r>
            <a:r>
              <a:rPr lang="en-US" altLang="ja-JP" sz="2400">
                <a:latin typeface="+mj-ea"/>
                <a:ea typeface="+mj-ea"/>
              </a:rPr>
              <a:t>40</a:t>
            </a:r>
          </a:p>
          <a:p>
            <a:pPr algn="ctr"/>
            <a:r>
              <a:rPr lang="ja-JP" altLang="en-US" sz="2400">
                <a:latin typeface="+mj-ea"/>
                <a:ea typeface="+mj-ea"/>
              </a:rPr>
              <a:t>学習率：</a:t>
            </a:r>
            <a:r>
              <a:rPr lang="en-US" altLang="ja-JP" sz="2400">
                <a:latin typeface="+mj-ea"/>
                <a:ea typeface="+mj-ea"/>
              </a:rPr>
              <a:t>0.06</a:t>
            </a:r>
          </a:p>
          <a:p>
            <a:endParaRPr lang="ja-JP" altLang="en-US" sz="2400" dirty="0">
              <a:latin typeface="+mj-ea"/>
              <a:ea typeface="+mj-ea"/>
            </a:endParaRPr>
          </a:p>
        </p:txBody>
      </p:sp>
      <p:sp>
        <p:nvSpPr>
          <p:cNvPr id="7" name="テキスト ボックス 6">
            <a:extLst>
              <a:ext uri="{FF2B5EF4-FFF2-40B4-BE49-F238E27FC236}">
                <a16:creationId xmlns:a16="http://schemas.microsoft.com/office/drawing/2014/main" id="{BA12253A-5FDA-D913-2E91-146782189A0C}"/>
              </a:ext>
            </a:extLst>
          </p:cNvPr>
          <p:cNvSpPr txBox="1"/>
          <p:nvPr/>
        </p:nvSpPr>
        <p:spPr>
          <a:xfrm>
            <a:off x="8513393" y="6305637"/>
            <a:ext cx="569232" cy="400110"/>
          </a:xfrm>
          <a:prstGeom prst="rect">
            <a:avLst/>
          </a:prstGeom>
          <a:noFill/>
        </p:spPr>
        <p:txBody>
          <a:bodyPr wrap="square" rtlCol="0">
            <a:spAutoFit/>
          </a:bodyPr>
          <a:lstStyle/>
          <a:p>
            <a:r>
              <a:rPr kumimoji="1" lang="en-US" altLang="ja-JP" sz="2000" b="1"/>
              <a:t>14</a:t>
            </a:r>
            <a:endParaRPr kumimoji="1" lang="ja-JP" altLang="en-US" sz="2000" b="1"/>
          </a:p>
        </p:txBody>
      </p:sp>
    </p:spTree>
    <p:extLst>
      <p:ext uri="{BB962C8B-B14F-4D97-AF65-F5344CB8AC3E}">
        <p14:creationId xmlns:p14="http://schemas.microsoft.com/office/powerpoint/2010/main" val="1059400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16125-F04C-F848-CEDA-0732D401E18F}"/>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999A96F7-18A2-6F8A-6B01-F7045C9D626F}"/>
              </a:ext>
            </a:extLst>
          </p:cNvPr>
          <p:cNvSpPr>
            <a:spLocks noGrp="1"/>
          </p:cNvSpPr>
          <p:nvPr>
            <p:ph type="title"/>
          </p:nvPr>
        </p:nvSpPr>
        <p:spPr>
          <a:xfrm>
            <a:off x="914400" y="150532"/>
            <a:ext cx="8049987" cy="773394"/>
          </a:xfrm>
        </p:spPr>
        <p:txBody>
          <a:bodyPr>
            <a:normAutofit/>
          </a:bodyPr>
          <a:lstStyle/>
          <a:p>
            <a:r>
              <a:rPr kumimoji="1" lang="ja-JP" altLang="en-US" b="1"/>
              <a:t>実験結果</a:t>
            </a:r>
            <a:endParaRPr kumimoji="1" lang="ja-JP" altLang="en-US" sz="4000" b="1" dirty="0"/>
          </a:p>
        </p:txBody>
      </p:sp>
      <p:sp>
        <p:nvSpPr>
          <p:cNvPr id="3" name="テキスト ボックス 2">
            <a:extLst>
              <a:ext uri="{FF2B5EF4-FFF2-40B4-BE49-F238E27FC236}">
                <a16:creationId xmlns:a16="http://schemas.microsoft.com/office/drawing/2014/main" id="{8A5C3807-73A6-DA78-2E66-3BC5CF6EE306}"/>
              </a:ext>
            </a:extLst>
          </p:cNvPr>
          <p:cNvSpPr txBox="1"/>
          <p:nvPr/>
        </p:nvSpPr>
        <p:spPr>
          <a:xfrm>
            <a:off x="369243" y="4479308"/>
            <a:ext cx="2331193" cy="461665"/>
          </a:xfrm>
          <a:prstGeom prst="rect">
            <a:avLst/>
          </a:prstGeom>
          <a:noFill/>
        </p:spPr>
        <p:txBody>
          <a:bodyPr wrap="square" rtlCol="0">
            <a:spAutoFit/>
          </a:bodyPr>
          <a:lstStyle/>
          <a:p>
            <a:r>
              <a:rPr lang="ja-JP" altLang="en-US" sz="2400" b="1" i="1" u="sng" dirty="0"/>
              <a:t>結果のまとめ</a:t>
            </a:r>
          </a:p>
        </p:txBody>
      </p:sp>
      <p:sp>
        <p:nvSpPr>
          <p:cNvPr id="30" name="テキスト ボックス 29">
            <a:extLst>
              <a:ext uri="{FF2B5EF4-FFF2-40B4-BE49-F238E27FC236}">
                <a16:creationId xmlns:a16="http://schemas.microsoft.com/office/drawing/2014/main" id="{E5D92981-69C4-94D3-A47C-5400A2720A1B}"/>
              </a:ext>
            </a:extLst>
          </p:cNvPr>
          <p:cNvSpPr txBox="1"/>
          <p:nvPr/>
        </p:nvSpPr>
        <p:spPr>
          <a:xfrm>
            <a:off x="743587" y="4943999"/>
            <a:ext cx="7875628" cy="1569660"/>
          </a:xfrm>
          <a:prstGeom prst="rect">
            <a:avLst/>
          </a:prstGeom>
          <a:noFill/>
        </p:spPr>
        <p:txBody>
          <a:bodyPr wrap="square">
            <a:spAutoFit/>
          </a:bodyPr>
          <a:lstStyle/>
          <a:p>
            <a:r>
              <a:rPr lang="en-US" altLang="ja-JP" sz="2400" dirty="0" err="1"/>
              <a:t>GhostNet</a:t>
            </a:r>
            <a:r>
              <a:rPr lang="ja-JP" altLang="en-US" sz="2400" dirty="0"/>
              <a:t>　</a:t>
            </a:r>
            <a:r>
              <a:rPr lang="ja-JP" altLang="en-US" sz="2400"/>
              <a:t>➡　</a:t>
            </a:r>
            <a:r>
              <a:rPr lang="en-US" altLang="ja-JP" sz="2400"/>
              <a:t>ResNet</a:t>
            </a:r>
            <a:r>
              <a:rPr lang="ja-JP" altLang="en-US" sz="2400"/>
              <a:t>の約</a:t>
            </a:r>
            <a:r>
              <a:rPr lang="en-US" altLang="ja-JP" sz="2400"/>
              <a:t>0.0093</a:t>
            </a:r>
            <a:r>
              <a:rPr lang="ja-JP" altLang="en-US" sz="2400"/>
              <a:t>精度が向上</a:t>
            </a:r>
            <a:endParaRPr lang="en-US" altLang="ja-JP" sz="2400" dirty="0"/>
          </a:p>
          <a:p>
            <a:r>
              <a:rPr lang="ja-JP" altLang="en-US" sz="2400"/>
              <a:t>提案手法　  ➡　</a:t>
            </a:r>
            <a:r>
              <a:rPr lang="en-US" altLang="ja-JP" sz="2400"/>
              <a:t>ResNet</a:t>
            </a:r>
            <a:r>
              <a:rPr lang="ja-JP" altLang="en-US" sz="2400"/>
              <a:t>の約</a:t>
            </a:r>
            <a:r>
              <a:rPr lang="en-US" altLang="ja-JP" sz="2400"/>
              <a:t>0.0135</a:t>
            </a:r>
            <a:r>
              <a:rPr lang="ja-JP" altLang="en-US" sz="2400"/>
              <a:t>精度が向上</a:t>
            </a:r>
            <a:endParaRPr lang="en-US" altLang="ja-JP" sz="2400"/>
          </a:p>
          <a:p>
            <a:r>
              <a:rPr lang="ja-JP" altLang="en-US" sz="2400"/>
              <a:t>                           </a:t>
            </a:r>
            <a:r>
              <a:rPr lang="en-US" altLang="ja-JP" sz="2400"/>
              <a:t>Test</a:t>
            </a:r>
            <a:r>
              <a:rPr lang="ja-JP" altLang="en-US" sz="2400"/>
              <a:t>精度に対する</a:t>
            </a:r>
            <a:r>
              <a:rPr lang="ja-JP" altLang="en-US" sz="2400">
                <a:solidFill>
                  <a:srgbClr val="FF0000"/>
                </a:solidFill>
              </a:rPr>
              <a:t>汎化性能の改善</a:t>
            </a:r>
            <a:endParaRPr lang="en-US" altLang="ja-JP" sz="2400">
              <a:solidFill>
                <a:srgbClr val="FF0000"/>
              </a:solidFill>
            </a:endParaRPr>
          </a:p>
          <a:p>
            <a:endParaRPr lang="en-US" altLang="ja-JP" sz="2400"/>
          </a:p>
        </p:txBody>
      </p:sp>
      <p:pic>
        <p:nvPicPr>
          <p:cNvPr id="16" name="図 15">
            <a:extLst>
              <a:ext uri="{FF2B5EF4-FFF2-40B4-BE49-F238E27FC236}">
                <a16:creationId xmlns:a16="http://schemas.microsoft.com/office/drawing/2014/main" id="{9D43CA4C-FCA1-1BD7-BCAF-722EDF7F2746}"/>
              </a:ext>
            </a:extLst>
          </p:cNvPr>
          <p:cNvPicPr>
            <a:picLocks noChangeAspect="1"/>
          </p:cNvPicPr>
          <p:nvPr/>
        </p:nvPicPr>
        <p:blipFill>
          <a:blip r:embed="rId3"/>
          <a:stretch>
            <a:fillRect/>
          </a:stretch>
        </p:blipFill>
        <p:spPr>
          <a:xfrm>
            <a:off x="290823" y="1742551"/>
            <a:ext cx="8781157" cy="1655573"/>
          </a:xfrm>
          <a:prstGeom prst="rect">
            <a:avLst/>
          </a:prstGeom>
        </p:spPr>
      </p:pic>
      <p:sp>
        <p:nvSpPr>
          <p:cNvPr id="17" name="正方形/長方形 16">
            <a:extLst>
              <a:ext uri="{FF2B5EF4-FFF2-40B4-BE49-F238E27FC236}">
                <a16:creationId xmlns:a16="http://schemas.microsoft.com/office/drawing/2014/main" id="{13F0F1F9-CDF5-5754-3CD9-047B7543BBB9}"/>
              </a:ext>
            </a:extLst>
          </p:cNvPr>
          <p:cNvSpPr/>
          <p:nvPr/>
        </p:nvSpPr>
        <p:spPr>
          <a:xfrm>
            <a:off x="7650953" y="2570337"/>
            <a:ext cx="1421027" cy="393865"/>
          </a:xfrm>
          <a:prstGeom prst="rect">
            <a:avLst/>
          </a:prstGeom>
          <a:solidFill>
            <a:srgbClr val="FF0000">
              <a:alpha val="20000"/>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85E15780-AD3B-5F61-26DF-81A3F902E505}"/>
              </a:ext>
            </a:extLst>
          </p:cNvPr>
          <p:cNvSpPr/>
          <p:nvPr/>
        </p:nvSpPr>
        <p:spPr>
          <a:xfrm>
            <a:off x="7650952" y="2964202"/>
            <a:ext cx="1421027" cy="393865"/>
          </a:xfrm>
          <a:prstGeom prst="rect">
            <a:avLst/>
          </a:prstGeom>
          <a:solidFill>
            <a:srgbClr val="FF0000">
              <a:alpha val="20000"/>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0EE9D7CB-5B55-1724-E1E4-00E7055189A7}"/>
              </a:ext>
            </a:extLst>
          </p:cNvPr>
          <p:cNvSpPr/>
          <p:nvPr/>
        </p:nvSpPr>
        <p:spPr>
          <a:xfrm>
            <a:off x="6229924" y="2964201"/>
            <a:ext cx="1421027" cy="393865"/>
          </a:xfrm>
          <a:prstGeom prst="rect">
            <a:avLst/>
          </a:prstGeom>
          <a:solidFill>
            <a:srgbClr val="FF0000">
              <a:alpha val="20000"/>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75785100-03AF-4831-A90A-9B9393062371}"/>
              </a:ext>
            </a:extLst>
          </p:cNvPr>
          <p:cNvSpPr txBox="1"/>
          <p:nvPr/>
        </p:nvSpPr>
        <p:spPr>
          <a:xfrm>
            <a:off x="2986270" y="6051994"/>
            <a:ext cx="4774082" cy="461665"/>
          </a:xfrm>
          <a:prstGeom prst="rect">
            <a:avLst/>
          </a:prstGeom>
          <a:noFill/>
        </p:spPr>
        <p:txBody>
          <a:bodyPr wrap="square">
            <a:spAutoFit/>
          </a:bodyPr>
          <a:lstStyle/>
          <a:p>
            <a:r>
              <a:rPr lang="ja-JP" altLang="en-US" sz="2400"/>
              <a:t>計測時間の</a:t>
            </a:r>
            <a:r>
              <a:rPr lang="ja-JP" altLang="en-US" sz="2400">
                <a:solidFill>
                  <a:srgbClr val="0070C0"/>
                </a:solidFill>
              </a:rPr>
              <a:t>大幅な増加</a:t>
            </a:r>
            <a:endParaRPr lang="ja-JP" altLang="en-US" sz="2400" dirty="0">
              <a:solidFill>
                <a:srgbClr val="0070C0"/>
              </a:solidFill>
            </a:endParaRPr>
          </a:p>
        </p:txBody>
      </p:sp>
      <p:sp>
        <p:nvSpPr>
          <p:cNvPr id="26" name="テキスト ボックス 25">
            <a:extLst>
              <a:ext uri="{FF2B5EF4-FFF2-40B4-BE49-F238E27FC236}">
                <a16:creationId xmlns:a16="http://schemas.microsoft.com/office/drawing/2014/main" id="{8E1F87A3-5D93-5001-367F-EA6C1E900173}"/>
              </a:ext>
            </a:extLst>
          </p:cNvPr>
          <p:cNvSpPr txBox="1"/>
          <p:nvPr/>
        </p:nvSpPr>
        <p:spPr>
          <a:xfrm>
            <a:off x="8513393" y="6305637"/>
            <a:ext cx="569232" cy="400110"/>
          </a:xfrm>
          <a:prstGeom prst="rect">
            <a:avLst/>
          </a:prstGeom>
          <a:noFill/>
        </p:spPr>
        <p:txBody>
          <a:bodyPr wrap="square" rtlCol="0">
            <a:spAutoFit/>
          </a:bodyPr>
          <a:lstStyle/>
          <a:p>
            <a:r>
              <a:rPr kumimoji="1" lang="en-US" altLang="ja-JP" sz="2000" b="1"/>
              <a:t>15</a:t>
            </a:r>
            <a:endParaRPr kumimoji="1" lang="ja-JP" altLang="en-US" sz="2000" b="1"/>
          </a:p>
        </p:txBody>
      </p:sp>
    </p:spTree>
    <p:extLst>
      <p:ext uri="{BB962C8B-B14F-4D97-AF65-F5344CB8AC3E}">
        <p14:creationId xmlns:p14="http://schemas.microsoft.com/office/powerpoint/2010/main" val="2607542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0" grpId="0"/>
      <p:bldP spid="17" grpId="0" animBg="1"/>
      <p:bldP spid="19" grpId="0" animBg="1"/>
      <p:bldP spid="20" grpId="0" animBg="1"/>
      <p:bldP spid="2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C0488-447C-2CC3-E416-86BAD46C1046}"/>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B3221C24-D164-F8CE-5834-89805619F845}"/>
              </a:ext>
            </a:extLst>
          </p:cNvPr>
          <p:cNvSpPr>
            <a:spLocks noGrp="1"/>
          </p:cNvSpPr>
          <p:nvPr>
            <p:ph type="title"/>
          </p:nvPr>
        </p:nvSpPr>
        <p:spPr>
          <a:xfrm>
            <a:off x="914400" y="150532"/>
            <a:ext cx="8049987" cy="773394"/>
          </a:xfrm>
        </p:spPr>
        <p:txBody>
          <a:bodyPr>
            <a:normAutofit/>
          </a:bodyPr>
          <a:lstStyle/>
          <a:p>
            <a:r>
              <a:rPr kumimoji="1" lang="ja-JP" altLang="en-US" b="1"/>
              <a:t>実験結果</a:t>
            </a:r>
            <a:endParaRPr kumimoji="1" lang="ja-JP" altLang="en-US" sz="4000" b="1" dirty="0"/>
          </a:p>
        </p:txBody>
      </p:sp>
      <p:pic>
        <p:nvPicPr>
          <p:cNvPr id="2" name="図 1">
            <a:extLst>
              <a:ext uri="{FF2B5EF4-FFF2-40B4-BE49-F238E27FC236}">
                <a16:creationId xmlns:a16="http://schemas.microsoft.com/office/drawing/2014/main" id="{224ED8DC-B445-7282-EA31-BC0F28FB43B4}"/>
              </a:ext>
            </a:extLst>
          </p:cNvPr>
          <p:cNvPicPr>
            <a:picLocks noChangeAspect="1"/>
          </p:cNvPicPr>
          <p:nvPr/>
        </p:nvPicPr>
        <p:blipFill>
          <a:blip r:embed="rId3"/>
          <a:stretch>
            <a:fillRect/>
          </a:stretch>
        </p:blipFill>
        <p:spPr>
          <a:xfrm>
            <a:off x="400721" y="1617638"/>
            <a:ext cx="8563666" cy="2389560"/>
          </a:xfrm>
          <a:prstGeom prst="rect">
            <a:avLst/>
          </a:prstGeom>
        </p:spPr>
      </p:pic>
      <p:sp>
        <p:nvSpPr>
          <p:cNvPr id="8" name="正方形/長方形 7">
            <a:extLst>
              <a:ext uri="{FF2B5EF4-FFF2-40B4-BE49-F238E27FC236}">
                <a16:creationId xmlns:a16="http://schemas.microsoft.com/office/drawing/2014/main" id="{FD8B5386-24FE-AF3C-D0D7-6C3DD0B9DDB0}"/>
              </a:ext>
            </a:extLst>
          </p:cNvPr>
          <p:cNvSpPr/>
          <p:nvPr/>
        </p:nvSpPr>
        <p:spPr>
          <a:xfrm>
            <a:off x="7549978" y="3583459"/>
            <a:ext cx="1368291" cy="368392"/>
          </a:xfrm>
          <a:prstGeom prst="rect">
            <a:avLst/>
          </a:prstGeom>
          <a:solidFill>
            <a:srgbClr val="FF0000">
              <a:alpha val="20000"/>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0CF2F8DB-25CF-EBE2-C726-3412B82A98B1}"/>
              </a:ext>
            </a:extLst>
          </p:cNvPr>
          <p:cNvSpPr/>
          <p:nvPr/>
        </p:nvSpPr>
        <p:spPr>
          <a:xfrm>
            <a:off x="7549977" y="2444026"/>
            <a:ext cx="1368291" cy="368392"/>
          </a:xfrm>
          <a:prstGeom prst="rect">
            <a:avLst/>
          </a:prstGeom>
          <a:solidFill>
            <a:srgbClr val="FF0000">
              <a:alpha val="20000"/>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414D80A-6C73-22EF-2D11-3338E14F4B59}"/>
              </a:ext>
            </a:extLst>
          </p:cNvPr>
          <p:cNvSpPr/>
          <p:nvPr/>
        </p:nvSpPr>
        <p:spPr>
          <a:xfrm>
            <a:off x="7549977" y="2074121"/>
            <a:ext cx="1368291" cy="368392"/>
          </a:xfrm>
          <a:prstGeom prst="rect">
            <a:avLst/>
          </a:prstGeom>
          <a:solidFill>
            <a:srgbClr val="FF0000">
              <a:alpha val="20000"/>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77A11C3F-1F20-3F4D-36BC-31A8F79A80D8}"/>
              </a:ext>
            </a:extLst>
          </p:cNvPr>
          <p:cNvSpPr txBox="1"/>
          <p:nvPr/>
        </p:nvSpPr>
        <p:spPr>
          <a:xfrm>
            <a:off x="743587" y="4943999"/>
            <a:ext cx="7875628" cy="1200329"/>
          </a:xfrm>
          <a:prstGeom prst="rect">
            <a:avLst/>
          </a:prstGeom>
          <a:noFill/>
        </p:spPr>
        <p:txBody>
          <a:bodyPr wrap="square">
            <a:spAutoFit/>
          </a:bodyPr>
          <a:lstStyle/>
          <a:p>
            <a:r>
              <a:rPr lang="en-US" altLang="ja-JP" sz="2400"/>
              <a:t>GhostNet</a:t>
            </a:r>
            <a:r>
              <a:rPr lang="ja-JP" altLang="en-US" sz="2400"/>
              <a:t>　➡　性能維持、大幅な計測時間の軽減</a:t>
            </a:r>
            <a:endParaRPr lang="en-US" altLang="ja-JP" sz="2400"/>
          </a:p>
          <a:p>
            <a:r>
              <a:rPr lang="ja-JP" altLang="en-US" sz="2400"/>
              <a:t>提案手法      ➡　性能維持、大幅な計測時間の軽減</a:t>
            </a:r>
            <a:endParaRPr lang="en-US" altLang="ja-JP" sz="2400"/>
          </a:p>
          <a:p>
            <a:endParaRPr lang="en-US" altLang="ja-JP" sz="2400"/>
          </a:p>
        </p:txBody>
      </p:sp>
      <p:sp>
        <p:nvSpPr>
          <p:cNvPr id="15" name="テキスト ボックス 14">
            <a:extLst>
              <a:ext uri="{FF2B5EF4-FFF2-40B4-BE49-F238E27FC236}">
                <a16:creationId xmlns:a16="http://schemas.microsoft.com/office/drawing/2014/main" id="{F5A2B464-4DD1-2C07-94BE-CDD45A35D8A5}"/>
              </a:ext>
            </a:extLst>
          </p:cNvPr>
          <p:cNvSpPr txBox="1"/>
          <p:nvPr/>
        </p:nvSpPr>
        <p:spPr>
          <a:xfrm>
            <a:off x="369243" y="4479308"/>
            <a:ext cx="2331193" cy="461665"/>
          </a:xfrm>
          <a:prstGeom prst="rect">
            <a:avLst/>
          </a:prstGeom>
          <a:noFill/>
        </p:spPr>
        <p:txBody>
          <a:bodyPr wrap="square" rtlCol="0">
            <a:spAutoFit/>
          </a:bodyPr>
          <a:lstStyle/>
          <a:p>
            <a:r>
              <a:rPr lang="ja-JP" altLang="en-US" sz="2400" b="1" i="1" u="sng" dirty="0"/>
              <a:t>結果のまとめ</a:t>
            </a:r>
          </a:p>
        </p:txBody>
      </p:sp>
      <p:sp>
        <p:nvSpPr>
          <p:cNvPr id="17" name="正方形/長方形 16">
            <a:extLst>
              <a:ext uri="{FF2B5EF4-FFF2-40B4-BE49-F238E27FC236}">
                <a16:creationId xmlns:a16="http://schemas.microsoft.com/office/drawing/2014/main" id="{D26DC48E-17EB-8668-E3A9-0A427D63799D}"/>
              </a:ext>
            </a:extLst>
          </p:cNvPr>
          <p:cNvSpPr/>
          <p:nvPr/>
        </p:nvSpPr>
        <p:spPr>
          <a:xfrm>
            <a:off x="6181686" y="3605682"/>
            <a:ext cx="1368291" cy="368392"/>
          </a:xfrm>
          <a:prstGeom prst="rect">
            <a:avLst/>
          </a:prstGeom>
          <a:solidFill>
            <a:srgbClr val="FF0000">
              <a:alpha val="20000"/>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EAE50F29-A30A-520A-BFB2-40AB8A81FA12}"/>
              </a:ext>
            </a:extLst>
          </p:cNvPr>
          <p:cNvSpPr/>
          <p:nvPr/>
        </p:nvSpPr>
        <p:spPr>
          <a:xfrm>
            <a:off x="6181686" y="2431021"/>
            <a:ext cx="1368291" cy="368392"/>
          </a:xfrm>
          <a:prstGeom prst="rect">
            <a:avLst/>
          </a:prstGeom>
          <a:solidFill>
            <a:srgbClr val="FF0000">
              <a:alpha val="20000"/>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FD4EFF76-8B85-A14C-4D5C-743E47A5BE15}"/>
              </a:ext>
            </a:extLst>
          </p:cNvPr>
          <p:cNvSpPr txBox="1"/>
          <p:nvPr/>
        </p:nvSpPr>
        <p:spPr>
          <a:xfrm>
            <a:off x="8513393" y="6305637"/>
            <a:ext cx="569232" cy="400110"/>
          </a:xfrm>
          <a:prstGeom prst="rect">
            <a:avLst/>
          </a:prstGeom>
          <a:noFill/>
        </p:spPr>
        <p:txBody>
          <a:bodyPr wrap="square" rtlCol="0">
            <a:spAutoFit/>
          </a:bodyPr>
          <a:lstStyle/>
          <a:p>
            <a:r>
              <a:rPr kumimoji="1" lang="en-US" altLang="ja-JP" sz="2000" b="1"/>
              <a:t>16</a:t>
            </a:r>
            <a:endParaRPr kumimoji="1" lang="ja-JP" altLang="en-US" sz="2000" b="1"/>
          </a:p>
        </p:txBody>
      </p:sp>
    </p:spTree>
    <p:extLst>
      <p:ext uri="{BB962C8B-B14F-4D97-AF65-F5344CB8AC3E}">
        <p14:creationId xmlns:p14="http://schemas.microsoft.com/office/powerpoint/2010/main" val="3262392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4" grpId="0"/>
      <p:bldP spid="15" grpId="0"/>
      <p:bldP spid="17" grpId="0" animBg="1"/>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79F91-9C3B-7546-3F52-257671F0AB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3CB6B48-6DDF-EFC9-9ABA-9333944D8F36}"/>
              </a:ext>
            </a:extLst>
          </p:cNvPr>
          <p:cNvSpPr>
            <a:spLocks noGrp="1"/>
          </p:cNvSpPr>
          <p:nvPr>
            <p:ph type="title"/>
          </p:nvPr>
        </p:nvSpPr>
        <p:spPr/>
        <p:txBody>
          <a:bodyPr>
            <a:normAutofit/>
          </a:bodyPr>
          <a:lstStyle/>
          <a:p>
            <a:r>
              <a:rPr kumimoji="1" lang="ja-JP" altLang="en-US" b="1"/>
              <a:t>結論</a:t>
            </a:r>
            <a:endParaRPr kumimoji="1" lang="ja-JP" altLang="en-US" sz="4000" b="1" dirty="0"/>
          </a:p>
        </p:txBody>
      </p:sp>
      <p:sp>
        <p:nvSpPr>
          <p:cNvPr id="3" name="テキスト ボックス 2">
            <a:extLst>
              <a:ext uri="{FF2B5EF4-FFF2-40B4-BE49-F238E27FC236}">
                <a16:creationId xmlns:a16="http://schemas.microsoft.com/office/drawing/2014/main" id="{AF5E28FA-6800-A380-4932-A2DDEDD28B4B}"/>
              </a:ext>
            </a:extLst>
          </p:cNvPr>
          <p:cNvSpPr txBox="1"/>
          <p:nvPr/>
        </p:nvSpPr>
        <p:spPr>
          <a:xfrm>
            <a:off x="987640" y="1491660"/>
            <a:ext cx="7168719" cy="830997"/>
          </a:xfrm>
          <a:prstGeom prst="rect">
            <a:avLst/>
          </a:prstGeom>
          <a:noFill/>
          <a:ln w="38100">
            <a:solidFill>
              <a:srgbClr val="FF0000"/>
            </a:solidFill>
          </a:ln>
        </p:spPr>
        <p:txBody>
          <a:bodyPr wrap="square">
            <a:spAutoFit/>
          </a:bodyPr>
          <a:lstStyle/>
          <a:p>
            <a:pPr algn="ctr"/>
            <a:r>
              <a:rPr lang="en-US" altLang="ja-JP" sz="2400">
                <a:latin typeface="+mj-ea"/>
                <a:ea typeface="+mj-ea"/>
              </a:rPr>
              <a:t>GhostNet</a:t>
            </a:r>
            <a:r>
              <a:rPr lang="ja-JP" altLang="en-US" sz="2400">
                <a:latin typeface="+mj-ea"/>
                <a:ea typeface="+mj-ea"/>
              </a:rPr>
              <a:t>に</a:t>
            </a:r>
            <a:r>
              <a:rPr lang="en-US" altLang="ja-JP" sz="2400">
                <a:latin typeface="+mj-ea"/>
                <a:ea typeface="+mj-ea"/>
              </a:rPr>
              <a:t>CSAR Block</a:t>
            </a:r>
            <a:r>
              <a:rPr lang="ja-JP" altLang="en-US" sz="2400">
                <a:latin typeface="+mj-ea"/>
                <a:ea typeface="+mj-ea"/>
              </a:rPr>
              <a:t>を導入し</a:t>
            </a:r>
            <a:endParaRPr lang="en-US" altLang="ja-JP" sz="2400">
              <a:latin typeface="+mj-ea"/>
              <a:ea typeface="+mj-ea"/>
            </a:endParaRPr>
          </a:p>
          <a:p>
            <a:pPr algn="ctr"/>
            <a:r>
              <a:rPr lang="ja-JP" altLang="en-US" sz="2400">
                <a:latin typeface="+mj-ea"/>
                <a:ea typeface="+mj-ea"/>
              </a:rPr>
              <a:t>軽量性を維持しつつ更なる制度の向上を図った</a:t>
            </a:r>
            <a:endParaRPr lang="en-US" altLang="ja-JP" sz="2400" dirty="0">
              <a:latin typeface="+mj-ea"/>
              <a:ea typeface="+mj-ea"/>
            </a:endParaRPr>
          </a:p>
        </p:txBody>
      </p:sp>
      <p:sp>
        <p:nvSpPr>
          <p:cNvPr id="5" name="テキスト ボックス 4">
            <a:extLst>
              <a:ext uri="{FF2B5EF4-FFF2-40B4-BE49-F238E27FC236}">
                <a16:creationId xmlns:a16="http://schemas.microsoft.com/office/drawing/2014/main" id="{89EB9CDA-B9E4-A903-F1F9-D142859A4877}"/>
              </a:ext>
            </a:extLst>
          </p:cNvPr>
          <p:cNvSpPr txBox="1"/>
          <p:nvPr/>
        </p:nvSpPr>
        <p:spPr>
          <a:xfrm>
            <a:off x="556625" y="3154448"/>
            <a:ext cx="8765536" cy="1938992"/>
          </a:xfrm>
          <a:prstGeom prst="rect">
            <a:avLst/>
          </a:prstGeom>
          <a:noFill/>
        </p:spPr>
        <p:txBody>
          <a:bodyPr wrap="square">
            <a:spAutoFit/>
          </a:bodyPr>
          <a:lstStyle/>
          <a:p>
            <a:r>
              <a:rPr lang="ja-JP" altLang="en-US" sz="2400"/>
              <a:t>コンパクトモデル　➡　パラメータ設定などの調整の重要性</a:t>
            </a:r>
            <a:endParaRPr lang="en-US" altLang="ja-JP" sz="2400"/>
          </a:p>
          <a:p>
            <a:endParaRPr lang="en-US" altLang="ja-JP" sz="2400" dirty="0"/>
          </a:p>
          <a:p>
            <a:r>
              <a:rPr lang="ja-JP" altLang="en-US" sz="2400"/>
              <a:t>軽量性  ➡　性能と軽量性のバランス</a:t>
            </a:r>
            <a:endParaRPr lang="en-US" altLang="ja-JP" sz="2400"/>
          </a:p>
          <a:p>
            <a:endParaRPr lang="en-US" altLang="ja-JP" sz="2400">
              <a:solidFill>
                <a:srgbClr val="0070C0"/>
              </a:solidFill>
            </a:endParaRPr>
          </a:p>
          <a:p>
            <a:r>
              <a:rPr lang="ja-JP" altLang="en-US" sz="2400"/>
              <a:t>データセット  ➡　複雑なデータセットを用いた計測</a:t>
            </a:r>
            <a:endParaRPr lang="en-US" altLang="ja-JP" sz="2400">
              <a:solidFill>
                <a:srgbClr val="0070C0"/>
              </a:solidFill>
            </a:endParaRPr>
          </a:p>
        </p:txBody>
      </p:sp>
      <p:sp>
        <p:nvSpPr>
          <p:cNvPr id="6" name="テキスト ボックス 5">
            <a:extLst>
              <a:ext uri="{FF2B5EF4-FFF2-40B4-BE49-F238E27FC236}">
                <a16:creationId xmlns:a16="http://schemas.microsoft.com/office/drawing/2014/main" id="{88C087F4-FFB4-12F9-CC26-D8AF7C796434}"/>
              </a:ext>
            </a:extLst>
          </p:cNvPr>
          <p:cNvSpPr txBox="1"/>
          <p:nvPr/>
        </p:nvSpPr>
        <p:spPr>
          <a:xfrm>
            <a:off x="8513393" y="6305637"/>
            <a:ext cx="569232" cy="400110"/>
          </a:xfrm>
          <a:prstGeom prst="rect">
            <a:avLst/>
          </a:prstGeom>
          <a:noFill/>
        </p:spPr>
        <p:txBody>
          <a:bodyPr wrap="square" rtlCol="0">
            <a:spAutoFit/>
          </a:bodyPr>
          <a:lstStyle/>
          <a:p>
            <a:r>
              <a:rPr kumimoji="1" lang="en-US" altLang="ja-JP" sz="2000" b="1"/>
              <a:t>17</a:t>
            </a:r>
            <a:endParaRPr kumimoji="1" lang="ja-JP" altLang="en-US" sz="2000" b="1"/>
          </a:p>
        </p:txBody>
      </p:sp>
    </p:spTree>
    <p:extLst>
      <p:ext uri="{BB962C8B-B14F-4D97-AF65-F5344CB8AC3E}">
        <p14:creationId xmlns:p14="http://schemas.microsoft.com/office/powerpoint/2010/main" val="2855241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A8E18AE-13E1-8D20-F280-07344E1CCCBE}"/>
            </a:ext>
          </a:extLst>
        </p:cNvPr>
        <p:cNvGrpSpPr/>
        <p:nvPr/>
      </p:nvGrpSpPr>
      <p:grpSpPr>
        <a:xfrm>
          <a:off x="0" y="0"/>
          <a:ext cx="0" cy="0"/>
          <a:chOff x="0" y="0"/>
          <a:chExt cx="0" cy="0"/>
        </a:xfrm>
      </p:grpSpPr>
      <p:cxnSp>
        <p:nvCxnSpPr>
          <p:cNvPr id="21" name="直線コネクタ 20">
            <a:extLst>
              <a:ext uri="{FF2B5EF4-FFF2-40B4-BE49-F238E27FC236}">
                <a16:creationId xmlns:a16="http://schemas.microsoft.com/office/drawing/2014/main" id="{27014CB2-1C8C-9F75-6C04-02DEEC122338}"/>
              </a:ext>
            </a:extLst>
          </p:cNvPr>
          <p:cNvCxnSpPr/>
          <p:nvPr/>
        </p:nvCxnSpPr>
        <p:spPr>
          <a:xfrm>
            <a:off x="1677202" y="2970797"/>
            <a:ext cx="913834"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8E6DADDC-1D28-1082-58CE-76C64BED16CC}"/>
              </a:ext>
            </a:extLst>
          </p:cNvPr>
          <p:cNvCxnSpPr>
            <a:cxnSpLocks/>
          </p:cNvCxnSpPr>
          <p:nvPr/>
        </p:nvCxnSpPr>
        <p:spPr>
          <a:xfrm>
            <a:off x="3182775" y="2425695"/>
            <a:ext cx="90746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タイトル 1">
            <a:extLst>
              <a:ext uri="{FF2B5EF4-FFF2-40B4-BE49-F238E27FC236}">
                <a16:creationId xmlns:a16="http://schemas.microsoft.com/office/drawing/2014/main" id="{753ED9A2-B98C-82C3-8398-189828F533F1}"/>
              </a:ext>
            </a:extLst>
          </p:cNvPr>
          <p:cNvSpPr>
            <a:spLocks noGrp="1"/>
          </p:cNvSpPr>
          <p:nvPr>
            <p:ph type="title"/>
          </p:nvPr>
        </p:nvSpPr>
        <p:spPr>
          <a:xfrm>
            <a:off x="914400" y="150532"/>
            <a:ext cx="8049987" cy="773394"/>
          </a:xfrm>
        </p:spPr>
        <p:txBody>
          <a:bodyPr>
            <a:normAutofit/>
          </a:bodyPr>
          <a:lstStyle/>
          <a:p>
            <a:r>
              <a:rPr kumimoji="1" lang="ja-JP" altLang="en-US" b="1"/>
              <a:t>実験結果</a:t>
            </a:r>
            <a:endParaRPr kumimoji="1" lang="ja-JP" altLang="en-US" sz="4000" b="1" dirty="0"/>
          </a:p>
        </p:txBody>
      </p:sp>
      <p:cxnSp>
        <p:nvCxnSpPr>
          <p:cNvPr id="6" name="直線コネクタ 5">
            <a:extLst>
              <a:ext uri="{FF2B5EF4-FFF2-40B4-BE49-F238E27FC236}">
                <a16:creationId xmlns:a16="http://schemas.microsoft.com/office/drawing/2014/main" id="{00A365E6-E295-2737-1CC4-40BC52B88969}"/>
              </a:ext>
            </a:extLst>
          </p:cNvPr>
          <p:cNvCxnSpPr>
            <a:cxnSpLocks/>
          </p:cNvCxnSpPr>
          <p:nvPr/>
        </p:nvCxnSpPr>
        <p:spPr>
          <a:xfrm flipH="1">
            <a:off x="5087871" y="2053479"/>
            <a:ext cx="1153192"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BB2DE599-D0A6-1BD9-926F-364D5312CE35}"/>
              </a:ext>
            </a:extLst>
          </p:cNvPr>
          <p:cNvCxnSpPr>
            <a:cxnSpLocks/>
          </p:cNvCxnSpPr>
          <p:nvPr/>
        </p:nvCxnSpPr>
        <p:spPr>
          <a:xfrm flipH="1">
            <a:off x="5087871" y="2053479"/>
            <a:ext cx="115319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C8B96A20-3515-C402-7EAF-C3164893B1F2}"/>
              </a:ext>
            </a:extLst>
          </p:cNvPr>
          <p:cNvSpPr txBox="1"/>
          <p:nvPr/>
        </p:nvSpPr>
        <p:spPr>
          <a:xfrm>
            <a:off x="259842" y="3871268"/>
            <a:ext cx="2331193" cy="461665"/>
          </a:xfrm>
          <a:prstGeom prst="rect">
            <a:avLst/>
          </a:prstGeom>
          <a:noFill/>
        </p:spPr>
        <p:txBody>
          <a:bodyPr wrap="square" rtlCol="0">
            <a:spAutoFit/>
          </a:bodyPr>
          <a:lstStyle/>
          <a:p>
            <a:r>
              <a:rPr lang="ja-JP" altLang="en-US" sz="2400" b="1" i="1" u="sng" dirty="0"/>
              <a:t>結果のまとめ</a:t>
            </a:r>
          </a:p>
        </p:txBody>
      </p:sp>
      <p:sp>
        <p:nvSpPr>
          <p:cNvPr id="9" name="テキスト ボックス 8">
            <a:extLst>
              <a:ext uri="{FF2B5EF4-FFF2-40B4-BE49-F238E27FC236}">
                <a16:creationId xmlns:a16="http://schemas.microsoft.com/office/drawing/2014/main" id="{18B8424F-A598-ED3E-D577-E89E7859D030}"/>
              </a:ext>
            </a:extLst>
          </p:cNvPr>
          <p:cNvSpPr txBox="1"/>
          <p:nvPr/>
        </p:nvSpPr>
        <p:spPr>
          <a:xfrm>
            <a:off x="259843" y="1137443"/>
            <a:ext cx="2922932" cy="461665"/>
          </a:xfrm>
          <a:prstGeom prst="rect">
            <a:avLst/>
          </a:prstGeom>
          <a:noFill/>
        </p:spPr>
        <p:txBody>
          <a:bodyPr wrap="square" rtlCol="0">
            <a:spAutoFit/>
          </a:bodyPr>
          <a:lstStyle/>
          <a:p>
            <a:r>
              <a:rPr lang="ja-JP" altLang="en-US" sz="2400" b="1" i="1" u="sng"/>
              <a:t>提案手法②結果</a:t>
            </a:r>
            <a:endParaRPr lang="ja-JP" altLang="en-US" sz="2400" b="1" i="1" u="sng" dirty="0"/>
          </a:p>
        </p:txBody>
      </p:sp>
      <p:sp>
        <p:nvSpPr>
          <p:cNvPr id="16" name="テキスト ボックス 15">
            <a:extLst>
              <a:ext uri="{FF2B5EF4-FFF2-40B4-BE49-F238E27FC236}">
                <a16:creationId xmlns:a16="http://schemas.microsoft.com/office/drawing/2014/main" id="{7CD00AB8-5A4D-6EFF-FD29-7BA014FC5265}"/>
              </a:ext>
            </a:extLst>
          </p:cNvPr>
          <p:cNvSpPr txBox="1"/>
          <p:nvPr/>
        </p:nvSpPr>
        <p:spPr>
          <a:xfrm>
            <a:off x="634186" y="4335959"/>
            <a:ext cx="7875628" cy="1200329"/>
          </a:xfrm>
          <a:prstGeom prst="rect">
            <a:avLst/>
          </a:prstGeom>
          <a:noFill/>
        </p:spPr>
        <p:txBody>
          <a:bodyPr wrap="square">
            <a:spAutoFit/>
          </a:bodyPr>
          <a:lstStyle/>
          <a:p>
            <a:r>
              <a:rPr lang="en-US" altLang="ja-JP" sz="2400" dirty="0" err="1"/>
              <a:t>GhostNet</a:t>
            </a:r>
            <a:r>
              <a:rPr lang="ja-JP" altLang="en-US" sz="2400" dirty="0"/>
              <a:t>　➡　性能維持、大幅な計測時間の軽減</a:t>
            </a:r>
            <a:endParaRPr lang="en-US" altLang="ja-JP" sz="2400" dirty="0"/>
          </a:p>
          <a:p>
            <a:r>
              <a:rPr lang="ja-JP" altLang="en-US" sz="2400" dirty="0"/>
              <a:t>提案手法①  ➡　</a:t>
            </a:r>
            <a:r>
              <a:rPr lang="en-US" altLang="ja-JP" sz="2400" dirty="0"/>
              <a:t>Test</a:t>
            </a:r>
            <a:r>
              <a:rPr lang="ja-JP" altLang="en-US" sz="2400" dirty="0"/>
              <a:t>精度に対する</a:t>
            </a:r>
            <a:r>
              <a:rPr lang="ja-JP" altLang="en-US" sz="2400" dirty="0">
                <a:solidFill>
                  <a:srgbClr val="FF0000"/>
                </a:solidFill>
              </a:rPr>
              <a:t>汎化</a:t>
            </a:r>
            <a:r>
              <a:rPr lang="ja-JP" altLang="en-US" sz="2400">
                <a:solidFill>
                  <a:srgbClr val="FF0000"/>
                </a:solidFill>
              </a:rPr>
              <a:t>性能の改善</a:t>
            </a:r>
            <a:endParaRPr lang="en-US" altLang="ja-JP" sz="2400" dirty="0">
              <a:solidFill>
                <a:srgbClr val="FF0000"/>
              </a:solidFill>
            </a:endParaRPr>
          </a:p>
          <a:p>
            <a:r>
              <a:rPr lang="en-US" altLang="ja-JP" sz="2400" dirty="0"/>
              <a:t>	</a:t>
            </a:r>
            <a:r>
              <a:rPr lang="ja-JP" altLang="en-US" sz="2400" dirty="0"/>
              <a:t> 　　　 　計測</a:t>
            </a:r>
            <a:r>
              <a:rPr lang="ja-JP" altLang="en-US" sz="2400"/>
              <a:t>時間の</a:t>
            </a:r>
            <a:r>
              <a:rPr lang="ja-JP" altLang="en-US" sz="2400">
                <a:solidFill>
                  <a:srgbClr val="0070C0"/>
                </a:solidFill>
              </a:rPr>
              <a:t>維持ができた</a:t>
            </a:r>
            <a:endParaRPr lang="ja-JP" altLang="en-US" sz="2400" dirty="0">
              <a:solidFill>
                <a:srgbClr val="0070C0"/>
              </a:solidFill>
            </a:endParaRPr>
          </a:p>
        </p:txBody>
      </p:sp>
      <p:pic>
        <p:nvPicPr>
          <p:cNvPr id="2" name="図 1">
            <a:extLst>
              <a:ext uri="{FF2B5EF4-FFF2-40B4-BE49-F238E27FC236}">
                <a16:creationId xmlns:a16="http://schemas.microsoft.com/office/drawing/2014/main" id="{6C193FB1-8FC6-A5EF-15D3-0785219587A6}"/>
              </a:ext>
            </a:extLst>
          </p:cNvPr>
          <p:cNvPicPr>
            <a:picLocks noChangeAspect="1"/>
          </p:cNvPicPr>
          <p:nvPr/>
        </p:nvPicPr>
        <p:blipFill>
          <a:blip r:embed="rId3"/>
          <a:stretch>
            <a:fillRect/>
          </a:stretch>
        </p:blipFill>
        <p:spPr>
          <a:xfrm>
            <a:off x="1044028" y="2042763"/>
            <a:ext cx="7465031" cy="1466608"/>
          </a:xfrm>
          <a:prstGeom prst="rect">
            <a:avLst/>
          </a:prstGeom>
        </p:spPr>
      </p:pic>
    </p:spTree>
    <p:extLst>
      <p:ext uri="{BB962C8B-B14F-4D97-AF65-F5344CB8AC3E}">
        <p14:creationId xmlns:p14="http://schemas.microsoft.com/office/powerpoint/2010/main" val="790781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down)">
                                      <p:cBhvr>
                                        <p:cTn id="17" dur="500"/>
                                        <p:tgtEl>
                                          <p:spTgt spid="15"/>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テキスト ボックス 9">
            <a:extLst>
              <a:ext uri="{FF2B5EF4-FFF2-40B4-BE49-F238E27FC236}">
                <a16:creationId xmlns:a16="http://schemas.microsoft.com/office/drawing/2014/main" id="{52B47D4C-69B3-4DD4-8EFB-6C88D43A8572}"/>
              </a:ext>
            </a:extLst>
          </p:cNvPr>
          <p:cNvSpPr txBox="1"/>
          <p:nvPr/>
        </p:nvSpPr>
        <p:spPr>
          <a:xfrm>
            <a:off x="145228" y="1551119"/>
            <a:ext cx="1261884" cy="738664"/>
          </a:xfrm>
          <a:prstGeom prst="rect">
            <a:avLst/>
          </a:prstGeom>
          <a:noFill/>
        </p:spPr>
        <p:txBody>
          <a:bodyPr wrap="none" rtlCol="0">
            <a:spAutoFit/>
          </a:bodyPr>
          <a:lstStyle/>
          <a:p>
            <a:r>
              <a:rPr lang="ja-JP" altLang="en-US" sz="2100" dirty="0"/>
              <a:t>実験結果</a:t>
            </a:r>
            <a:endParaRPr lang="en-US" altLang="ja-JP" sz="2100" dirty="0"/>
          </a:p>
          <a:p>
            <a:endParaRPr lang="en-US" altLang="ja-JP" sz="2100" dirty="0"/>
          </a:p>
        </p:txBody>
      </p:sp>
      <p:pic>
        <p:nvPicPr>
          <p:cNvPr id="12" name="図 11">
            <a:extLst>
              <a:ext uri="{FF2B5EF4-FFF2-40B4-BE49-F238E27FC236}">
                <a16:creationId xmlns:a16="http://schemas.microsoft.com/office/drawing/2014/main" id="{D91BD1DD-4AEE-4C61-9074-DB6E6B09E6C8}"/>
              </a:ext>
            </a:extLst>
          </p:cNvPr>
          <p:cNvPicPr>
            <a:picLocks noChangeAspect="1"/>
          </p:cNvPicPr>
          <p:nvPr/>
        </p:nvPicPr>
        <p:blipFill rotWithShape="1">
          <a:blip r:embed="rId3"/>
          <a:srcRect l="30400" t="28576" r="29612" b="61637"/>
          <a:stretch/>
        </p:blipFill>
        <p:spPr bwMode="auto">
          <a:xfrm>
            <a:off x="580680" y="1936706"/>
            <a:ext cx="7208372" cy="1989482"/>
          </a:xfrm>
          <a:prstGeom prst="rect">
            <a:avLst/>
          </a:prstGeom>
          <a:ln>
            <a:noFill/>
          </a:ln>
          <a:extLst>
            <a:ext uri="{53640926-AAD7-44D8-BBD7-CCE9431645EC}">
              <a14:shadowObscured xmlns:a14="http://schemas.microsoft.com/office/drawing/2010/main"/>
            </a:ext>
          </a:extLst>
        </p:spPr>
      </p:pic>
      <p:cxnSp>
        <p:nvCxnSpPr>
          <p:cNvPr id="17" name="直線コネクタ 16">
            <a:extLst>
              <a:ext uri="{FF2B5EF4-FFF2-40B4-BE49-F238E27FC236}">
                <a16:creationId xmlns:a16="http://schemas.microsoft.com/office/drawing/2014/main" id="{CB0D45F7-FE2A-4583-B215-F1592033E298}"/>
              </a:ext>
            </a:extLst>
          </p:cNvPr>
          <p:cNvCxnSpPr/>
          <p:nvPr/>
        </p:nvCxnSpPr>
        <p:spPr>
          <a:xfrm>
            <a:off x="3277403" y="3159056"/>
            <a:ext cx="913834"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76FC9AA1-0B33-4003-9204-A47CAB6A6B65}"/>
              </a:ext>
            </a:extLst>
          </p:cNvPr>
          <p:cNvCxnSpPr/>
          <p:nvPr/>
        </p:nvCxnSpPr>
        <p:spPr>
          <a:xfrm>
            <a:off x="3277403" y="3468267"/>
            <a:ext cx="913834"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ED031561-F52E-4FA8-9512-4A0750953847}"/>
              </a:ext>
            </a:extLst>
          </p:cNvPr>
          <p:cNvCxnSpPr/>
          <p:nvPr/>
        </p:nvCxnSpPr>
        <p:spPr>
          <a:xfrm>
            <a:off x="5385336" y="3151836"/>
            <a:ext cx="913834"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C1493C37-FBCF-49B5-A7D4-B1623B7B1D64}"/>
              </a:ext>
            </a:extLst>
          </p:cNvPr>
          <p:cNvCxnSpPr/>
          <p:nvPr/>
        </p:nvCxnSpPr>
        <p:spPr>
          <a:xfrm>
            <a:off x="5385336" y="3461048"/>
            <a:ext cx="913834"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EFC178DC-943C-458E-9DBE-AA71982AA37B}"/>
              </a:ext>
            </a:extLst>
          </p:cNvPr>
          <p:cNvCxnSpPr/>
          <p:nvPr/>
        </p:nvCxnSpPr>
        <p:spPr>
          <a:xfrm>
            <a:off x="3277402" y="3159056"/>
            <a:ext cx="913834"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C400C3B9-3B3D-4143-A448-31C28078C0B8}"/>
              </a:ext>
            </a:extLst>
          </p:cNvPr>
          <p:cNvCxnSpPr/>
          <p:nvPr/>
        </p:nvCxnSpPr>
        <p:spPr>
          <a:xfrm>
            <a:off x="3277402" y="3468267"/>
            <a:ext cx="913834"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F93D3476-C84E-4138-8C94-8AD85885E7B2}"/>
              </a:ext>
            </a:extLst>
          </p:cNvPr>
          <p:cNvCxnSpPr/>
          <p:nvPr/>
        </p:nvCxnSpPr>
        <p:spPr>
          <a:xfrm>
            <a:off x="5385335" y="3151836"/>
            <a:ext cx="913834"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319C496A-123A-49C9-AE0F-CDF7E031F447}"/>
              </a:ext>
            </a:extLst>
          </p:cNvPr>
          <p:cNvCxnSpPr/>
          <p:nvPr/>
        </p:nvCxnSpPr>
        <p:spPr>
          <a:xfrm>
            <a:off x="5385335" y="3461048"/>
            <a:ext cx="913834"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3A3F33C0-CBC3-4B9E-8A3C-244FBDB3647B}"/>
              </a:ext>
            </a:extLst>
          </p:cNvPr>
          <p:cNvCxnSpPr>
            <a:cxnSpLocks/>
          </p:cNvCxnSpPr>
          <p:nvPr/>
        </p:nvCxnSpPr>
        <p:spPr>
          <a:xfrm>
            <a:off x="3277402" y="3159056"/>
            <a:ext cx="907465"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718E24A5-F807-4D02-822B-AFDA87196529}"/>
              </a:ext>
            </a:extLst>
          </p:cNvPr>
          <p:cNvCxnSpPr>
            <a:cxnSpLocks/>
          </p:cNvCxnSpPr>
          <p:nvPr/>
        </p:nvCxnSpPr>
        <p:spPr>
          <a:xfrm>
            <a:off x="4309712" y="3151836"/>
            <a:ext cx="907465"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B5A22066-F5F9-476F-AB84-5155F7AF3A9B}"/>
              </a:ext>
            </a:extLst>
          </p:cNvPr>
          <p:cNvCxnSpPr>
            <a:cxnSpLocks/>
          </p:cNvCxnSpPr>
          <p:nvPr/>
        </p:nvCxnSpPr>
        <p:spPr>
          <a:xfrm>
            <a:off x="5385335" y="3151836"/>
            <a:ext cx="907465"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7A76F38A-F1DC-493D-9B90-267BD25F2C71}"/>
              </a:ext>
            </a:extLst>
          </p:cNvPr>
          <p:cNvCxnSpPr>
            <a:cxnSpLocks/>
          </p:cNvCxnSpPr>
          <p:nvPr/>
        </p:nvCxnSpPr>
        <p:spPr>
          <a:xfrm>
            <a:off x="6417645" y="3144617"/>
            <a:ext cx="907465"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467C69E2-6022-4F09-AA74-A3F4437BF0A1}"/>
              </a:ext>
            </a:extLst>
          </p:cNvPr>
          <p:cNvCxnSpPr>
            <a:cxnSpLocks/>
          </p:cNvCxnSpPr>
          <p:nvPr/>
        </p:nvCxnSpPr>
        <p:spPr>
          <a:xfrm>
            <a:off x="3277401" y="3159056"/>
            <a:ext cx="90746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A6852537-AEB1-44A4-8CE0-6DA1A667813B}"/>
              </a:ext>
            </a:extLst>
          </p:cNvPr>
          <p:cNvCxnSpPr>
            <a:cxnSpLocks/>
          </p:cNvCxnSpPr>
          <p:nvPr/>
        </p:nvCxnSpPr>
        <p:spPr>
          <a:xfrm>
            <a:off x="4309711" y="3151836"/>
            <a:ext cx="90746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6F3DB4FA-4B76-4C99-B0EA-FBFB9A6F2843}"/>
              </a:ext>
            </a:extLst>
          </p:cNvPr>
          <p:cNvCxnSpPr>
            <a:cxnSpLocks/>
          </p:cNvCxnSpPr>
          <p:nvPr/>
        </p:nvCxnSpPr>
        <p:spPr>
          <a:xfrm>
            <a:off x="5385334" y="3151836"/>
            <a:ext cx="90746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D2468594-3979-4088-87E6-A9B69C1E35E9}"/>
              </a:ext>
            </a:extLst>
          </p:cNvPr>
          <p:cNvCxnSpPr>
            <a:cxnSpLocks/>
          </p:cNvCxnSpPr>
          <p:nvPr/>
        </p:nvCxnSpPr>
        <p:spPr>
          <a:xfrm>
            <a:off x="6417644" y="3144617"/>
            <a:ext cx="90746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A303AC52-2997-4CB2-99A3-6D642D4608B8}"/>
              </a:ext>
            </a:extLst>
          </p:cNvPr>
          <p:cNvCxnSpPr>
            <a:cxnSpLocks/>
          </p:cNvCxnSpPr>
          <p:nvPr/>
        </p:nvCxnSpPr>
        <p:spPr>
          <a:xfrm flipH="1">
            <a:off x="3277402" y="3480900"/>
            <a:ext cx="907464"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AB44D939-FC33-48EF-B860-0B6F6DEACF0D}"/>
              </a:ext>
            </a:extLst>
          </p:cNvPr>
          <p:cNvCxnSpPr>
            <a:cxnSpLocks/>
          </p:cNvCxnSpPr>
          <p:nvPr/>
        </p:nvCxnSpPr>
        <p:spPr>
          <a:xfrm flipH="1">
            <a:off x="4309711" y="3170486"/>
            <a:ext cx="907464"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6417CA5F-DD98-4B72-94CD-68C0D7808426}"/>
              </a:ext>
            </a:extLst>
          </p:cNvPr>
          <p:cNvCxnSpPr>
            <a:cxnSpLocks/>
          </p:cNvCxnSpPr>
          <p:nvPr/>
        </p:nvCxnSpPr>
        <p:spPr>
          <a:xfrm flipH="1">
            <a:off x="5385334" y="3461048"/>
            <a:ext cx="907464"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F65D6725-7EDB-4BD7-97CB-3F33D697DFF0}"/>
              </a:ext>
            </a:extLst>
          </p:cNvPr>
          <p:cNvCxnSpPr>
            <a:cxnSpLocks/>
          </p:cNvCxnSpPr>
          <p:nvPr/>
        </p:nvCxnSpPr>
        <p:spPr>
          <a:xfrm flipH="1">
            <a:off x="6417643" y="3150633"/>
            <a:ext cx="907464"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47" name="テキスト ボックス 46">
            <a:extLst>
              <a:ext uri="{FF2B5EF4-FFF2-40B4-BE49-F238E27FC236}">
                <a16:creationId xmlns:a16="http://schemas.microsoft.com/office/drawing/2014/main" id="{DDEC631C-D588-46CC-BBA1-0DB8D8AED6BD}"/>
              </a:ext>
            </a:extLst>
          </p:cNvPr>
          <p:cNvSpPr txBox="1"/>
          <p:nvPr/>
        </p:nvSpPr>
        <p:spPr>
          <a:xfrm>
            <a:off x="283342" y="3836839"/>
            <a:ext cx="8213359" cy="507831"/>
          </a:xfrm>
          <a:prstGeom prst="rect">
            <a:avLst/>
          </a:prstGeom>
          <a:noFill/>
        </p:spPr>
        <p:txBody>
          <a:bodyPr wrap="square" rtlCol="0">
            <a:spAutoFit/>
          </a:bodyPr>
          <a:lstStyle/>
          <a:p>
            <a:r>
              <a:rPr lang="en-US" altLang="ja-JP" sz="1350" dirty="0"/>
              <a:t>CIFAR10  /Deterministic/</a:t>
            </a:r>
            <a:r>
              <a:rPr lang="ja-JP" altLang="en-US" sz="1350" b="1" dirty="0"/>
              <a:t>提案手法 </a:t>
            </a:r>
            <a:r>
              <a:rPr lang="en-US" altLang="ja-JP" sz="1350" dirty="0"/>
              <a:t>or</a:t>
            </a:r>
            <a:r>
              <a:rPr lang="en-US" altLang="ja-JP" sz="1350" b="1" dirty="0"/>
              <a:t> </a:t>
            </a:r>
            <a:r>
              <a:rPr lang="ja-JP" altLang="en-US" sz="1350" b="1" dirty="0"/>
              <a:t>通常の</a:t>
            </a:r>
            <a:r>
              <a:rPr lang="en-US" altLang="ja-JP" sz="1350" b="1" dirty="0"/>
              <a:t>Dense Net </a:t>
            </a:r>
            <a:r>
              <a:rPr lang="ja-JP" altLang="en-US" sz="1350" dirty="0"/>
              <a:t>→</a:t>
            </a:r>
            <a:r>
              <a:rPr lang="ja-JP" altLang="en-US" sz="1350" b="1" dirty="0"/>
              <a:t>通常の</a:t>
            </a:r>
            <a:r>
              <a:rPr lang="en-US" altLang="ja-JP" sz="1350" b="1" dirty="0"/>
              <a:t>Dense Net</a:t>
            </a:r>
            <a:r>
              <a:rPr lang="ja-JP" altLang="en-US" sz="1350" dirty="0"/>
              <a:t>の方がテスト誤差が低い</a:t>
            </a:r>
            <a:endParaRPr lang="en-US" altLang="ja-JP" sz="1350" dirty="0"/>
          </a:p>
          <a:p>
            <a:r>
              <a:rPr lang="en-US" altLang="ja-JP" sz="1350" dirty="0"/>
              <a:t>CIFAR100/Deterministic/</a:t>
            </a:r>
            <a:r>
              <a:rPr lang="ja-JP" altLang="en-US" sz="1350" b="1" dirty="0"/>
              <a:t>提案手法 </a:t>
            </a:r>
            <a:r>
              <a:rPr lang="en-US" altLang="ja-JP" sz="1350" dirty="0"/>
              <a:t>or</a:t>
            </a:r>
            <a:r>
              <a:rPr lang="en-US" altLang="ja-JP" sz="1350" b="1" dirty="0"/>
              <a:t> </a:t>
            </a:r>
            <a:r>
              <a:rPr lang="ja-JP" altLang="en-US" sz="1350" b="1" dirty="0"/>
              <a:t>通常の</a:t>
            </a:r>
            <a:r>
              <a:rPr lang="en-US" altLang="ja-JP" sz="1350" b="1" dirty="0"/>
              <a:t>Dense Net</a:t>
            </a:r>
            <a:r>
              <a:rPr lang="ja-JP" altLang="en-US" sz="1350" b="1" dirty="0"/>
              <a:t> </a:t>
            </a:r>
            <a:r>
              <a:rPr lang="ja-JP" altLang="en-US" sz="1350" dirty="0"/>
              <a:t>→</a:t>
            </a:r>
            <a:r>
              <a:rPr lang="ja-JP" altLang="en-US" sz="1350" b="1" dirty="0"/>
              <a:t>提案手法</a:t>
            </a:r>
            <a:r>
              <a:rPr lang="ja-JP" altLang="en-US" sz="1350" dirty="0"/>
              <a:t>の方がテスト誤差が低い</a:t>
            </a:r>
          </a:p>
        </p:txBody>
      </p:sp>
      <p:sp>
        <p:nvSpPr>
          <p:cNvPr id="48" name="テキスト ボックス 47">
            <a:extLst>
              <a:ext uri="{FF2B5EF4-FFF2-40B4-BE49-F238E27FC236}">
                <a16:creationId xmlns:a16="http://schemas.microsoft.com/office/drawing/2014/main" id="{6E0AF0E3-5566-4C5A-AEE4-A34251432401}"/>
              </a:ext>
            </a:extLst>
          </p:cNvPr>
          <p:cNvSpPr txBox="1"/>
          <p:nvPr/>
        </p:nvSpPr>
        <p:spPr>
          <a:xfrm>
            <a:off x="283342" y="4381406"/>
            <a:ext cx="7628624" cy="507831"/>
          </a:xfrm>
          <a:prstGeom prst="rect">
            <a:avLst/>
          </a:prstGeom>
          <a:noFill/>
        </p:spPr>
        <p:txBody>
          <a:bodyPr wrap="square" rtlCol="0">
            <a:spAutoFit/>
          </a:bodyPr>
          <a:lstStyle/>
          <a:p>
            <a:r>
              <a:rPr lang="en-US" altLang="ja-JP" sz="1350" dirty="0"/>
              <a:t>CIFAR10  /</a:t>
            </a:r>
            <a:r>
              <a:rPr lang="en-US" altLang="ja-JP" sz="1350" b="1" dirty="0"/>
              <a:t>Deterministic or Stochastic</a:t>
            </a:r>
            <a:r>
              <a:rPr lang="en-US" altLang="ja-JP" sz="1350" dirty="0"/>
              <a:t>/</a:t>
            </a:r>
            <a:r>
              <a:rPr lang="ja-JP" altLang="en-US" sz="1350" dirty="0"/>
              <a:t>提案手法 → </a:t>
            </a:r>
            <a:r>
              <a:rPr lang="en-US" altLang="ja-JP" sz="1350" b="1" dirty="0"/>
              <a:t>Stochastic</a:t>
            </a:r>
            <a:r>
              <a:rPr lang="ja-JP" altLang="en-US" sz="1350" dirty="0"/>
              <a:t>の方がテスト誤差が低い</a:t>
            </a:r>
            <a:endParaRPr lang="en-US" altLang="ja-JP" sz="1350" dirty="0"/>
          </a:p>
          <a:p>
            <a:r>
              <a:rPr lang="en-US" altLang="ja-JP" sz="1350" dirty="0"/>
              <a:t>CIFAR100/</a:t>
            </a:r>
            <a:r>
              <a:rPr lang="en-US" altLang="ja-JP" sz="1350" b="1" dirty="0"/>
              <a:t>Deterministic or Stochastic</a:t>
            </a:r>
            <a:r>
              <a:rPr lang="en-US" altLang="ja-JP" sz="1350" dirty="0"/>
              <a:t>/</a:t>
            </a:r>
            <a:r>
              <a:rPr lang="ja-JP" altLang="en-US" sz="1350" dirty="0"/>
              <a:t>提案手法 → </a:t>
            </a:r>
            <a:r>
              <a:rPr lang="en-US" altLang="ja-JP" sz="1350" b="1" dirty="0"/>
              <a:t>Stochastic</a:t>
            </a:r>
            <a:r>
              <a:rPr lang="ja-JP" altLang="en-US" sz="1350" dirty="0"/>
              <a:t>の方がテスト誤差が低い</a:t>
            </a:r>
          </a:p>
        </p:txBody>
      </p:sp>
      <p:sp>
        <p:nvSpPr>
          <p:cNvPr id="49" name="テキスト ボックス 48">
            <a:extLst>
              <a:ext uri="{FF2B5EF4-FFF2-40B4-BE49-F238E27FC236}">
                <a16:creationId xmlns:a16="http://schemas.microsoft.com/office/drawing/2014/main" id="{BCCCBF03-C548-4444-9A9A-6158418C08B1}"/>
              </a:ext>
            </a:extLst>
          </p:cNvPr>
          <p:cNvSpPr txBox="1"/>
          <p:nvPr/>
        </p:nvSpPr>
        <p:spPr>
          <a:xfrm>
            <a:off x="283342" y="4910242"/>
            <a:ext cx="7361524" cy="923330"/>
          </a:xfrm>
          <a:prstGeom prst="rect">
            <a:avLst/>
          </a:prstGeom>
          <a:noFill/>
        </p:spPr>
        <p:txBody>
          <a:bodyPr wrap="square" rtlCol="0">
            <a:spAutoFit/>
          </a:bodyPr>
          <a:lstStyle/>
          <a:p>
            <a:r>
              <a:rPr lang="en-US" altLang="ja-JP" sz="1350" dirty="0"/>
              <a:t>CIFAR10  /</a:t>
            </a:r>
            <a:r>
              <a:rPr lang="en-US" altLang="ja-JP" sz="1350" b="1" dirty="0"/>
              <a:t>”Deterministic and </a:t>
            </a:r>
            <a:r>
              <a:rPr lang="ja-JP" altLang="en-US" sz="1350" b="1" dirty="0"/>
              <a:t>通常の</a:t>
            </a:r>
            <a:r>
              <a:rPr lang="en-US" altLang="ja-JP" sz="1350" b="1" dirty="0"/>
              <a:t>Dense Net” </a:t>
            </a:r>
            <a:r>
              <a:rPr lang="en-US" altLang="ja-JP" sz="1350" dirty="0"/>
              <a:t>or</a:t>
            </a:r>
            <a:r>
              <a:rPr lang="en-US" altLang="ja-JP" sz="1350" b="1" dirty="0"/>
              <a:t> “Stochastic and </a:t>
            </a:r>
            <a:r>
              <a:rPr lang="ja-JP" altLang="en-US" sz="1350" b="1" dirty="0"/>
              <a:t>提案手法</a:t>
            </a:r>
            <a:r>
              <a:rPr lang="en-US" altLang="ja-JP" sz="1350" b="1" dirty="0"/>
              <a:t>”</a:t>
            </a:r>
            <a:endParaRPr lang="en-US" altLang="ja-JP" sz="1350" dirty="0"/>
          </a:p>
          <a:p>
            <a:r>
              <a:rPr lang="ja-JP" altLang="en-US" sz="1350" dirty="0"/>
              <a:t>→  </a:t>
            </a:r>
            <a:r>
              <a:rPr lang="en-US" altLang="ja-JP" sz="1350" b="1" dirty="0"/>
              <a:t>”Stochastic</a:t>
            </a:r>
            <a:r>
              <a:rPr lang="ja-JP" altLang="en-US" sz="1350" b="1" dirty="0"/>
              <a:t> </a:t>
            </a:r>
            <a:r>
              <a:rPr lang="en-US" altLang="ja-JP" sz="1350" b="1" dirty="0"/>
              <a:t>and</a:t>
            </a:r>
            <a:r>
              <a:rPr lang="ja-JP" altLang="en-US" sz="1350" b="1" dirty="0"/>
              <a:t> 提案手法</a:t>
            </a:r>
            <a:r>
              <a:rPr lang="en-US" altLang="ja-JP" sz="1350" b="1" dirty="0"/>
              <a:t>”</a:t>
            </a:r>
            <a:r>
              <a:rPr lang="ja-JP" altLang="en-US" sz="1350" dirty="0"/>
              <a:t>の方がテスト誤差が低い</a:t>
            </a:r>
            <a:endParaRPr lang="en-US" altLang="ja-JP" sz="1350" dirty="0"/>
          </a:p>
          <a:p>
            <a:r>
              <a:rPr lang="en-US" altLang="ja-JP" sz="1350" dirty="0"/>
              <a:t>CIFAR100/</a:t>
            </a:r>
            <a:r>
              <a:rPr lang="en-US" altLang="ja-JP" sz="1350" b="1" dirty="0"/>
              <a:t>”Deterministic and </a:t>
            </a:r>
            <a:r>
              <a:rPr lang="ja-JP" altLang="en-US" sz="1350" b="1" dirty="0"/>
              <a:t>通常の</a:t>
            </a:r>
            <a:r>
              <a:rPr lang="en-US" altLang="ja-JP" sz="1350" b="1" dirty="0"/>
              <a:t>Dense Net” </a:t>
            </a:r>
            <a:r>
              <a:rPr lang="en-US" altLang="ja-JP" sz="1350" dirty="0"/>
              <a:t>or</a:t>
            </a:r>
            <a:r>
              <a:rPr lang="en-US" altLang="ja-JP" sz="1350" b="1" dirty="0"/>
              <a:t> “Stochastic and </a:t>
            </a:r>
            <a:r>
              <a:rPr lang="ja-JP" altLang="en-US" sz="1350" b="1" dirty="0"/>
              <a:t>提案手法</a:t>
            </a:r>
            <a:r>
              <a:rPr lang="en-US" altLang="ja-JP" sz="1350" b="1" dirty="0"/>
              <a:t>”</a:t>
            </a:r>
            <a:endParaRPr lang="en-US" altLang="ja-JP" sz="1350" dirty="0"/>
          </a:p>
          <a:p>
            <a:r>
              <a:rPr lang="ja-JP" altLang="en-US" sz="1350" dirty="0"/>
              <a:t>→  </a:t>
            </a:r>
            <a:r>
              <a:rPr lang="en-US" altLang="ja-JP" sz="1350" b="1" dirty="0"/>
              <a:t>Stochastic</a:t>
            </a:r>
            <a:r>
              <a:rPr lang="ja-JP" altLang="en-US" sz="1350" b="1" dirty="0"/>
              <a:t> </a:t>
            </a:r>
            <a:r>
              <a:rPr lang="en-US" altLang="ja-JP" sz="1350" b="1" dirty="0"/>
              <a:t>and</a:t>
            </a:r>
            <a:r>
              <a:rPr lang="ja-JP" altLang="en-US" sz="1350" b="1" dirty="0"/>
              <a:t> 提案手法</a:t>
            </a:r>
            <a:r>
              <a:rPr lang="ja-JP" altLang="en-US" sz="1350" dirty="0"/>
              <a:t>の方がテスト誤差が低い</a:t>
            </a:r>
            <a:endParaRPr lang="en-US" altLang="ja-JP" sz="1350" dirty="0"/>
          </a:p>
        </p:txBody>
      </p:sp>
      <p:sp>
        <p:nvSpPr>
          <p:cNvPr id="50" name="テキスト ボックス 49">
            <a:extLst>
              <a:ext uri="{FF2B5EF4-FFF2-40B4-BE49-F238E27FC236}">
                <a16:creationId xmlns:a16="http://schemas.microsoft.com/office/drawing/2014/main" id="{2EC87625-024E-47EB-93C7-7C274D2C09FB}"/>
              </a:ext>
            </a:extLst>
          </p:cNvPr>
          <p:cNvSpPr txBox="1"/>
          <p:nvPr/>
        </p:nvSpPr>
        <p:spPr>
          <a:xfrm>
            <a:off x="0" y="3603756"/>
            <a:ext cx="1309112" cy="300082"/>
          </a:xfrm>
          <a:prstGeom prst="rect">
            <a:avLst/>
          </a:prstGeom>
          <a:noFill/>
        </p:spPr>
        <p:txBody>
          <a:bodyPr wrap="square" rtlCol="0">
            <a:spAutoFit/>
          </a:bodyPr>
          <a:lstStyle/>
          <a:p>
            <a:r>
              <a:rPr lang="ja-JP" altLang="en-US" sz="1350" b="1" i="1" u="sng" dirty="0"/>
              <a:t>結果のまとめ</a:t>
            </a:r>
          </a:p>
        </p:txBody>
      </p:sp>
      <p:sp>
        <p:nvSpPr>
          <p:cNvPr id="52" name="正方形/長方形 51">
            <a:extLst>
              <a:ext uri="{FF2B5EF4-FFF2-40B4-BE49-F238E27FC236}">
                <a16:creationId xmlns:a16="http://schemas.microsoft.com/office/drawing/2014/main" id="{1AA1C655-04A1-4EA8-8120-F9CB059C9EC2}"/>
              </a:ext>
            </a:extLst>
          </p:cNvPr>
          <p:cNvSpPr/>
          <p:nvPr/>
        </p:nvSpPr>
        <p:spPr>
          <a:xfrm>
            <a:off x="48069" y="3601781"/>
            <a:ext cx="9002027" cy="22234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dirty="0"/>
          </a:p>
        </p:txBody>
      </p:sp>
      <p:sp>
        <p:nvSpPr>
          <p:cNvPr id="56" name="テキスト ボックス 55">
            <a:extLst>
              <a:ext uri="{FF2B5EF4-FFF2-40B4-BE49-F238E27FC236}">
                <a16:creationId xmlns:a16="http://schemas.microsoft.com/office/drawing/2014/main" id="{44358910-2854-431A-A7DF-DCF9892D2887}"/>
              </a:ext>
            </a:extLst>
          </p:cNvPr>
          <p:cNvSpPr txBox="1"/>
          <p:nvPr/>
        </p:nvSpPr>
        <p:spPr>
          <a:xfrm>
            <a:off x="145228" y="1350960"/>
            <a:ext cx="1309112" cy="300082"/>
          </a:xfrm>
          <a:prstGeom prst="rect">
            <a:avLst/>
          </a:prstGeom>
          <a:noFill/>
        </p:spPr>
        <p:txBody>
          <a:bodyPr wrap="square" rtlCol="0">
            <a:spAutoFit/>
          </a:bodyPr>
          <a:lstStyle/>
          <a:p>
            <a:r>
              <a:rPr lang="ja-JP" altLang="en-US" sz="1350" b="1" i="1" u="sng" dirty="0"/>
              <a:t>結果のまとめ</a:t>
            </a:r>
          </a:p>
        </p:txBody>
      </p:sp>
      <p:sp>
        <p:nvSpPr>
          <p:cNvPr id="59" name="テキスト ボックス 58">
            <a:extLst>
              <a:ext uri="{FF2B5EF4-FFF2-40B4-BE49-F238E27FC236}">
                <a16:creationId xmlns:a16="http://schemas.microsoft.com/office/drawing/2014/main" id="{0CD239A9-A7D7-4CC9-92DA-4519B13FA1F3}"/>
              </a:ext>
            </a:extLst>
          </p:cNvPr>
          <p:cNvSpPr txBox="1"/>
          <p:nvPr/>
        </p:nvSpPr>
        <p:spPr>
          <a:xfrm>
            <a:off x="580680" y="4089380"/>
            <a:ext cx="8791058" cy="738664"/>
          </a:xfrm>
          <a:prstGeom prst="rect">
            <a:avLst/>
          </a:prstGeom>
          <a:noFill/>
        </p:spPr>
        <p:txBody>
          <a:bodyPr wrap="square" rtlCol="0">
            <a:spAutoFit/>
          </a:bodyPr>
          <a:lstStyle/>
          <a:p>
            <a:r>
              <a:rPr lang="ja-JP" altLang="en-US" sz="2100" b="1" dirty="0"/>
              <a:t>→より最適なネットワーク構造を見つけることと</a:t>
            </a:r>
            <a:endParaRPr lang="en-US" altLang="ja-JP" sz="2100" b="1" dirty="0"/>
          </a:p>
          <a:p>
            <a:r>
              <a:rPr lang="ja-JP" altLang="en-US" sz="2100" b="1" dirty="0"/>
              <a:t>　パラメータを最適化することができた。</a:t>
            </a:r>
          </a:p>
        </p:txBody>
      </p:sp>
      <p:sp>
        <p:nvSpPr>
          <p:cNvPr id="5" name="タイトル 1">
            <a:extLst>
              <a:ext uri="{FF2B5EF4-FFF2-40B4-BE49-F238E27FC236}">
                <a16:creationId xmlns:a16="http://schemas.microsoft.com/office/drawing/2014/main" id="{2A4ADA43-8DC3-D834-D0E3-000541F0688D}"/>
              </a:ext>
            </a:extLst>
          </p:cNvPr>
          <p:cNvSpPr>
            <a:spLocks noGrp="1"/>
          </p:cNvSpPr>
          <p:nvPr>
            <p:ph type="title"/>
          </p:nvPr>
        </p:nvSpPr>
        <p:spPr>
          <a:xfrm>
            <a:off x="914400" y="150532"/>
            <a:ext cx="8049987" cy="773394"/>
          </a:xfrm>
        </p:spPr>
        <p:txBody>
          <a:bodyPr>
            <a:normAutofit/>
          </a:bodyPr>
          <a:lstStyle/>
          <a:p>
            <a:r>
              <a:rPr kumimoji="1" lang="ja-JP" altLang="en-US" b="1"/>
              <a:t>実験結果</a:t>
            </a:r>
            <a:endParaRPr kumimoji="1" lang="ja-JP" altLang="en-US" sz="4000" b="1" dirty="0"/>
          </a:p>
        </p:txBody>
      </p:sp>
    </p:spTree>
    <p:extLst>
      <p:ext uri="{BB962C8B-B14F-4D97-AF65-F5344CB8AC3E}">
        <p14:creationId xmlns:p14="http://schemas.microsoft.com/office/powerpoint/2010/main" val="147838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par>
                                <p:cTn id="8" presetID="22" presetClass="entr" presetSubtype="4"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down)">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down)">
                                      <p:cBhvr>
                                        <p:cTn id="15" dur="500"/>
                                        <p:tgtEl>
                                          <p:spTgt spid="19"/>
                                        </p:tgtEl>
                                      </p:cBhvr>
                                    </p:animEffect>
                                  </p:childTnLst>
                                </p:cTn>
                              </p:par>
                              <p:par>
                                <p:cTn id="16" presetID="22" presetClass="entr" presetSubtype="4"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down)">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down)">
                                      <p:cBhvr>
                                        <p:cTn id="23" dur="500"/>
                                        <p:tgtEl>
                                          <p:spTgt spid="21"/>
                                        </p:tgtEl>
                                      </p:cBhvr>
                                    </p:animEffect>
                                  </p:childTnLst>
                                </p:cTn>
                              </p:par>
                              <p:par>
                                <p:cTn id="24" presetID="22" presetClass="entr" presetSubtype="4"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wipe(down)">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down)">
                                      <p:cBhvr>
                                        <p:cTn id="31" dur="500"/>
                                        <p:tgtEl>
                                          <p:spTgt spid="23"/>
                                        </p:tgtEl>
                                      </p:cBhvr>
                                    </p:animEffect>
                                  </p:childTnLst>
                                </p:cTn>
                              </p:par>
                              <p:par>
                                <p:cTn id="32" presetID="22" presetClass="entr" presetSubtype="4"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wipe(down)">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barn(inVertical)">
                                      <p:cBhvr>
                                        <p:cTn id="39" dur="500"/>
                                        <p:tgtEl>
                                          <p:spTgt spid="26"/>
                                        </p:tgtEl>
                                      </p:cBhvr>
                                    </p:animEffect>
                                  </p:childTnLst>
                                </p:cTn>
                              </p:par>
                              <p:par>
                                <p:cTn id="40" presetID="16" presetClass="entr" presetSubtype="21"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barn(inVertical)">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barn(inVertical)">
                                      <p:cBhvr>
                                        <p:cTn id="47" dur="500"/>
                                        <p:tgtEl>
                                          <p:spTgt spid="32"/>
                                        </p:tgtEl>
                                      </p:cBhvr>
                                    </p:animEffect>
                                  </p:childTnLst>
                                </p:cTn>
                              </p:par>
                              <p:par>
                                <p:cTn id="48" presetID="16" presetClass="entr" presetSubtype="21" fill="hold" nodeType="with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barn(inVertical)">
                                      <p:cBhvr>
                                        <p:cTn id="50" dur="500"/>
                                        <p:tgtEl>
                                          <p:spTgt spid="33"/>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nodeType="click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barn(inVertical)">
                                      <p:cBhvr>
                                        <p:cTn id="55" dur="500"/>
                                        <p:tgtEl>
                                          <p:spTgt spid="34"/>
                                        </p:tgtEl>
                                      </p:cBhvr>
                                    </p:animEffect>
                                  </p:childTnLst>
                                </p:cTn>
                              </p:par>
                              <p:par>
                                <p:cTn id="56" presetID="16" presetClass="entr" presetSubtype="21" fill="hold" nodeType="with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barn(inVertical)">
                                      <p:cBhvr>
                                        <p:cTn id="58" dur="500"/>
                                        <p:tgtEl>
                                          <p:spTgt spid="35"/>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nodeType="click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barn(inVertical)">
                                      <p:cBhvr>
                                        <p:cTn id="63" dur="500"/>
                                        <p:tgtEl>
                                          <p:spTgt spid="36"/>
                                        </p:tgtEl>
                                      </p:cBhvr>
                                    </p:animEffect>
                                  </p:childTnLst>
                                </p:cTn>
                              </p:par>
                              <p:par>
                                <p:cTn id="64" presetID="16" presetClass="entr" presetSubtype="21" fill="hold" nodeType="with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barn(inVertical)">
                                      <p:cBhvr>
                                        <p:cTn id="66" dur="500"/>
                                        <p:tgtEl>
                                          <p:spTgt spid="3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nodeType="clickEffect">
                                  <p:stCondLst>
                                    <p:cond delay="0"/>
                                  </p:stCondLst>
                                  <p:childTnLst>
                                    <p:set>
                                      <p:cBhvr>
                                        <p:cTn id="70" dur="1" fill="hold">
                                          <p:stCondLst>
                                            <p:cond delay="0"/>
                                          </p:stCondLst>
                                        </p:cTn>
                                        <p:tgtEl>
                                          <p:spTgt spid="39"/>
                                        </p:tgtEl>
                                        <p:attrNameLst>
                                          <p:attrName>style.visibility</p:attrName>
                                        </p:attrNameLst>
                                      </p:cBhvr>
                                      <p:to>
                                        <p:strVal val="visible"/>
                                      </p:to>
                                    </p:set>
                                    <p:animEffect transition="in" filter="wipe(down)">
                                      <p:cBhvr>
                                        <p:cTn id="71" dur="500"/>
                                        <p:tgtEl>
                                          <p:spTgt spid="39"/>
                                        </p:tgtEl>
                                      </p:cBhvr>
                                    </p:animEffect>
                                  </p:childTnLst>
                                </p:cTn>
                              </p:par>
                              <p:par>
                                <p:cTn id="72" presetID="22" presetClass="entr" presetSubtype="4" fill="hold"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wipe(down)">
                                      <p:cBhvr>
                                        <p:cTn id="74" dur="500"/>
                                        <p:tgtEl>
                                          <p:spTgt spid="43"/>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44"/>
                                        </p:tgtEl>
                                        <p:attrNameLst>
                                          <p:attrName>style.visibility</p:attrName>
                                        </p:attrNameLst>
                                      </p:cBhvr>
                                      <p:to>
                                        <p:strVal val="visible"/>
                                      </p:to>
                                    </p:set>
                                    <p:animEffect transition="in" filter="wipe(down)">
                                      <p:cBhvr>
                                        <p:cTn id="79" dur="500"/>
                                        <p:tgtEl>
                                          <p:spTgt spid="44"/>
                                        </p:tgtEl>
                                      </p:cBhvr>
                                    </p:animEffect>
                                  </p:childTnLst>
                                </p:cTn>
                              </p:par>
                              <p:par>
                                <p:cTn id="80" presetID="22" presetClass="entr" presetSubtype="4" fill="hold" nodeType="withEffect">
                                  <p:stCondLst>
                                    <p:cond delay="0"/>
                                  </p:stCondLst>
                                  <p:childTnLst>
                                    <p:set>
                                      <p:cBhvr>
                                        <p:cTn id="81" dur="1" fill="hold">
                                          <p:stCondLst>
                                            <p:cond delay="0"/>
                                          </p:stCondLst>
                                        </p:cTn>
                                        <p:tgtEl>
                                          <p:spTgt spid="45"/>
                                        </p:tgtEl>
                                        <p:attrNameLst>
                                          <p:attrName>style.visibility</p:attrName>
                                        </p:attrNameLst>
                                      </p:cBhvr>
                                      <p:to>
                                        <p:strVal val="visible"/>
                                      </p:to>
                                    </p:set>
                                    <p:animEffect transition="in" filter="wipe(down)">
                                      <p:cBhvr>
                                        <p:cTn id="82" dur="500"/>
                                        <p:tgtEl>
                                          <p:spTgt spid="45"/>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500"/>
                                        <p:tgtEl>
                                          <p:spTgt spid="4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8"/>
                                        </p:tgtEl>
                                        <p:attrNameLst>
                                          <p:attrName>style.visibility</p:attrName>
                                        </p:attrNameLst>
                                      </p:cBhvr>
                                      <p:to>
                                        <p:strVal val="visible"/>
                                      </p:to>
                                    </p:set>
                                    <p:animEffect transition="in" filter="fade">
                                      <p:cBhvr>
                                        <p:cTn id="90" dur="500"/>
                                        <p:tgtEl>
                                          <p:spTgt spid="48"/>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9"/>
                                        </p:tgtEl>
                                        <p:attrNameLst>
                                          <p:attrName>style.visibility</p:attrName>
                                        </p:attrNameLst>
                                      </p:cBhvr>
                                      <p:to>
                                        <p:strVal val="visible"/>
                                      </p:to>
                                    </p:set>
                                    <p:animEffect transition="in" filter="fade">
                                      <p:cBhvr>
                                        <p:cTn id="93" dur="500"/>
                                        <p:tgtEl>
                                          <p:spTgt spid="49"/>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0"/>
                                        </p:tgtEl>
                                        <p:attrNameLst>
                                          <p:attrName>style.visibility</p:attrName>
                                        </p:attrNameLst>
                                      </p:cBhvr>
                                      <p:to>
                                        <p:strVal val="visible"/>
                                      </p:to>
                                    </p:set>
                                    <p:animEffect transition="in" filter="fade">
                                      <p:cBhvr>
                                        <p:cTn id="96" dur="500"/>
                                        <p:tgtEl>
                                          <p:spTgt spid="50"/>
                                        </p:tgtEl>
                                      </p:cBhvr>
                                    </p:animEffect>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0" nodeType="clickEffect">
                                  <p:stCondLst>
                                    <p:cond delay="0"/>
                                  </p:stCondLst>
                                  <p:childTnLst>
                                    <p:set>
                                      <p:cBhvr>
                                        <p:cTn id="100" dur="1" fill="hold">
                                          <p:stCondLst>
                                            <p:cond delay="0"/>
                                          </p:stCondLst>
                                        </p:cTn>
                                        <p:tgtEl>
                                          <p:spTgt spid="52"/>
                                        </p:tgtEl>
                                        <p:attrNameLst>
                                          <p:attrName>style.visibility</p:attrName>
                                        </p:attrNameLst>
                                      </p:cBhvr>
                                      <p:to>
                                        <p:strVal val="visible"/>
                                      </p:to>
                                    </p:set>
                                    <p:anim calcmode="lin" valueType="num">
                                      <p:cBhvr additive="base">
                                        <p:cTn id="101" dur="500" fill="hold"/>
                                        <p:tgtEl>
                                          <p:spTgt spid="52"/>
                                        </p:tgtEl>
                                        <p:attrNameLst>
                                          <p:attrName>ppt_x</p:attrName>
                                        </p:attrNameLst>
                                      </p:cBhvr>
                                      <p:tavLst>
                                        <p:tav tm="0">
                                          <p:val>
                                            <p:strVal val="#ppt_x"/>
                                          </p:val>
                                        </p:tav>
                                        <p:tav tm="100000">
                                          <p:val>
                                            <p:strVal val="#ppt_x"/>
                                          </p:val>
                                        </p:tav>
                                      </p:tavLst>
                                    </p:anim>
                                    <p:anim calcmode="lin" valueType="num">
                                      <p:cBhvr additive="base">
                                        <p:cTn id="102" dur="500" fill="hold"/>
                                        <p:tgtEl>
                                          <p:spTgt spid="52"/>
                                        </p:tgtEl>
                                        <p:attrNameLst>
                                          <p:attrName>ppt_y</p:attrName>
                                        </p:attrNameLst>
                                      </p:cBhvr>
                                      <p:tavLst>
                                        <p:tav tm="0">
                                          <p:val>
                                            <p:strVal val="1+#ppt_h/2"/>
                                          </p:val>
                                        </p:tav>
                                        <p:tav tm="100000">
                                          <p:val>
                                            <p:strVal val="#ppt_y"/>
                                          </p:val>
                                        </p:tav>
                                      </p:tavLst>
                                    </p:anim>
                                  </p:childTnLst>
                                </p:cTn>
                              </p:par>
                              <p:par>
                                <p:cTn id="103" presetID="10" presetClass="entr" presetSubtype="0" fill="hold" grpId="0" nodeType="withEffect">
                                  <p:stCondLst>
                                    <p:cond delay="0"/>
                                  </p:stCondLst>
                                  <p:childTnLst>
                                    <p:set>
                                      <p:cBhvr>
                                        <p:cTn id="104" dur="1" fill="hold">
                                          <p:stCondLst>
                                            <p:cond delay="0"/>
                                          </p:stCondLst>
                                        </p:cTn>
                                        <p:tgtEl>
                                          <p:spTgt spid="56"/>
                                        </p:tgtEl>
                                        <p:attrNameLst>
                                          <p:attrName>style.visibility</p:attrName>
                                        </p:attrNameLst>
                                      </p:cBhvr>
                                      <p:to>
                                        <p:strVal val="visible"/>
                                      </p:to>
                                    </p:set>
                                    <p:animEffect transition="in" filter="fade">
                                      <p:cBhvr>
                                        <p:cTn id="105" dur="500"/>
                                        <p:tgtEl>
                                          <p:spTgt spid="56"/>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59"/>
                                        </p:tgtEl>
                                        <p:attrNameLst>
                                          <p:attrName>style.visibility</p:attrName>
                                        </p:attrNameLst>
                                      </p:cBhvr>
                                      <p:to>
                                        <p:strVal val="visible"/>
                                      </p:to>
                                    </p:set>
                                    <p:animEffect transition="in" filter="fade">
                                      <p:cBhvr>
                                        <p:cTn id="110"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49" grpId="0"/>
      <p:bldP spid="50" grpId="0"/>
      <p:bldP spid="52" grpId="0" animBg="1"/>
      <p:bldP spid="56" grpId="0"/>
      <p:bldP spid="59" grpId="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2407BFE-B6BD-0B19-993C-18186F7BBAEB}"/>
            </a:ext>
          </a:extLst>
        </p:cNvPr>
        <p:cNvGrpSpPr/>
        <p:nvPr/>
      </p:nvGrpSpPr>
      <p:grpSpPr>
        <a:xfrm>
          <a:off x="0" y="0"/>
          <a:ext cx="0" cy="0"/>
          <a:chOff x="0" y="0"/>
          <a:chExt cx="0" cy="0"/>
        </a:xfrm>
      </p:grpSpPr>
      <p:cxnSp>
        <p:nvCxnSpPr>
          <p:cNvPr id="21" name="直線コネクタ 20">
            <a:extLst>
              <a:ext uri="{FF2B5EF4-FFF2-40B4-BE49-F238E27FC236}">
                <a16:creationId xmlns:a16="http://schemas.microsoft.com/office/drawing/2014/main" id="{B7E067A7-EF1B-2388-F2DE-DD8DF09F59EE}"/>
              </a:ext>
            </a:extLst>
          </p:cNvPr>
          <p:cNvCxnSpPr/>
          <p:nvPr/>
        </p:nvCxnSpPr>
        <p:spPr>
          <a:xfrm>
            <a:off x="1677202" y="2970797"/>
            <a:ext cx="913834"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9CF30D78-14E0-9D4F-A52A-A6BC7B3BF06D}"/>
              </a:ext>
            </a:extLst>
          </p:cNvPr>
          <p:cNvCxnSpPr>
            <a:cxnSpLocks/>
          </p:cNvCxnSpPr>
          <p:nvPr/>
        </p:nvCxnSpPr>
        <p:spPr>
          <a:xfrm>
            <a:off x="3182775" y="2425695"/>
            <a:ext cx="90746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56AE1B9F-F407-DEE5-0FF4-E9A821B9FCF6}"/>
              </a:ext>
            </a:extLst>
          </p:cNvPr>
          <p:cNvSpPr txBox="1"/>
          <p:nvPr/>
        </p:nvSpPr>
        <p:spPr>
          <a:xfrm>
            <a:off x="259843" y="1137443"/>
            <a:ext cx="1757215" cy="300082"/>
          </a:xfrm>
          <a:prstGeom prst="rect">
            <a:avLst/>
          </a:prstGeom>
          <a:noFill/>
        </p:spPr>
        <p:txBody>
          <a:bodyPr wrap="square" rtlCol="0">
            <a:spAutoFit/>
          </a:bodyPr>
          <a:lstStyle/>
          <a:p>
            <a:r>
              <a:rPr lang="ja-JP" altLang="en-US" sz="1350" b="1" i="1" u="sng"/>
              <a:t>提案手法②結果</a:t>
            </a:r>
            <a:endParaRPr lang="ja-JP" altLang="en-US" sz="1350" b="1" i="1" u="sng" dirty="0"/>
          </a:p>
        </p:txBody>
      </p:sp>
      <p:sp>
        <p:nvSpPr>
          <p:cNvPr id="5" name="タイトル 1">
            <a:extLst>
              <a:ext uri="{FF2B5EF4-FFF2-40B4-BE49-F238E27FC236}">
                <a16:creationId xmlns:a16="http://schemas.microsoft.com/office/drawing/2014/main" id="{EA3B0F84-10C5-8B05-0625-3E25F04EE201}"/>
              </a:ext>
            </a:extLst>
          </p:cNvPr>
          <p:cNvSpPr>
            <a:spLocks noGrp="1"/>
          </p:cNvSpPr>
          <p:nvPr>
            <p:ph type="title"/>
          </p:nvPr>
        </p:nvSpPr>
        <p:spPr>
          <a:xfrm>
            <a:off x="914400" y="150532"/>
            <a:ext cx="8049987" cy="773394"/>
          </a:xfrm>
        </p:spPr>
        <p:txBody>
          <a:bodyPr>
            <a:normAutofit/>
          </a:bodyPr>
          <a:lstStyle/>
          <a:p>
            <a:r>
              <a:rPr kumimoji="1" lang="ja-JP" altLang="en-US" b="1"/>
              <a:t>実験結果</a:t>
            </a:r>
            <a:endParaRPr kumimoji="1" lang="ja-JP" altLang="en-US" sz="4000" b="1" dirty="0"/>
          </a:p>
        </p:txBody>
      </p:sp>
      <p:sp>
        <p:nvSpPr>
          <p:cNvPr id="3" name="テキスト ボックス 2">
            <a:extLst>
              <a:ext uri="{FF2B5EF4-FFF2-40B4-BE49-F238E27FC236}">
                <a16:creationId xmlns:a16="http://schemas.microsoft.com/office/drawing/2014/main" id="{7D192B2A-A284-80F3-D983-95911DA271A8}"/>
              </a:ext>
            </a:extLst>
          </p:cNvPr>
          <p:cNvSpPr txBox="1"/>
          <p:nvPr/>
        </p:nvSpPr>
        <p:spPr>
          <a:xfrm>
            <a:off x="259843" y="3871268"/>
            <a:ext cx="1309112" cy="300082"/>
          </a:xfrm>
          <a:prstGeom prst="rect">
            <a:avLst/>
          </a:prstGeom>
          <a:noFill/>
        </p:spPr>
        <p:txBody>
          <a:bodyPr wrap="square" rtlCol="0">
            <a:spAutoFit/>
          </a:bodyPr>
          <a:lstStyle/>
          <a:p>
            <a:r>
              <a:rPr lang="ja-JP" altLang="en-US" sz="1350" b="1" i="1" u="sng" dirty="0"/>
              <a:t>結果のまとめ</a:t>
            </a:r>
          </a:p>
        </p:txBody>
      </p:sp>
      <p:cxnSp>
        <p:nvCxnSpPr>
          <p:cNvPr id="6" name="直線コネクタ 5">
            <a:extLst>
              <a:ext uri="{FF2B5EF4-FFF2-40B4-BE49-F238E27FC236}">
                <a16:creationId xmlns:a16="http://schemas.microsoft.com/office/drawing/2014/main" id="{71BBF56F-4BE4-FE60-C4EE-9E664443BE8F}"/>
              </a:ext>
            </a:extLst>
          </p:cNvPr>
          <p:cNvCxnSpPr>
            <a:cxnSpLocks/>
          </p:cNvCxnSpPr>
          <p:nvPr/>
        </p:nvCxnSpPr>
        <p:spPr>
          <a:xfrm flipH="1">
            <a:off x="5087871" y="2053479"/>
            <a:ext cx="1153192"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0EA6ED8A-4843-08CA-9032-F5DBE60A0BB0}"/>
              </a:ext>
            </a:extLst>
          </p:cNvPr>
          <p:cNvCxnSpPr>
            <a:cxnSpLocks/>
          </p:cNvCxnSpPr>
          <p:nvPr/>
        </p:nvCxnSpPr>
        <p:spPr>
          <a:xfrm flipH="1">
            <a:off x="6689699" y="3614437"/>
            <a:ext cx="806824"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E6B18D26-D4C8-FCCD-22E7-9270925FF294}"/>
              </a:ext>
            </a:extLst>
          </p:cNvPr>
          <p:cNvCxnSpPr>
            <a:cxnSpLocks/>
          </p:cNvCxnSpPr>
          <p:nvPr/>
        </p:nvCxnSpPr>
        <p:spPr>
          <a:xfrm flipH="1">
            <a:off x="6689699" y="2465033"/>
            <a:ext cx="806824"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26852538-DF73-703B-7D7C-BD17CB9BC199}"/>
              </a:ext>
            </a:extLst>
          </p:cNvPr>
          <p:cNvCxnSpPr>
            <a:cxnSpLocks/>
          </p:cNvCxnSpPr>
          <p:nvPr/>
        </p:nvCxnSpPr>
        <p:spPr>
          <a:xfrm flipH="1">
            <a:off x="5087871" y="2053479"/>
            <a:ext cx="115319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図 6">
            <a:extLst>
              <a:ext uri="{FF2B5EF4-FFF2-40B4-BE49-F238E27FC236}">
                <a16:creationId xmlns:a16="http://schemas.microsoft.com/office/drawing/2014/main" id="{2F3A6690-D87A-B763-9309-4D80E72A27E7}"/>
              </a:ext>
            </a:extLst>
          </p:cNvPr>
          <p:cNvPicPr>
            <a:picLocks noChangeAspect="1"/>
          </p:cNvPicPr>
          <p:nvPr/>
        </p:nvPicPr>
        <p:blipFill>
          <a:blip r:embed="rId3"/>
          <a:stretch>
            <a:fillRect/>
          </a:stretch>
        </p:blipFill>
        <p:spPr>
          <a:xfrm>
            <a:off x="1479213" y="1605654"/>
            <a:ext cx="6336784" cy="2073555"/>
          </a:xfrm>
          <a:prstGeom prst="rect">
            <a:avLst/>
          </a:prstGeom>
        </p:spPr>
      </p:pic>
    </p:spTree>
    <p:extLst>
      <p:ext uri="{BB962C8B-B14F-4D97-AF65-F5344CB8AC3E}">
        <p14:creationId xmlns:p14="http://schemas.microsoft.com/office/powerpoint/2010/main" val="797704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6"/>
                                        </p:tgtEl>
                                        <p:attrNameLst>
                                          <p:attrName>style.visibility</p:attrName>
                                        </p:attrNameLst>
                                      </p:cBhvr>
                                      <p:to>
                                        <p:strVal val="visible"/>
                                      </p:to>
                                    </p:set>
                                    <p:animEffect transition="in" filter="fade">
                                      <p:cBhvr>
                                        <p:cTn id="10" dur="500"/>
                                        <p:tgtEl>
                                          <p:spTgt spid="5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down)">
                                      <p:cBhvr>
                                        <p:cTn id="20" dur="500"/>
                                        <p:tgtEl>
                                          <p:spTgt spid="13"/>
                                        </p:tgtEl>
                                      </p:cBhvr>
                                    </p:animEffect>
                                  </p:childTnLst>
                                </p:cTn>
                              </p:par>
                              <p:par>
                                <p:cTn id="21" presetID="22" presetClass="entr" presetSubtype="4"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down)">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down)">
                                      <p:cBhvr>
                                        <p:cTn id="28" dur="500"/>
                                        <p:tgtEl>
                                          <p:spTgt spid="15"/>
                                        </p:tgtEl>
                                      </p:cBhvr>
                                    </p:animEffect>
                                  </p:childTnLst>
                                </p:cTn>
                              </p:par>
                            </p:childTnLst>
                          </p:cTn>
                        </p:par>
                        <p:par>
                          <p:cTn id="29" fill="hold">
                            <p:stCondLst>
                              <p:cond delay="500"/>
                            </p:stCondLst>
                            <p:childTnLst>
                              <p:par>
                                <p:cTn id="30" presetID="10" presetClass="entr" presetSubtype="0" fill="hold" grpId="0" nodeType="after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1C5884C-2E8C-DB6A-6998-0E2220BF00A6}"/>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12D450CC-B13A-6538-FF3B-B869D501CF5C}"/>
              </a:ext>
            </a:extLst>
          </p:cNvPr>
          <p:cNvSpPr>
            <a:spLocks noGrp="1"/>
          </p:cNvSpPr>
          <p:nvPr>
            <p:ph type="title"/>
          </p:nvPr>
        </p:nvSpPr>
        <p:spPr>
          <a:xfrm>
            <a:off x="914400" y="150532"/>
            <a:ext cx="8049987" cy="773394"/>
          </a:xfrm>
        </p:spPr>
        <p:txBody>
          <a:bodyPr>
            <a:normAutofit/>
          </a:bodyPr>
          <a:lstStyle/>
          <a:p>
            <a:r>
              <a:rPr kumimoji="1" lang="ja-JP" altLang="en-US" b="1"/>
              <a:t>実験結果</a:t>
            </a:r>
            <a:endParaRPr kumimoji="1" lang="ja-JP" altLang="en-US" sz="4000" b="1" dirty="0"/>
          </a:p>
        </p:txBody>
      </p:sp>
      <p:pic>
        <p:nvPicPr>
          <p:cNvPr id="6" name="図 5">
            <a:extLst>
              <a:ext uri="{FF2B5EF4-FFF2-40B4-BE49-F238E27FC236}">
                <a16:creationId xmlns:a16="http://schemas.microsoft.com/office/drawing/2014/main" id="{227D9DC9-128D-224A-E407-B26977545E46}"/>
              </a:ext>
            </a:extLst>
          </p:cNvPr>
          <p:cNvPicPr>
            <a:picLocks noChangeAspect="1"/>
          </p:cNvPicPr>
          <p:nvPr/>
        </p:nvPicPr>
        <p:blipFill>
          <a:blip r:embed="rId3"/>
          <a:stretch>
            <a:fillRect/>
          </a:stretch>
        </p:blipFill>
        <p:spPr>
          <a:xfrm>
            <a:off x="179613" y="923926"/>
            <a:ext cx="5052060" cy="1645920"/>
          </a:xfrm>
          <a:prstGeom prst="rect">
            <a:avLst/>
          </a:prstGeom>
        </p:spPr>
      </p:pic>
      <p:pic>
        <p:nvPicPr>
          <p:cNvPr id="13" name="図 12">
            <a:extLst>
              <a:ext uri="{FF2B5EF4-FFF2-40B4-BE49-F238E27FC236}">
                <a16:creationId xmlns:a16="http://schemas.microsoft.com/office/drawing/2014/main" id="{77D39A2D-BC0F-240D-38D8-6C0751603319}"/>
              </a:ext>
            </a:extLst>
          </p:cNvPr>
          <p:cNvPicPr>
            <a:picLocks noChangeAspect="1"/>
          </p:cNvPicPr>
          <p:nvPr/>
        </p:nvPicPr>
        <p:blipFill>
          <a:blip r:embed="rId4"/>
          <a:stretch>
            <a:fillRect/>
          </a:stretch>
        </p:blipFill>
        <p:spPr>
          <a:xfrm>
            <a:off x="179613" y="2803748"/>
            <a:ext cx="5052060" cy="1645920"/>
          </a:xfrm>
          <a:prstGeom prst="rect">
            <a:avLst/>
          </a:prstGeom>
        </p:spPr>
      </p:pic>
      <p:pic>
        <p:nvPicPr>
          <p:cNvPr id="15" name="図 14">
            <a:extLst>
              <a:ext uri="{FF2B5EF4-FFF2-40B4-BE49-F238E27FC236}">
                <a16:creationId xmlns:a16="http://schemas.microsoft.com/office/drawing/2014/main" id="{F02E1CB1-3FBE-AF56-65CE-E35CB96C530F}"/>
              </a:ext>
            </a:extLst>
          </p:cNvPr>
          <p:cNvPicPr>
            <a:picLocks noChangeAspect="1"/>
          </p:cNvPicPr>
          <p:nvPr/>
        </p:nvPicPr>
        <p:blipFill>
          <a:blip r:embed="rId5"/>
          <a:stretch>
            <a:fillRect/>
          </a:stretch>
        </p:blipFill>
        <p:spPr>
          <a:xfrm>
            <a:off x="179613" y="4683570"/>
            <a:ext cx="5052060" cy="1645920"/>
          </a:xfrm>
          <a:prstGeom prst="rect">
            <a:avLst/>
          </a:prstGeom>
        </p:spPr>
      </p:pic>
    </p:spTree>
    <p:extLst>
      <p:ext uri="{BB962C8B-B14F-4D97-AF65-F5344CB8AC3E}">
        <p14:creationId xmlns:p14="http://schemas.microsoft.com/office/powerpoint/2010/main" val="20148882"/>
      </p:ext>
    </p:extLst>
  </p:cSld>
  <p:clrMapOvr>
    <a:masterClrMapping/>
  </p:clrMapOvr>
</p:sld>
</file>

<file path=ppt/theme/theme1.xml><?xml version="1.0" encoding="utf-8"?>
<a:theme xmlns:a="http://schemas.openxmlformats.org/drawingml/2006/main" name="ウィスプ">
  <a:themeElements>
    <a:clrScheme name="ウィスプ">
      <a:dk1>
        <a:sysClr val="windowText" lastClr="000000"/>
      </a:dk1>
      <a:lt1>
        <a:sysClr val="window" lastClr="FFFFFF"/>
      </a:lt1>
      <a:dk2>
        <a:srgbClr val="2E5369"/>
      </a:dk2>
      <a:lt2>
        <a:srgbClr val="CFE2E7"/>
      </a:lt2>
      <a:accent1>
        <a:srgbClr val="353535"/>
      </a:accent1>
      <a:accent2>
        <a:srgbClr val="1CACE3"/>
      </a:accent2>
      <a:accent3>
        <a:srgbClr val="265991"/>
      </a:accent3>
      <a:accent4>
        <a:srgbClr val="7E40CC"/>
      </a:accent4>
      <a:accent5>
        <a:srgbClr val="B927E9"/>
      </a:accent5>
      <a:accent6>
        <a:srgbClr val="E833BF"/>
      </a:accent6>
      <a:hlink>
        <a:srgbClr val="2DA0F1"/>
      </a:hlink>
      <a:folHlink>
        <a:srgbClr val="7ED1E6"/>
      </a:folHlink>
    </a:clrScheme>
    <a:fontScheme name="ウィスプ">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ウィスプ">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spDef>
      <a:spPr/>
      <a:bodyPr/>
      <a:lstStyle/>
      <a:style>
        <a:lnRef idx="2">
          <a:schemeClr val="dk1"/>
        </a:lnRef>
        <a:fillRef idx="1">
          <a:schemeClr val="lt1"/>
        </a:fillRef>
        <a:effectRef idx="0">
          <a:schemeClr val="dk1"/>
        </a:effectRef>
        <a:fontRef idx="minor">
          <a:schemeClr val="dk1"/>
        </a:fontRef>
      </a:style>
    </a:spDef>
    <a:lnDef>
      <a:spPr/>
      <a:bodyPr/>
      <a:lstStyle/>
      <a:style>
        <a:lnRef idx="1">
          <a:schemeClr val="dk1"/>
        </a:lnRef>
        <a:fillRef idx="0">
          <a:schemeClr val="dk1"/>
        </a:fillRef>
        <a:effectRef idx="0">
          <a:schemeClr val="dk1"/>
        </a:effectRef>
        <a:fontRef idx="minor">
          <a:schemeClr val="tx1"/>
        </a:fontRef>
      </a:style>
    </a:lnDef>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97114</TotalTime>
  <Words>3337</Words>
  <Application>Microsoft Office PowerPoint</Application>
  <PresentationFormat>画面に合わせる (4:3)</PresentationFormat>
  <Paragraphs>235</Paragraphs>
  <Slides>22</Slides>
  <Notes>22</Notes>
  <HiddenSlides>4</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22</vt:i4>
      </vt:variant>
    </vt:vector>
  </HeadingPairs>
  <TitlesOfParts>
    <vt:vector size="34" baseType="lpstr">
      <vt:lpstr>メイリオ</vt:lpstr>
      <vt:lpstr>游ゴシック</vt:lpstr>
      <vt:lpstr>游ゴシック Light</vt:lpstr>
      <vt:lpstr>Arial</vt:lpstr>
      <vt:lpstr>Calibri</vt:lpstr>
      <vt:lpstr>Cambria Math</vt:lpstr>
      <vt:lpstr>Century</vt:lpstr>
      <vt:lpstr>Century Gothic</vt:lpstr>
      <vt:lpstr>Times New Roman</vt:lpstr>
      <vt:lpstr>Wingdings</vt:lpstr>
      <vt:lpstr>Wingdings 3</vt:lpstr>
      <vt:lpstr>ウィスプ</vt:lpstr>
      <vt:lpstr>GhostNet with CSAR Block </vt:lpstr>
      <vt:lpstr>背景</vt:lpstr>
      <vt:lpstr>コンパクトモデル</vt:lpstr>
      <vt:lpstr>従来研究</vt:lpstr>
      <vt:lpstr>従来研究</vt:lpstr>
      <vt:lpstr>従来研究</vt:lpstr>
      <vt:lpstr>従来研究</vt:lpstr>
      <vt:lpstr>従来研究</vt:lpstr>
      <vt:lpstr>従来研究</vt:lpstr>
      <vt:lpstr>従来研究</vt:lpstr>
      <vt:lpstr>従来研究</vt:lpstr>
      <vt:lpstr>提案手法</vt:lpstr>
      <vt:lpstr>提案手法</vt:lpstr>
      <vt:lpstr>提案手法</vt:lpstr>
      <vt:lpstr>実験概要</vt:lpstr>
      <vt:lpstr>実験結果</vt:lpstr>
      <vt:lpstr>実験結果</vt:lpstr>
      <vt:lpstr>結論</vt:lpstr>
      <vt:lpstr>実験結果</vt:lpstr>
      <vt:lpstr>実験結果</vt:lpstr>
      <vt:lpstr>実験結果</vt:lpstr>
      <vt:lpstr>実験結果</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Integrated Brain-like Learning System</dc:title>
  <dc:creator>a-sa-</dc:creator>
  <cp:lastModifiedBy>コバヤシハルト</cp:lastModifiedBy>
  <cp:revision>191</cp:revision>
  <cp:lastPrinted>2019-02-04T06:22:15Z</cp:lastPrinted>
  <dcterms:created xsi:type="dcterms:W3CDTF">2018-10-30T06:56:43Z</dcterms:created>
  <dcterms:modified xsi:type="dcterms:W3CDTF">2026-08-18T14:45:20Z</dcterms:modified>
</cp:coreProperties>
</file>